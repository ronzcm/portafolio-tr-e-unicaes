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slide+xml" PartName="/ppt/slides/slide51.xml"/>
  <Override ContentType="application/vnd.openxmlformats-officedocument.presentationml.slide+xml" PartName="/ppt/slides/slide52.xml"/>
  <Override ContentType="application/vnd.openxmlformats-officedocument.presentationml.slide+xml" PartName="/ppt/slides/slide53.xml"/>
  <Override ContentType="application/vnd.openxmlformats-officedocument.presentationml.slide+xml" PartName="/ppt/slides/slide54.xml"/>
  <Override ContentType="application/vnd.openxmlformats-officedocument.presentationml.slide+xml" PartName="/ppt/slides/slide55.xml"/>
  <Override ContentType="application/vnd.openxmlformats-officedocument.presentationml.slide+xml" PartName="/ppt/slides/slide56.xml"/>
  <Override ContentType="application/vnd.openxmlformats-officedocument.presentationml.slide+xml" PartName="/ppt/slides/slide57.xml"/>
  <Override ContentType="application/vnd.openxmlformats-officedocument.presentationml.slide+xml" PartName="/ppt/slides/slide58.xml"/>
  <Override ContentType="application/vnd.openxmlformats-officedocument.presentationml.slide+xml" PartName="/ppt/slides/slide59.xml"/>
  <Override ContentType="application/vnd.openxmlformats-officedocument.presentationml.slide+xml" PartName="/ppt/slides/slide60.xml"/>
  <Override ContentType="application/vnd.openxmlformats-officedocument.presentationml.slide+xml" PartName="/ppt/slides/slide61.xml"/>
  <Override ContentType="application/vnd.openxmlformats-officedocument.presentationml.slide+xml" PartName="/ppt/slides/slide62.xml"/>
  <Override ContentType="application/vnd.openxmlformats-officedocument.presentationml.slide+xml" PartName="/ppt/slides/slide63.xml"/>
  <Override ContentType="application/vnd.openxmlformats-officedocument.presentationml.slide+xml" PartName="/ppt/slides/slide64.xml"/>
  <Override ContentType="application/vnd.openxmlformats-officedocument.presentationml.slide+xml" PartName="/ppt/slides/slide65.xml"/>
  <Override ContentType="application/vnd.openxmlformats-officedocument.presentationml.slide+xml" PartName="/ppt/slides/slide66.xml"/>
  <Override ContentType="application/vnd.openxmlformats-officedocument.presentationml.slide+xml" PartName="/ppt/slides/slide67.xml"/>
  <Override ContentType="application/vnd.openxmlformats-officedocument.presentationml.slide+xml" PartName="/ppt/slides/slide68.xml"/>
  <Override ContentType="application/vnd.openxmlformats-officedocument.presentationml.slide+xml" PartName="/ppt/slides/slide69.xml"/>
  <Override ContentType="application/vnd.openxmlformats-officedocument.presentationml.slide+xml" PartName="/ppt/slides/slide70.xml"/>
  <Override ContentType="application/vnd.openxmlformats-officedocument.presentationml.slide+xml" PartName="/ppt/slides/slide71.xml"/>
  <Override ContentType="application/vnd.openxmlformats-officedocument.presentationml.slide+xml" PartName="/ppt/slides/slide7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Lst>
  <p:sldSz cx="18288000" cy="10287000"/>
  <p:notesSz cx="6858000" cy="9144000"/>
  <p:embeddedFontLst>
    <p:embeddedFont>
      <p:font typeface="Glacial Indifference" charset="1" panose="00000000000000000000"/>
      <p:regular r:id="rId78"/>
    </p:embeddedFont>
    <p:embeddedFont>
      <p:font typeface="Glacial Indifference Bold" charset="1" panose="00000800000000000000"/>
      <p:regular r:id="rId7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slides/slide46.xml" Type="http://schemas.openxmlformats.org/officeDocument/2006/relationships/slide"/><Relationship Id="rId52" Target="slides/slide47.xml" Type="http://schemas.openxmlformats.org/officeDocument/2006/relationships/slide"/><Relationship Id="rId53" Target="slides/slide48.xml" Type="http://schemas.openxmlformats.org/officeDocument/2006/relationships/slide"/><Relationship Id="rId54" Target="slides/slide49.xml" Type="http://schemas.openxmlformats.org/officeDocument/2006/relationships/slide"/><Relationship Id="rId55" Target="slides/slide50.xml" Type="http://schemas.openxmlformats.org/officeDocument/2006/relationships/slide"/><Relationship Id="rId56" Target="slides/slide51.xml" Type="http://schemas.openxmlformats.org/officeDocument/2006/relationships/slide"/><Relationship Id="rId57" Target="slides/slide52.xml" Type="http://schemas.openxmlformats.org/officeDocument/2006/relationships/slide"/><Relationship Id="rId58" Target="slides/slide53.xml" Type="http://schemas.openxmlformats.org/officeDocument/2006/relationships/slide"/><Relationship Id="rId59" Target="slides/slide54.xml" Type="http://schemas.openxmlformats.org/officeDocument/2006/relationships/slide"/><Relationship Id="rId6" Target="slides/slide1.xml" Type="http://schemas.openxmlformats.org/officeDocument/2006/relationships/slide"/><Relationship Id="rId60" Target="slides/slide55.xml" Type="http://schemas.openxmlformats.org/officeDocument/2006/relationships/slide"/><Relationship Id="rId61" Target="slides/slide56.xml" Type="http://schemas.openxmlformats.org/officeDocument/2006/relationships/slide"/><Relationship Id="rId62" Target="slides/slide57.xml" Type="http://schemas.openxmlformats.org/officeDocument/2006/relationships/slide"/><Relationship Id="rId63" Target="slides/slide58.xml" Type="http://schemas.openxmlformats.org/officeDocument/2006/relationships/slide"/><Relationship Id="rId64" Target="slides/slide59.xml" Type="http://schemas.openxmlformats.org/officeDocument/2006/relationships/slide"/><Relationship Id="rId65" Target="slides/slide60.xml" Type="http://schemas.openxmlformats.org/officeDocument/2006/relationships/slide"/><Relationship Id="rId66" Target="slides/slide61.xml" Type="http://schemas.openxmlformats.org/officeDocument/2006/relationships/slide"/><Relationship Id="rId67" Target="slides/slide62.xml" Type="http://schemas.openxmlformats.org/officeDocument/2006/relationships/slide"/><Relationship Id="rId68" Target="slides/slide63.xml" Type="http://schemas.openxmlformats.org/officeDocument/2006/relationships/slide"/><Relationship Id="rId69" Target="slides/slide64.xml" Type="http://schemas.openxmlformats.org/officeDocument/2006/relationships/slide"/><Relationship Id="rId7" Target="slides/slide2.xml" Type="http://schemas.openxmlformats.org/officeDocument/2006/relationships/slide"/><Relationship Id="rId70" Target="slides/slide65.xml" Type="http://schemas.openxmlformats.org/officeDocument/2006/relationships/slide"/><Relationship Id="rId71" Target="slides/slide66.xml" Type="http://schemas.openxmlformats.org/officeDocument/2006/relationships/slide"/><Relationship Id="rId72" Target="slides/slide67.xml" Type="http://schemas.openxmlformats.org/officeDocument/2006/relationships/slide"/><Relationship Id="rId73" Target="slides/slide68.xml" Type="http://schemas.openxmlformats.org/officeDocument/2006/relationships/slide"/><Relationship Id="rId74" Target="slides/slide69.xml" Type="http://schemas.openxmlformats.org/officeDocument/2006/relationships/slide"/><Relationship Id="rId75" Target="slides/slide70.xml" Type="http://schemas.openxmlformats.org/officeDocument/2006/relationships/slide"/><Relationship Id="rId76" Target="slides/slide71.xml" Type="http://schemas.openxmlformats.org/officeDocument/2006/relationships/slide"/><Relationship Id="rId77" Target="slides/slide72.xml" Type="http://schemas.openxmlformats.org/officeDocument/2006/relationships/slide"/><Relationship Id="rId78" Target="fonts/font78.fntdata" Type="http://schemas.openxmlformats.org/officeDocument/2006/relationships/font"/><Relationship Id="rId79" Target="fonts/font79.fntdata" Type="http://schemas.openxmlformats.org/officeDocument/2006/relationships/font"/><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4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4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4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4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5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5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5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5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5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5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5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5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5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5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6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6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6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6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6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6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6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6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6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6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7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71.xml.rels><?xml version="1.0" encoding="UTF-8" standalone="yes"?><Relationships xmlns="http://schemas.openxmlformats.org/package/2006/relationships"><Relationship Id="rId1" Target="../slideLayouts/slideLayout7.xml" Type="http://schemas.openxmlformats.org/officeDocument/2006/relationships/slideLayout"/><Relationship Id="rId10" Target="https://www.rae.es/gtg/ambig%C3%BCedad" TargetMode="External" Type="http://schemas.openxmlformats.org/officeDocument/2006/relationships/hyperlink"/><Relationship Id="rId11" Target="https://www.ejemplos.co/20-ejemplos-de-ambiguedad/" TargetMode="External" Type="http://schemas.openxmlformats.org/officeDocument/2006/relationships/hyperlink"/><Relationship Id="rId12" Target="https://concepto.de/arcaismos/" TargetMode="External" Type="http://schemas.openxmlformats.org/officeDocument/2006/relationships/hyperlink"/><Relationship Id="rId13" Target="https://www.ejemplos.co/50-ejemplos-de-arcaismos/" TargetMode="External" Type="http://schemas.openxmlformats.org/officeDocument/2006/relationships/hyperlink"/><Relationship Id="rId14" Target="https://concepto.de/barbarismo/" TargetMode="External" Type="http://schemas.openxmlformats.org/officeDocument/2006/relationships/hyperlink"/><Relationship Id="rId15" Target="https://www.ejemplos.co/cacofonia/" TargetMode="External" Type="http://schemas.openxmlformats.org/officeDocument/2006/relationships/hyperlink"/><Relationship Id="rId16" Target="https://centroescritura.tec.mx/es/noticia/cosismo-y-calcos-del-ingles-como-evitarlos" TargetMode="External" Type="http://schemas.openxmlformats.org/officeDocument/2006/relationships/hyperlink"/><Relationship Id="rId17" Target="https://es.wikipedia.org/wiki/Deque%C3%ADsmo" TargetMode="External" Type="http://schemas.openxmlformats.org/officeDocument/2006/relationships/hyperlink"/><Relationship Id="rId18" Target="https://www.ejemplos.co/50-ejemplos-de-esdrujulismo/" TargetMode="External" Type="http://schemas.openxmlformats.org/officeDocument/2006/relationships/hyperlink"/><Relationship Id="rId19" Target="https://undetectable.ai/blog/es/eufemismo/" TargetMode="External" Type="http://schemas.openxmlformats.org/officeDocument/2006/relationships/hyperlink"/><Relationship Id="rId2" Target="../media/image4.png" Type="http://schemas.openxmlformats.org/officeDocument/2006/relationships/image"/><Relationship Id="rId3" Target="../media/image5.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https://www.rae.es/gtg/ambig%C3%BCedad" TargetMode="External" Type="http://schemas.openxmlformats.org/officeDocument/2006/relationships/hyperlink"/><Relationship Id="rId9" Target="https://www.rae.es/gtg/ambig%C3%BCedad" TargetMode="External" Type="http://schemas.openxmlformats.org/officeDocument/2006/relationships/hyperlink"/></Relationships>
</file>

<file path=ppt/slides/_rels/slide72.xml.rels><?xml version="1.0" encoding="UTF-8" standalone="yes"?><Relationships xmlns="http://schemas.openxmlformats.org/package/2006/relationships"><Relationship Id="rId1" Target="../slideLayouts/slideLayout7.xml" Type="http://schemas.openxmlformats.org/officeDocument/2006/relationships/slideLayout"/><Relationship Id="rId10" Target="http://fundeu.es/hubo-hubieron/" TargetMode="External" Type="http://schemas.openxmlformats.org/officeDocument/2006/relationships/hyperlink"/><Relationship Id="rId11" Target="http://dle.rae.es/detentar" TargetMode="External" Type="http://schemas.openxmlformats.org/officeDocument/2006/relationships/hyperlink"/><Relationship Id="rId12" Target="http://rae.es/dpd/le%C3%ADsmo" TargetMode="External" Type="http://schemas.openxmlformats.org/officeDocument/2006/relationships/hyperlink"/><Relationship Id="rId13" Target="https://www.rae.es/dpd/" TargetMode="External" Type="http://schemas.openxmlformats.org/officeDocument/2006/relationships/hyperlink"/><Relationship Id="rId14" Target="https://www.fundeu.es" TargetMode="External" Type="http://schemas.openxmlformats.org/officeDocument/2006/relationships/hyperlink"/><Relationship Id="rId15" Target="https://www.rae.es/dpd/extranjerismos" TargetMode="External" Type="http://schemas.openxmlformats.org/officeDocument/2006/relationships/hyperlink"/><Relationship Id="rId16" Target="https://www.rae.es/dpd/pleonasmo" TargetMode="External" Type="http://schemas.openxmlformats.org/officeDocument/2006/relationships/hyperlink"/><Relationship Id="rId17" Target="https://www.rae.es/dpd/que%C3%ADsmo%E2%81%A0" TargetMode="External" Type="http://schemas.openxmlformats.org/officeDocument/2006/relationships/hyperlink"/><Relationship Id="rId18" Target="https://www.rae.es/dpd/solecismo%E2%81%A0" TargetMode="External" Type="http://schemas.openxmlformats.org/officeDocument/2006/relationships/hyperlink"/><Relationship Id="rId19" Target="https://www.rae.es/dpd%E2%81%A0" TargetMode="External" Type="http://schemas.openxmlformats.org/officeDocument/2006/relationships/hyperlink"/><Relationship Id="rId2" Target="../media/image4.png" Type="http://schemas.openxmlformats.org/officeDocument/2006/relationships/image"/><Relationship Id="rId20" Target="https://www.rae.es/%E2%81%A0" TargetMode="External" Type="http://schemas.openxmlformats.org/officeDocument/2006/relationships/hyperlink"/><Relationship Id="rId3" Target="../media/image5.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http://rae.es/dpd/extranjerismos" TargetMode="External" Type="http://schemas.openxmlformats.org/officeDocument/2006/relationships/hyperlink"/><Relationship Id="rId9" Target="http://rae.es/dpd/extranjerismos" TargetMode="External" Type="http://schemas.openxmlformats.org/officeDocument/2006/relationships/hyperlink"/></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DE8E4"/>
        </a:solidFill>
      </p:bgPr>
    </p:bg>
    <p:spTree>
      <p:nvGrpSpPr>
        <p:cNvPr id="1" name=""/>
        <p:cNvGrpSpPr/>
        <p:nvPr/>
      </p:nvGrpSpPr>
      <p:grpSpPr>
        <a:xfrm>
          <a:off x="0" y="0"/>
          <a:ext cx="0" cy="0"/>
          <a:chOff x="0" y="0"/>
          <a:chExt cx="0" cy="0"/>
        </a:xfrm>
      </p:grpSpPr>
      <p:sp>
        <p:nvSpPr>
          <p:cNvPr name="Freeform 2" id="2"/>
          <p:cNvSpPr/>
          <p:nvPr/>
        </p:nvSpPr>
        <p:spPr>
          <a:xfrm flipH="false" flipV="false" rot="6982806">
            <a:off x="720300" y="6421716"/>
            <a:ext cx="8842272" cy="11861584"/>
          </a:xfrm>
          <a:custGeom>
            <a:avLst/>
            <a:gdLst/>
            <a:ahLst/>
            <a:cxnLst/>
            <a:rect r="r" b="b" t="t" l="l"/>
            <a:pathLst>
              <a:path h="11861584" w="8842272">
                <a:moveTo>
                  <a:pt x="0" y="0"/>
                </a:moveTo>
                <a:lnTo>
                  <a:pt x="8842272" y="0"/>
                </a:lnTo>
                <a:lnTo>
                  <a:pt x="8842272" y="11861584"/>
                </a:lnTo>
                <a:lnTo>
                  <a:pt x="0" y="11861584"/>
                </a:lnTo>
                <a:lnTo>
                  <a:pt x="0" y="0"/>
                </a:lnTo>
                <a:close/>
              </a:path>
            </a:pathLst>
          </a:custGeom>
          <a:blipFill>
            <a:blip r:embed="rId2">
              <a:alphaModFix amt="65999"/>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6501204">
            <a:off x="11046831" y="-5088864"/>
            <a:ext cx="8807178" cy="11814508"/>
          </a:xfrm>
          <a:custGeom>
            <a:avLst/>
            <a:gdLst/>
            <a:ahLst/>
            <a:cxnLst/>
            <a:rect r="r" b="b" t="t" l="l"/>
            <a:pathLst>
              <a:path h="11814508" w="8807178">
                <a:moveTo>
                  <a:pt x="0" y="0"/>
                </a:moveTo>
                <a:lnTo>
                  <a:pt x="8807178" y="0"/>
                </a:lnTo>
                <a:lnTo>
                  <a:pt x="8807178" y="11814507"/>
                </a:lnTo>
                <a:lnTo>
                  <a:pt x="0" y="11814507"/>
                </a:lnTo>
                <a:lnTo>
                  <a:pt x="0" y="0"/>
                </a:lnTo>
                <a:close/>
              </a:path>
            </a:pathLst>
          </a:custGeom>
          <a:blipFill>
            <a:blip r:embed="rId2">
              <a:alphaModFix amt="65999"/>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4" id="4"/>
          <p:cNvSpPr/>
          <p:nvPr/>
        </p:nvSpPr>
        <p:spPr>
          <a:xfrm flipH="false" flipV="false" rot="10571821">
            <a:off x="10628437" y="8363453"/>
            <a:ext cx="5947318" cy="7978109"/>
          </a:xfrm>
          <a:custGeom>
            <a:avLst/>
            <a:gdLst/>
            <a:ahLst/>
            <a:cxnLst/>
            <a:rect r="r" b="b" t="t" l="l"/>
            <a:pathLst>
              <a:path h="7978109" w="5947318">
                <a:moveTo>
                  <a:pt x="0" y="0"/>
                </a:moveTo>
                <a:lnTo>
                  <a:pt x="5947318" y="0"/>
                </a:lnTo>
                <a:lnTo>
                  <a:pt x="5947318" y="7978110"/>
                </a:lnTo>
                <a:lnTo>
                  <a:pt x="0" y="79781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false" flipV="false" rot="0">
            <a:off x="8209551" y="818389"/>
            <a:ext cx="1868899" cy="1904610"/>
          </a:xfrm>
          <a:custGeom>
            <a:avLst/>
            <a:gdLst/>
            <a:ahLst/>
            <a:cxnLst/>
            <a:rect r="r" b="b" t="t" l="l"/>
            <a:pathLst>
              <a:path h="1904610" w="1868899">
                <a:moveTo>
                  <a:pt x="0" y="0"/>
                </a:moveTo>
                <a:lnTo>
                  <a:pt x="1868898" y="0"/>
                </a:lnTo>
                <a:lnTo>
                  <a:pt x="1868898" y="1904611"/>
                </a:lnTo>
                <a:lnTo>
                  <a:pt x="0" y="1904611"/>
                </a:lnTo>
                <a:lnTo>
                  <a:pt x="0" y="0"/>
                </a:lnTo>
                <a:close/>
              </a:path>
            </a:pathLst>
          </a:custGeom>
          <a:blipFill>
            <a:blip r:embed="rId4"/>
            <a:stretch>
              <a:fillRect l="0" t="0" r="0" b="0"/>
            </a:stretch>
          </a:blipFill>
        </p:spPr>
      </p:sp>
      <p:sp>
        <p:nvSpPr>
          <p:cNvPr name="TextBox 6" id="6"/>
          <p:cNvSpPr txBox="true"/>
          <p:nvPr/>
        </p:nvSpPr>
        <p:spPr>
          <a:xfrm rot="0">
            <a:off x="5659351" y="356210"/>
            <a:ext cx="6969298" cy="462180"/>
          </a:xfrm>
          <a:prstGeom prst="rect">
            <a:avLst/>
          </a:prstGeom>
        </p:spPr>
        <p:txBody>
          <a:bodyPr anchor="t" rtlCol="false" tIns="0" lIns="0" bIns="0" rIns="0">
            <a:spAutoFit/>
          </a:bodyPr>
          <a:lstStyle/>
          <a:p>
            <a:pPr algn="l">
              <a:lnSpc>
                <a:spcPts val="3645"/>
              </a:lnSpc>
              <a:spcBef>
                <a:spcPct val="0"/>
              </a:spcBef>
            </a:pPr>
            <a:r>
              <a:rPr lang="en-US" sz="3063" spc="-61">
                <a:solidFill>
                  <a:srgbClr val="253754"/>
                </a:solidFill>
                <a:latin typeface="Glacial Indifference"/>
                <a:ea typeface="Glacial Indifference"/>
                <a:cs typeface="Glacial Indifference"/>
                <a:sym typeface="Glacial Indifference"/>
              </a:rPr>
              <a:t>UNIVERSIDAD CATÓLICA DE EL SALVADOR </a:t>
            </a:r>
          </a:p>
        </p:txBody>
      </p:sp>
      <p:sp>
        <p:nvSpPr>
          <p:cNvPr name="TextBox 7" id="7"/>
          <p:cNvSpPr txBox="true"/>
          <p:nvPr/>
        </p:nvSpPr>
        <p:spPr>
          <a:xfrm rot="0">
            <a:off x="6277694" y="2758241"/>
            <a:ext cx="5732612" cy="612221"/>
          </a:xfrm>
          <a:prstGeom prst="rect">
            <a:avLst/>
          </a:prstGeom>
        </p:spPr>
        <p:txBody>
          <a:bodyPr anchor="t" rtlCol="false" tIns="0" lIns="0" bIns="0" rIns="0">
            <a:spAutoFit/>
          </a:bodyPr>
          <a:lstStyle/>
          <a:p>
            <a:pPr algn="l">
              <a:lnSpc>
                <a:spcPts val="2455"/>
              </a:lnSpc>
            </a:pPr>
            <a:r>
              <a:rPr lang="en-US" sz="2063" spc="-41">
                <a:solidFill>
                  <a:srgbClr val="253754"/>
                </a:solidFill>
                <a:latin typeface="Glacial Indifference"/>
                <a:ea typeface="Glacial Indifference"/>
                <a:cs typeface="Glacial Indifference"/>
                <a:sym typeface="Glacial Indifference"/>
              </a:rPr>
              <a:t>Facultad de Ingeniería y Arquitectura Ciclo 01-2026.</a:t>
            </a:r>
          </a:p>
          <a:p>
            <a:pPr algn="l">
              <a:lnSpc>
                <a:spcPts val="2455"/>
              </a:lnSpc>
              <a:spcBef>
                <a:spcPct val="0"/>
              </a:spcBef>
            </a:pPr>
          </a:p>
        </p:txBody>
      </p:sp>
      <p:sp>
        <p:nvSpPr>
          <p:cNvPr name="TextBox 8" id="8"/>
          <p:cNvSpPr txBox="true"/>
          <p:nvPr/>
        </p:nvSpPr>
        <p:spPr>
          <a:xfrm rot="0">
            <a:off x="4913670" y="3182875"/>
            <a:ext cx="8460660" cy="612221"/>
          </a:xfrm>
          <a:prstGeom prst="rect">
            <a:avLst/>
          </a:prstGeom>
        </p:spPr>
        <p:txBody>
          <a:bodyPr anchor="t" rtlCol="false" tIns="0" lIns="0" bIns="0" rIns="0">
            <a:spAutoFit/>
          </a:bodyPr>
          <a:lstStyle/>
          <a:p>
            <a:pPr algn="ctr">
              <a:lnSpc>
                <a:spcPts val="2455"/>
              </a:lnSpc>
            </a:pPr>
            <a:r>
              <a:rPr lang="en-US" sz="2063" spc="-41">
                <a:solidFill>
                  <a:srgbClr val="253754"/>
                </a:solidFill>
                <a:latin typeface="Glacial Indifference"/>
                <a:ea typeface="Glacial Indifference"/>
                <a:cs typeface="Glacial Indifference"/>
                <a:sym typeface="Glacial Indifference"/>
              </a:rPr>
              <a:t>Asignatura:</a:t>
            </a:r>
          </a:p>
          <a:p>
            <a:pPr algn="ctr">
              <a:lnSpc>
                <a:spcPts val="2455"/>
              </a:lnSpc>
              <a:spcBef>
                <a:spcPct val="0"/>
              </a:spcBef>
            </a:pPr>
            <a:r>
              <a:rPr lang="en-US" sz="2063" spc="-41">
                <a:solidFill>
                  <a:srgbClr val="253754"/>
                </a:solidFill>
                <a:latin typeface="Glacial Indifference"/>
                <a:ea typeface="Glacial Indifference"/>
                <a:cs typeface="Glacial Indifference"/>
                <a:sym typeface="Glacial Indifference"/>
              </a:rPr>
              <a:t>Técnicas de Redacción.</a:t>
            </a:r>
          </a:p>
        </p:txBody>
      </p:sp>
      <p:sp>
        <p:nvSpPr>
          <p:cNvPr name="TextBox 9" id="9"/>
          <p:cNvSpPr txBox="true"/>
          <p:nvPr/>
        </p:nvSpPr>
        <p:spPr>
          <a:xfrm rot="0">
            <a:off x="4913670" y="4046737"/>
            <a:ext cx="8460660" cy="917021"/>
          </a:xfrm>
          <a:prstGeom prst="rect">
            <a:avLst/>
          </a:prstGeom>
        </p:spPr>
        <p:txBody>
          <a:bodyPr anchor="t" rtlCol="false" tIns="0" lIns="0" bIns="0" rIns="0">
            <a:spAutoFit/>
          </a:bodyPr>
          <a:lstStyle/>
          <a:p>
            <a:pPr algn="ctr">
              <a:lnSpc>
                <a:spcPts val="2455"/>
              </a:lnSpc>
            </a:pPr>
            <a:r>
              <a:rPr lang="en-US" sz="2063" spc="-41">
                <a:solidFill>
                  <a:srgbClr val="253754"/>
                </a:solidFill>
                <a:latin typeface="Glacial Indifference"/>
                <a:ea typeface="Glacial Indifference"/>
                <a:cs typeface="Glacial Indifference"/>
                <a:sym typeface="Glacial Indifference"/>
              </a:rPr>
              <a:t>Tema:</a:t>
            </a:r>
          </a:p>
          <a:p>
            <a:pPr algn="ctr">
              <a:lnSpc>
                <a:spcPts val="2455"/>
              </a:lnSpc>
            </a:pPr>
            <a:r>
              <a:rPr lang="en-US" sz="2063" spc="-41">
                <a:solidFill>
                  <a:srgbClr val="253754"/>
                </a:solidFill>
                <a:latin typeface="Glacial Indifference"/>
                <a:ea typeface="Glacial Indifference"/>
                <a:cs typeface="Glacial Indifference"/>
                <a:sym typeface="Glacial Indifference"/>
              </a:rPr>
              <a:t>L</a:t>
            </a:r>
            <a:r>
              <a:rPr lang="en-US" sz="2063" spc="-41">
                <a:solidFill>
                  <a:srgbClr val="253754"/>
                </a:solidFill>
                <a:latin typeface="Glacial Indifference"/>
                <a:ea typeface="Glacial Indifference"/>
                <a:cs typeface="Glacial Indifference"/>
                <a:sym typeface="Glacial Indifference"/>
              </a:rPr>
              <a:t>ista de vicios y escollos.</a:t>
            </a:r>
          </a:p>
          <a:p>
            <a:pPr algn="ctr">
              <a:lnSpc>
                <a:spcPts val="2455"/>
              </a:lnSpc>
              <a:spcBef>
                <a:spcPct val="0"/>
              </a:spcBef>
            </a:pPr>
          </a:p>
        </p:txBody>
      </p:sp>
      <p:sp>
        <p:nvSpPr>
          <p:cNvPr name="TextBox 10" id="10"/>
          <p:cNvSpPr txBox="true"/>
          <p:nvPr/>
        </p:nvSpPr>
        <p:spPr>
          <a:xfrm rot="0">
            <a:off x="4913670" y="4839547"/>
            <a:ext cx="8460660" cy="917021"/>
          </a:xfrm>
          <a:prstGeom prst="rect">
            <a:avLst/>
          </a:prstGeom>
        </p:spPr>
        <p:txBody>
          <a:bodyPr anchor="t" rtlCol="false" tIns="0" lIns="0" bIns="0" rIns="0">
            <a:spAutoFit/>
          </a:bodyPr>
          <a:lstStyle/>
          <a:p>
            <a:pPr algn="ctr">
              <a:lnSpc>
                <a:spcPts val="2455"/>
              </a:lnSpc>
            </a:pPr>
            <a:r>
              <a:rPr lang="en-US" sz="2063" spc="-41">
                <a:solidFill>
                  <a:srgbClr val="253754"/>
                </a:solidFill>
                <a:latin typeface="Glacial Indifference"/>
                <a:ea typeface="Glacial Indifference"/>
                <a:cs typeface="Glacial Indifference"/>
                <a:sym typeface="Glacial Indifference"/>
              </a:rPr>
              <a:t>Docente:</a:t>
            </a:r>
          </a:p>
          <a:p>
            <a:pPr algn="ctr">
              <a:lnSpc>
                <a:spcPts val="2455"/>
              </a:lnSpc>
            </a:pPr>
            <a:r>
              <a:rPr lang="en-US" sz="2063" spc="-41">
                <a:solidFill>
                  <a:srgbClr val="253754"/>
                </a:solidFill>
                <a:latin typeface="Glacial Indifference"/>
                <a:ea typeface="Glacial Indifference"/>
                <a:cs typeface="Glacial Indifference"/>
                <a:sym typeface="Glacial Indifference"/>
              </a:rPr>
              <a:t>Lcdo.</a:t>
            </a:r>
            <a:r>
              <a:rPr lang="en-US" sz="2063" spc="-41">
                <a:solidFill>
                  <a:srgbClr val="253754"/>
                </a:solidFill>
                <a:latin typeface="Glacial Indifference"/>
                <a:ea typeface="Glacial Indifference"/>
                <a:cs typeface="Glacial Indifference"/>
                <a:sym typeface="Glacial Indifference"/>
              </a:rPr>
              <a:t> Jorge David Morales Portillo</a:t>
            </a:r>
          </a:p>
          <a:p>
            <a:pPr algn="ctr">
              <a:lnSpc>
                <a:spcPts val="2455"/>
              </a:lnSpc>
              <a:spcBef>
                <a:spcPct val="0"/>
              </a:spcBef>
            </a:pPr>
          </a:p>
        </p:txBody>
      </p:sp>
      <p:sp>
        <p:nvSpPr>
          <p:cNvPr name="TextBox 11" id="11"/>
          <p:cNvSpPr txBox="true"/>
          <p:nvPr/>
        </p:nvSpPr>
        <p:spPr>
          <a:xfrm rot="0">
            <a:off x="4913670" y="5735283"/>
            <a:ext cx="8460660" cy="2564207"/>
          </a:xfrm>
          <a:prstGeom prst="rect">
            <a:avLst/>
          </a:prstGeom>
        </p:spPr>
        <p:txBody>
          <a:bodyPr anchor="t" rtlCol="false" tIns="0" lIns="0" bIns="0" rIns="0">
            <a:spAutoFit/>
          </a:bodyPr>
          <a:lstStyle/>
          <a:p>
            <a:pPr algn="ctr">
              <a:lnSpc>
                <a:spcPts val="1485"/>
              </a:lnSpc>
            </a:pPr>
            <a:r>
              <a:rPr lang="en-US" sz="2063" spc="-41">
                <a:solidFill>
                  <a:srgbClr val="253754"/>
                </a:solidFill>
                <a:latin typeface="Glacial Indifference"/>
                <a:ea typeface="Glacial Indifference"/>
                <a:cs typeface="Glacial Indifference"/>
                <a:sym typeface="Glacial Indifference"/>
              </a:rPr>
              <a:t>Integrantes:</a:t>
            </a:r>
          </a:p>
          <a:p>
            <a:pPr algn="ctr">
              <a:lnSpc>
                <a:spcPts val="1485"/>
              </a:lnSpc>
            </a:pPr>
          </a:p>
          <a:p>
            <a:pPr algn="ctr">
              <a:lnSpc>
                <a:spcPts val="1485"/>
              </a:lnSpc>
            </a:pPr>
            <a:r>
              <a:rPr lang="en-US" sz="2063" spc="-41">
                <a:solidFill>
                  <a:srgbClr val="253754"/>
                </a:solidFill>
                <a:latin typeface="Glacial Indifference"/>
                <a:ea typeface="Glacial Indifference"/>
                <a:cs typeface="Glacial Indifference"/>
                <a:sym typeface="Glacial Indifference"/>
              </a:rPr>
              <a:t>Bayron Ronaldo</a:t>
            </a:r>
            <a:r>
              <a:rPr lang="en-US" sz="2063" spc="-41">
                <a:solidFill>
                  <a:srgbClr val="253754"/>
                </a:solidFill>
                <a:latin typeface="Glacial Indifference"/>
                <a:ea typeface="Glacial Indifference"/>
                <a:cs typeface="Glacial Indifference"/>
                <a:sym typeface="Glacial Indifference"/>
              </a:rPr>
              <a:t> Zeceña Morán</a:t>
            </a:r>
          </a:p>
          <a:p>
            <a:pPr algn="ctr">
              <a:lnSpc>
                <a:spcPts val="1485"/>
              </a:lnSpc>
            </a:pPr>
          </a:p>
          <a:p>
            <a:pPr algn="ctr">
              <a:lnSpc>
                <a:spcPts val="1485"/>
              </a:lnSpc>
            </a:pPr>
            <a:r>
              <a:rPr lang="en-US" sz="2063" spc="-41">
                <a:solidFill>
                  <a:srgbClr val="253754"/>
                </a:solidFill>
                <a:latin typeface="Glacial Indifference"/>
                <a:ea typeface="Glacial Indifference"/>
                <a:cs typeface="Glacial Indifference"/>
                <a:sym typeface="Glacial Indifference"/>
              </a:rPr>
              <a:t>Bryan Eduardo Vega Aguilar</a:t>
            </a:r>
          </a:p>
          <a:p>
            <a:pPr algn="ctr">
              <a:lnSpc>
                <a:spcPts val="1485"/>
              </a:lnSpc>
            </a:pPr>
          </a:p>
          <a:p>
            <a:pPr algn="ctr">
              <a:lnSpc>
                <a:spcPts val="1485"/>
              </a:lnSpc>
            </a:pPr>
            <a:r>
              <a:rPr lang="en-US" sz="2063" spc="-41">
                <a:solidFill>
                  <a:srgbClr val="253754"/>
                </a:solidFill>
                <a:latin typeface="Glacial Indifference"/>
                <a:ea typeface="Glacial Indifference"/>
                <a:cs typeface="Glacial Indifference"/>
                <a:sym typeface="Glacial Indifference"/>
              </a:rPr>
              <a:t>Bryan Oswaldo Martínez Velásquez</a:t>
            </a:r>
          </a:p>
          <a:p>
            <a:pPr algn="ctr">
              <a:lnSpc>
                <a:spcPts val="1485"/>
              </a:lnSpc>
            </a:pPr>
          </a:p>
          <a:p>
            <a:pPr algn="ctr">
              <a:lnSpc>
                <a:spcPts val="1485"/>
              </a:lnSpc>
            </a:pPr>
            <a:r>
              <a:rPr lang="en-US" sz="2063" spc="-41">
                <a:solidFill>
                  <a:srgbClr val="253754"/>
                </a:solidFill>
                <a:latin typeface="Glacial Indifference"/>
                <a:ea typeface="Glacial Indifference"/>
                <a:cs typeface="Glacial Indifference"/>
                <a:sym typeface="Glacial Indifference"/>
              </a:rPr>
              <a:t>Carlos Ernesto Acosta Gregorio</a:t>
            </a:r>
          </a:p>
          <a:p>
            <a:pPr algn="ctr">
              <a:lnSpc>
                <a:spcPts val="1485"/>
              </a:lnSpc>
            </a:pPr>
          </a:p>
          <a:p>
            <a:pPr algn="ctr">
              <a:lnSpc>
                <a:spcPts val="1485"/>
              </a:lnSpc>
            </a:pPr>
            <a:r>
              <a:rPr lang="en-US" sz="2063" spc="-41">
                <a:solidFill>
                  <a:srgbClr val="253754"/>
                </a:solidFill>
                <a:latin typeface="Glacial Indifference"/>
                <a:ea typeface="Glacial Indifference"/>
                <a:cs typeface="Glacial Indifference"/>
                <a:sym typeface="Glacial Indifference"/>
              </a:rPr>
              <a:t>José Ernesto Parada Calderón</a:t>
            </a:r>
          </a:p>
          <a:p>
            <a:pPr algn="ctr">
              <a:lnSpc>
                <a:spcPts val="1485"/>
              </a:lnSpc>
            </a:pPr>
          </a:p>
          <a:p>
            <a:pPr algn="ctr">
              <a:lnSpc>
                <a:spcPts val="1485"/>
              </a:lnSpc>
            </a:pPr>
            <a:r>
              <a:rPr lang="en-US" sz="2063" spc="-41">
                <a:solidFill>
                  <a:srgbClr val="253754"/>
                </a:solidFill>
                <a:latin typeface="Glacial Indifference"/>
                <a:ea typeface="Glacial Indifference"/>
                <a:cs typeface="Glacial Indifference"/>
                <a:sym typeface="Glacial Indifference"/>
              </a:rPr>
              <a:t>Santos Alexander Linares Retana</a:t>
            </a:r>
          </a:p>
          <a:p>
            <a:pPr algn="ctr">
              <a:lnSpc>
                <a:spcPts val="1485"/>
              </a:lnSpc>
            </a:pPr>
          </a:p>
        </p:txBody>
      </p:sp>
      <p:sp>
        <p:nvSpPr>
          <p:cNvPr name="TextBox 12" id="12"/>
          <p:cNvSpPr txBox="true"/>
          <p:nvPr/>
        </p:nvSpPr>
        <p:spPr>
          <a:xfrm rot="0">
            <a:off x="4913670" y="8547140"/>
            <a:ext cx="8460660" cy="917021"/>
          </a:xfrm>
          <a:prstGeom prst="rect">
            <a:avLst/>
          </a:prstGeom>
        </p:spPr>
        <p:txBody>
          <a:bodyPr anchor="t" rtlCol="false" tIns="0" lIns="0" bIns="0" rIns="0">
            <a:spAutoFit/>
          </a:bodyPr>
          <a:lstStyle/>
          <a:p>
            <a:pPr algn="ctr">
              <a:lnSpc>
                <a:spcPts val="2455"/>
              </a:lnSpc>
            </a:pPr>
            <a:r>
              <a:rPr lang="en-US" sz="2063" spc="-41">
                <a:solidFill>
                  <a:srgbClr val="253754"/>
                </a:solidFill>
                <a:latin typeface="Glacial Indifference"/>
                <a:ea typeface="Glacial Indifference"/>
                <a:cs typeface="Glacial Indifference"/>
                <a:sym typeface="Glacial Indifference"/>
              </a:rPr>
              <a:t>Fecha:</a:t>
            </a:r>
          </a:p>
          <a:p>
            <a:pPr algn="ctr">
              <a:lnSpc>
                <a:spcPts val="2455"/>
              </a:lnSpc>
            </a:pPr>
            <a:r>
              <a:rPr lang="en-US" sz="2063" spc="-41">
                <a:solidFill>
                  <a:srgbClr val="253754"/>
                </a:solidFill>
                <a:latin typeface="Glacial Indifference"/>
                <a:ea typeface="Glacial Indifference"/>
                <a:cs typeface="Glacial Indifference"/>
                <a:sym typeface="Glacial Indifference"/>
              </a:rPr>
              <a:t>San</a:t>
            </a:r>
            <a:r>
              <a:rPr lang="en-US" sz="2063" spc="-41">
                <a:solidFill>
                  <a:srgbClr val="253754"/>
                </a:solidFill>
                <a:latin typeface="Glacial Indifference"/>
                <a:ea typeface="Glacial Indifference"/>
                <a:cs typeface="Glacial Indifference"/>
                <a:sym typeface="Glacial Indifference"/>
              </a:rPr>
              <a:t>ta Ana, 23 de marzo de 2026</a:t>
            </a:r>
          </a:p>
          <a:p>
            <a:pPr algn="ctr">
              <a:lnSpc>
                <a:spcPts val="2455"/>
              </a:lnSpc>
              <a:spcBef>
                <a:spcPct val="0"/>
              </a:spcBef>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DE8E4"/>
        </a:solidFill>
      </p:bgPr>
    </p:bg>
    <p:spTree>
      <p:nvGrpSpPr>
        <p:cNvPr id="1" name=""/>
        <p:cNvGrpSpPr/>
        <p:nvPr/>
      </p:nvGrpSpPr>
      <p:grpSpPr>
        <a:xfrm>
          <a:off x="0" y="0"/>
          <a:ext cx="0" cy="0"/>
          <a:chOff x="0" y="0"/>
          <a:chExt cx="0" cy="0"/>
        </a:xfrm>
      </p:grpSpPr>
      <p:sp>
        <p:nvSpPr>
          <p:cNvPr name="Freeform 2" id="2"/>
          <p:cNvSpPr/>
          <p:nvPr/>
        </p:nvSpPr>
        <p:spPr>
          <a:xfrm flipH="false" flipV="false" rot="-445925">
            <a:off x="3142738" y="-769394"/>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8798399">
            <a:off x="8466276" y="-9590538"/>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3283157">
            <a:off x="-1501206" y="7329841"/>
            <a:ext cx="5624862" cy="7545546"/>
          </a:xfrm>
          <a:custGeom>
            <a:avLst/>
            <a:gdLst/>
            <a:ahLst/>
            <a:cxnLst/>
            <a:rect r="r" b="b" t="t" l="l"/>
            <a:pathLst>
              <a:path h="7545546" w="5624862">
                <a:moveTo>
                  <a:pt x="0" y="0"/>
                </a:moveTo>
                <a:lnTo>
                  <a:pt x="5624862" y="0"/>
                </a:lnTo>
                <a:lnTo>
                  <a:pt x="5624862" y="7545546"/>
                </a:lnTo>
                <a:lnTo>
                  <a:pt x="0" y="75455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2770156">
            <a:off x="-2577184" y="-2165857"/>
            <a:ext cx="5154368" cy="4995052"/>
          </a:xfrm>
          <a:custGeom>
            <a:avLst/>
            <a:gdLst/>
            <a:ahLst/>
            <a:cxnLst/>
            <a:rect r="r" b="b" t="t" l="l"/>
            <a:pathLst>
              <a:path h="4995052" w="5154368">
                <a:moveTo>
                  <a:pt x="0" y="0"/>
                </a:moveTo>
                <a:lnTo>
                  <a:pt x="5154368" y="0"/>
                </a:lnTo>
                <a:lnTo>
                  <a:pt x="5154368" y="4995051"/>
                </a:lnTo>
                <a:lnTo>
                  <a:pt x="0" y="49950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2770156">
            <a:off x="15710816" y="8522875"/>
            <a:ext cx="5154368" cy="4995052"/>
          </a:xfrm>
          <a:custGeom>
            <a:avLst/>
            <a:gdLst/>
            <a:ahLst/>
            <a:cxnLst/>
            <a:rect r="r" b="b" t="t" l="l"/>
            <a:pathLst>
              <a:path h="4995052" w="5154368">
                <a:moveTo>
                  <a:pt x="0" y="0"/>
                </a:moveTo>
                <a:lnTo>
                  <a:pt x="5154368" y="0"/>
                </a:lnTo>
                <a:lnTo>
                  <a:pt x="5154368" y="4995052"/>
                </a:lnTo>
                <a:lnTo>
                  <a:pt x="0" y="49950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7" id="7"/>
          <p:cNvSpPr txBox="true"/>
          <p:nvPr/>
        </p:nvSpPr>
        <p:spPr>
          <a:xfrm rot="0">
            <a:off x="2255639" y="2922121"/>
            <a:ext cx="13776722" cy="5703710"/>
          </a:xfrm>
          <a:prstGeom prst="rect">
            <a:avLst/>
          </a:prstGeom>
        </p:spPr>
        <p:txBody>
          <a:bodyPr anchor="t" rtlCol="false" tIns="0" lIns="0" bIns="0" rIns="0">
            <a:spAutoFit/>
          </a:bodyPr>
          <a:lstStyle/>
          <a:p>
            <a:pPr algn="ctr">
              <a:lnSpc>
                <a:spcPts val="3772"/>
              </a:lnSpc>
            </a:pPr>
            <a:r>
              <a:rPr lang="en-US" sz="2694" spc="59">
                <a:solidFill>
                  <a:srgbClr val="152540"/>
                </a:solidFill>
                <a:latin typeface="Glacial Indifference"/>
                <a:ea typeface="Glacial Indifference"/>
                <a:cs typeface="Glacial Indifference"/>
                <a:sym typeface="Glacial Indifference"/>
              </a:rPr>
              <a:t>En el </a:t>
            </a:r>
            <a:r>
              <a:rPr lang="en-US" sz="2694" spc="59" strike="noStrike" u="none">
                <a:solidFill>
                  <a:srgbClr val="152540"/>
                </a:solidFill>
                <a:latin typeface="Glacial Indifference"/>
                <a:ea typeface="Glacial Indifference"/>
                <a:cs typeface="Glacial Indifference"/>
                <a:sym typeface="Glacial Indifference"/>
              </a:rPr>
              <a:t>presente documento se abordan distintos aspectos relacionados con el uso inadecuado del lenguaje, tales como la ambigüedad, los arcaísmos, los barbarismos, la cacofonía, el cosismo, el dequeísmo, el esdrujulismo, el eufemismo excesivo, los extranjerismos innecesarios, la hipercorrección, la impropiedad léxica, el leísmo y loísmo, la monotonía, las muletillas, los neologismos innecesarios, el pleonasmo, el queísmo, el solecismo, la ultracorrección y la vaguedad léxica.</a:t>
            </a:r>
          </a:p>
          <a:p>
            <a:pPr algn="ctr">
              <a:lnSpc>
                <a:spcPts val="3772"/>
              </a:lnSpc>
            </a:pPr>
            <a:r>
              <a:rPr lang="en-US" sz="2694" spc="59" strike="noStrike" u="none">
                <a:solidFill>
                  <a:srgbClr val="152540"/>
                </a:solidFill>
                <a:latin typeface="Glacial Indifference"/>
                <a:ea typeface="Glacial Indifference"/>
                <a:cs typeface="Glacial Indifference"/>
                <a:sym typeface="Glacial Indifference"/>
              </a:rPr>
              <a:t>Cada uno de estos conceptos será explicado mediante su definición, ejemplos y ejercicios prácticos, con el fin de identificar sus características y promover un uso más adecuado y consciente del idioma. De esta manera, se busca fortalecer las habilidades comunicativas y fomentar una expresión clara, precisa y correcta en diferentes contextos.</a:t>
            </a:r>
          </a:p>
          <a:p>
            <a:pPr algn="ctr">
              <a:lnSpc>
                <a:spcPts val="3772"/>
              </a:lnSpc>
            </a:pPr>
          </a:p>
        </p:txBody>
      </p:sp>
      <p:sp>
        <p:nvSpPr>
          <p:cNvPr name="TextBox 8" id="8"/>
          <p:cNvSpPr txBox="true"/>
          <p:nvPr/>
        </p:nvSpPr>
        <p:spPr>
          <a:xfrm rot="0">
            <a:off x="5521158" y="1255406"/>
            <a:ext cx="7245684" cy="2217998"/>
          </a:xfrm>
          <a:prstGeom prst="rect">
            <a:avLst/>
          </a:prstGeom>
        </p:spPr>
        <p:txBody>
          <a:bodyPr anchor="t" rtlCol="false" tIns="0" lIns="0" bIns="0" rIns="0">
            <a:spAutoFit/>
          </a:bodyPr>
          <a:lstStyle/>
          <a:p>
            <a:pPr algn="l">
              <a:lnSpc>
                <a:spcPts val="8998"/>
              </a:lnSpc>
            </a:pPr>
            <a:r>
              <a:rPr lang="en-US" b="true" sz="6427" spc="604">
                <a:solidFill>
                  <a:srgbClr val="152540"/>
                </a:solidFill>
                <a:latin typeface="Glacial Indifference Bold"/>
                <a:ea typeface="Glacial Indifference Bold"/>
                <a:cs typeface="Glacial Indifference Bold"/>
                <a:sym typeface="Glacial Indifference Bold"/>
              </a:rPr>
              <a:t>INTRODUCCIÓN.</a:t>
            </a:r>
          </a:p>
          <a:p>
            <a:pPr algn="l">
              <a:lnSpc>
                <a:spcPts val="8998"/>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DE8E4"/>
        </a:solidFill>
      </p:bgPr>
    </p:bg>
    <p:spTree>
      <p:nvGrpSpPr>
        <p:cNvPr id="1" name=""/>
        <p:cNvGrpSpPr/>
        <p:nvPr/>
      </p:nvGrpSpPr>
      <p:grpSpPr>
        <a:xfrm>
          <a:off x="0" y="0"/>
          <a:ext cx="0" cy="0"/>
          <a:chOff x="0" y="0"/>
          <a:chExt cx="0" cy="0"/>
        </a:xfrm>
      </p:grpSpPr>
      <p:sp>
        <p:nvSpPr>
          <p:cNvPr name="Freeform 2" id="2"/>
          <p:cNvSpPr/>
          <p:nvPr/>
        </p:nvSpPr>
        <p:spPr>
          <a:xfrm flipH="false" flipV="false" rot="-445925">
            <a:off x="3142738" y="-769394"/>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8798399">
            <a:off x="8466276" y="-9590538"/>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3283157">
            <a:off x="-1501206" y="7329841"/>
            <a:ext cx="5624862" cy="7545546"/>
          </a:xfrm>
          <a:custGeom>
            <a:avLst/>
            <a:gdLst/>
            <a:ahLst/>
            <a:cxnLst/>
            <a:rect r="r" b="b" t="t" l="l"/>
            <a:pathLst>
              <a:path h="7545546" w="5624862">
                <a:moveTo>
                  <a:pt x="0" y="0"/>
                </a:moveTo>
                <a:lnTo>
                  <a:pt x="5624862" y="0"/>
                </a:lnTo>
                <a:lnTo>
                  <a:pt x="5624862" y="7545546"/>
                </a:lnTo>
                <a:lnTo>
                  <a:pt x="0" y="75455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2770156">
            <a:off x="-2577184" y="-2165857"/>
            <a:ext cx="5154368" cy="4995052"/>
          </a:xfrm>
          <a:custGeom>
            <a:avLst/>
            <a:gdLst/>
            <a:ahLst/>
            <a:cxnLst/>
            <a:rect r="r" b="b" t="t" l="l"/>
            <a:pathLst>
              <a:path h="4995052" w="5154368">
                <a:moveTo>
                  <a:pt x="0" y="0"/>
                </a:moveTo>
                <a:lnTo>
                  <a:pt x="5154368" y="0"/>
                </a:lnTo>
                <a:lnTo>
                  <a:pt x="5154368" y="4995051"/>
                </a:lnTo>
                <a:lnTo>
                  <a:pt x="0" y="49950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2770156">
            <a:off x="15710816" y="8522875"/>
            <a:ext cx="5154368" cy="4995052"/>
          </a:xfrm>
          <a:custGeom>
            <a:avLst/>
            <a:gdLst/>
            <a:ahLst/>
            <a:cxnLst/>
            <a:rect r="r" b="b" t="t" l="l"/>
            <a:pathLst>
              <a:path h="4995052" w="5154368">
                <a:moveTo>
                  <a:pt x="0" y="0"/>
                </a:moveTo>
                <a:lnTo>
                  <a:pt x="5154368" y="0"/>
                </a:lnTo>
                <a:lnTo>
                  <a:pt x="5154368" y="4995052"/>
                </a:lnTo>
                <a:lnTo>
                  <a:pt x="0" y="49950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7" id="7"/>
          <p:cNvSpPr txBox="true"/>
          <p:nvPr/>
        </p:nvSpPr>
        <p:spPr>
          <a:xfrm rot="0">
            <a:off x="2526598" y="3106080"/>
            <a:ext cx="13776722" cy="4050170"/>
          </a:xfrm>
          <a:prstGeom prst="rect">
            <a:avLst/>
          </a:prstGeom>
        </p:spPr>
        <p:txBody>
          <a:bodyPr anchor="t" rtlCol="false" tIns="0" lIns="0" bIns="0" rIns="0">
            <a:spAutoFit/>
          </a:bodyPr>
          <a:lstStyle/>
          <a:p>
            <a:pPr algn="ctr">
              <a:lnSpc>
                <a:spcPts val="4612"/>
              </a:lnSpc>
            </a:pPr>
            <a:r>
              <a:rPr lang="en-US" sz="3294" spc="72">
                <a:solidFill>
                  <a:srgbClr val="152540"/>
                </a:solidFill>
                <a:latin typeface="Glacial Indifference"/>
                <a:ea typeface="Glacial Indifference"/>
                <a:cs typeface="Glacial Indifference"/>
                <a:sym typeface="Glacial Indifference"/>
              </a:rPr>
              <a:t>Pr</a:t>
            </a:r>
            <a:r>
              <a:rPr lang="en-US" sz="3294" spc="72" strike="noStrike" u="none">
                <a:solidFill>
                  <a:srgbClr val="152540"/>
                </a:solidFill>
                <a:latin typeface="Glacial Indifference"/>
                <a:ea typeface="Glacial Indifference"/>
                <a:cs typeface="Glacial Indifference"/>
                <a:sym typeface="Glacial Indifference"/>
              </a:rPr>
              <a:t>opiedad de aquellas expresiones lingüísticas que admiten más de una interpretación.</a:t>
            </a:r>
          </a:p>
          <a:p>
            <a:pPr algn="ctr">
              <a:lnSpc>
                <a:spcPts val="4612"/>
              </a:lnSpc>
            </a:pPr>
            <a:r>
              <a:rPr lang="en-US" sz="3294" spc="72" strike="noStrike" u="none">
                <a:solidFill>
                  <a:srgbClr val="152540"/>
                </a:solidFill>
                <a:latin typeface="Glacial Indifference"/>
                <a:ea typeface="Glacial Indifference"/>
                <a:cs typeface="Glacial Indifference"/>
                <a:sym typeface="Glacial Indifference"/>
              </a:rPr>
              <a:t>Existen dos tipos fundamentales de ambigüedad:Ambigüedad Léxica (Polisemia y Homonimia)</a:t>
            </a:r>
          </a:p>
          <a:p>
            <a:pPr algn="ctr">
              <a:lnSpc>
                <a:spcPts val="4612"/>
              </a:lnSpc>
            </a:pPr>
            <a:r>
              <a:rPr lang="en-US" sz="3294" spc="72" strike="noStrike" u="none">
                <a:solidFill>
                  <a:srgbClr val="152540"/>
                </a:solidFill>
                <a:latin typeface="Glacial Indifference"/>
                <a:ea typeface="Glacial Indifference"/>
                <a:cs typeface="Glacial Indifference"/>
                <a:sym typeface="Glacial Indifference"/>
              </a:rPr>
              <a:t>Ocurre cuando una sola palabra tiene varios significados. La duda recae sobre el diccionario de la palabra individual.</a:t>
            </a:r>
          </a:p>
          <a:p>
            <a:pPr algn="ctr">
              <a:lnSpc>
                <a:spcPts val="4612"/>
              </a:lnSpc>
            </a:pPr>
          </a:p>
        </p:txBody>
      </p:sp>
      <p:sp>
        <p:nvSpPr>
          <p:cNvPr name="TextBox 8" id="8"/>
          <p:cNvSpPr txBox="true"/>
          <p:nvPr/>
        </p:nvSpPr>
        <p:spPr>
          <a:xfrm rot="0">
            <a:off x="5643351" y="885825"/>
            <a:ext cx="7543218" cy="2561884"/>
          </a:xfrm>
          <a:prstGeom prst="rect">
            <a:avLst/>
          </a:prstGeom>
        </p:spPr>
        <p:txBody>
          <a:bodyPr anchor="t" rtlCol="false" tIns="0" lIns="0" bIns="0" rIns="0">
            <a:spAutoFit/>
          </a:bodyPr>
          <a:lstStyle/>
          <a:p>
            <a:pPr algn="l">
              <a:lnSpc>
                <a:spcPts val="10258"/>
              </a:lnSpc>
            </a:pPr>
            <a:r>
              <a:rPr lang="en-US" b="true" sz="7327" spc="688">
                <a:solidFill>
                  <a:srgbClr val="152540"/>
                </a:solidFill>
                <a:latin typeface="Glacial Indifference Bold"/>
                <a:ea typeface="Glacial Indifference Bold"/>
                <a:cs typeface="Glacial Indifference Bold"/>
                <a:sym typeface="Glacial Indifference Bold"/>
              </a:rPr>
              <a:t>1.AMBIGÜEDAD</a:t>
            </a:r>
          </a:p>
          <a:p>
            <a:pPr algn="l">
              <a:lnSpc>
                <a:spcPts val="10258"/>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DE8E4"/>
        </a:solidFill>
      </p:bgPr>
    </p:bg>
    <p:spTree>
      <p:nvGrpSpPr>
        <p:cNvPr id="1" name=""/>
        <p:cNvGrpSpPr/>
        <p:nvPr/>
      </p:nvGrpSpPr>
      <p:grpSpPr>
        <a:xfrm>
          <a:off x="0" y="0"/>
          <a:ext cx="0" cy="0"/>
          <a:chOff x="0" y="0"/>
          <a:chExt cx="0" cy="0"/>
        </a:xfrm>
      </p:grpSpPr>
      <p:sp>
        <p:nvSpPr>
          <p:cNvPr name="Freeform 2" id="2"/>
          <p:cNvSpPr/>
          <p:nvPr/>
        </p:nvSpPr>
        <p:spPr>
          <a:xfrm flipH="false" flipV="false" rot="-445925">
            <a:off x="3142738" y="-769394"/>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8798399">
            <a:off x="8466276" y="-9590538"/>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3283157">
            <a:off x="-1501206" y="7329841"/>
            <a:ext cx="5624862" cy="7545546"/>
          </a:xfrm>
          <a:custGeom>
            <a:avLst/>
            <a:gdLst/>
            <a:ahLst/>
            <a:cxnLst/>
            <a:rect r="r" b="b" t="t" l="l"/>
            <a:pathLst>
              <a:path h="7545546" w="5624862">
                <a:moveTo>
                  <a:pt x="0" y="0"/>
                </a:moveTo>
                <a:lnTo>
                  <a:pt x="5624862" y="0"/>
                </a:lnTo>
                <a:lnTo>
                  <a:pt x="5624862" y="7545546"/>
                </a:lnTo>
                <a:lnTo>
                  <a:pt x="0" y="75455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2770156">
            <a:off x="-2577184" y="-2165857"/>
            <a:ext cx="5154368" cy="4995052"/>
          </a:xfrm>
          <a:custGeom>
            <a:avLst/>
            <a:gdLst/>
            <a:ahLst/>
            <a:cxnLst/>
            <a:rect r="r" b="b" t="t" l="l"/>
            <a:pathLst>
              <a:path h="4995052" w="5154368">
                <a:moveTo>
                  <a:pt x="0" y="0"/>
                </a:moveTo>
                <a:lnTo>
                  <a:pt x="5154368" y="0"/>
                </a:lnTo>
                <a:lnTo>
                  <a:pt x="5154368" y="4995051"/>
                </a:lnTo>
                <a:lnTo>
                  <a:pt x="0" y="49950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2770156">
            <a:off x="15710816" y="8522875"/>
            <a:ext cx="5154368" cy="4995052"/>
          </a:xfrm>
          <a:custGeom>
            <a:avLst/>
            <a:gdLst/>
            <a:ahLst/>
            <a:cxnLst/>
            <a:rect r="r" b="b" t="t" l="l"/>
            <a:pathLst>
              <a:path h="4995052" w="5154368">
                <a:moveTo>
                  <a:pt x="0" y="0"/>
                </a:moveTo>
                <a:lnTo>
                  <a:pt x="5154368" y="0"/>
                </a:lnTo>
                <a:lnTo>
                  <a:pt x="5154368" y="4995052"/>
                </a:lnTo>
                <a:lnTo>
                  <a:pt x="0" y="49950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7" id="7"/>
          <p:cNvSpPr txBox="true"/>
          <p:nvPr/>
        </p:nvSpPr>
        <p:spPr>
          <a:xfrm rot="0">
            <a:off x="2255639" y="2943128"/>
            <a:ext cx="13776722" cy="2307095"/>
          </a:xfrm>
          <a:prstGeom prst="rect">
            <a:avLst/>
          </a:prstGeom>
        </p:spPr>
        <p:txBody>
          <a:bodyPr anchor="t" rtlCol="false" tIns="0" lIns="0" bIns="0" rIns="0">
            <a:spAutoFit/>
          </a:bodyPr>
          <a:lstStyle/>
          <a:p>
            <a:pPr algn="ctr">
              <a:lnSpc>
                <a:spcPts val="4612"/>
              </a:lnSpc>
            </a:pPr>
            <a:r>
              <a:rPr lang="en-US" sz="3294" spc="72">
                <a:solidFill>
                  <a:srgbClr val="152540"/>
                </a:solidFill>
                <a:latin typeface="Glacial Indifference"/>
                <a:ea typeface="Glacial Indifference"/>
                <a:cs typeface="Glacial Indifference"/>
                <a:sym typeface="Glacial Indifference"/>
              </a:rPr>
              <a:t>Inter</a:t>
            </a:r>
            <a:r>
              <a:rPr lang="en-US" sz="3294" spc="72" strike="noStrike" u="none">
                <a:solidFill>
                  <a:srgbClr val="152540"/>
                </a:solidFill>
                <a:latin typeface="Glacial Indifference"/>
                <a:ea typeface="Glacial Indifference"/>
                <a:cs typeface="Glacial Indifference"/>
                <a:sym typeface="Glacial Indifference"/>
              </a:rPr>
              <a:t>pretación 1: El asiento público en un parque.</a:t>
            </a:r>
          </a:p>
          <a:p>
            <a:pPr algn="ctr">
              <a:lnSpc>
                <a:spcPts val="4612"/>
              </a:lnSpc>
            </a:pPr>
            <a:r>
              <a:rPr lang="en-US" sz="3294" spc="72" strike="noStrike" u="none">
                <a:solidFill>
                  <a:srgbClr val="152540"/>
                </a:solidFill>
                <a:latin typeface="Glacial Indifference"/>
                <a:ea typeface="Glacial Indifference"/>
                <a:cs typeface="Glacial Indifference"/>
                <a:sym typeface="Glacial Indifference"/>
              </a:rPr>
              <a:t>Interpretación 2: La institución financiera.</a:t>
            </a:r>
          </a:p>
          <a:p>
            <a:pPr algn="ctr">
              <a:lnSpc>
                <a:spcPts val="4612"/>
              </a:lnSpc>
            </a:pPr>
            <a:r>
              <a:rPr lang="en-US" sz="3294" spc="72" strike="noStrike" u="none">
                <a:solidFill>
                  <a:srgbClr val="152540"/>
                </a:solidFill>
                <a:latin typeface="Glacial Indifference"/>
                <a:ea typeface="Glacial Indifference"/>
                <a:cs typeface="Glacial Indifference"/>
                <a:sym typeface="Glacial Indifference"/>
              </a:rPr>
              <a:t>Interpretación 3: Un conjunto de peces.</a:t>
            </a:r>
          </a:p>
          <a:p>
            <a:pPr algn="ctr">
              <a:lnSpc>
                <a:spcPts val="4612"/>
              </a:lnSpc>
            </a:pPr>
          </a:p>
        </p:txBody>
      </p:sp>
      <p:sp>
        <p:nvSpPr>
          <p:cNvPr name="TextBox 8" id="8"/>
          <p:cNvSpPr txBox="true"/>
          <p:nvPr/>
        </p:nvSpPr>
        <p:spPr>
          <a:xfrm rot="0">
            <a:off x="4058097" y="1143000"/>
            <a:ext cx="10171805" cy="2563835"/>
          </a:xfrm>
          <a:prstGeom prst="rect">
            <a:avLst/>
          </a:prstGeom>
        </p:spPr>
        <p:txBody>
          <a:bodyPr anchor="t" rtlCol="false" tIns="0" lIns="0" bIns="0" rIns="0">
            <a:spAutoFit/>
          </a:bodyPr>
          <a:lstStyle/>
          <a:p>
            <a:pPr algn="l">
              <a:lnSpc>
                <a:spcPts val="6289"/>
              </a:lnSpc>
            </a:pPr>
            <a:r>
              <a:rPr lang="en-US" b="true" sz="6227" spc="585">
                <a:solidFill>
                  <a:srgbClr val="152540"/>
                </a:solidFill>
                <a:latin typeface="Glacial Indifference Bold"/>
                <a:ea typeface="Glacial Indifference Bold"/>
                <a:cs typeface="Glacial Indifference Bold"/>
                <a:sym typeface="Glacial Indifference Bold"/>
              </a:rPr>
              <a:t>EJEMPLO DE POLISEMIA</a:t>
            </a:r>
          </a:p>
          <a:p>
            <a:pPr algn="l">
              <a:lnSpc>
                <a:spcPts val="6289"/>
              </a:lnSpc>
            </a:pPr>
            <a:r>
              <a:rPr lang="en-US" b="true" sz="6227" spc="585">
                <a:solidFill>
                  <a:srgbClr val="152540"/>
                </a:solidFill>
                <a:latin typeface="Glacial Indifference Bold"/>
                <a:ea typeface="Glacial Indifference Bold"/>
                <a:cs typeface="Glacial Indifference Bold"/>
                <a:sym typeface="Glacial Indifference Bold"/>
              </a:rPr>
              <a:t>"FUI A VER EL BANCO".</a:t>
            </a:r>
          </a:p>
          <a:p>
            <a:pPr algn="l">
              <a:lnSpc>
                <a:spcPts val="7400"/>
              </a:lnSpc>
            </a:pPr>
            <a:r>
              <a:rPr lang="en-US" b="true" sz="7327" spc="688">
                <a:solidFill>
                  <a:srgbClr val="152540"/>
                </a:solidFill>
                <a:latin typeface="Glacial Indifference Bold"/>
                <a:ea typeface="Glacial Indifference Bold"/>
                <a:cs typeface="Glacial Indifference Bold"/>
                <a:sym typeface="Glacial Indifference Bold"/>
              </a:rPr>
              <a:t> </a:t>
            </a:r>
          </a:p>
        </p:txBody>
      </p:sp>
      <p:sp>
        <p:nvSpPr>
          <p:cNvPr name="TextBox 9" id="9"/>
          <p:cNvSpPr txBox="true"/>
          <p:nvPr/>
        </p:nvSpPr>
        <p:spPr>
          <a:xfrm rot="0">
            <a:off x="1490912" y="4918436"/>
            <a:ext cx="15306176" cy="2130368"/>
          </a:xfrm>
          <a:prstGeom prst="rect">
            <a:avLst/>
          </a:prstGeom>
        </p:spPr>
        <p:txBody>
          <a:bodyPr anchor="t" rtlCol="false" tIns="0" lIns="0" bIns="0" rIns="0">
            <a:spAutoFit/>
          </a:bodyPr>
          <a:lstStyle/>
          <a:p>
            <a:pPr algn="l">
              <a:lnSpc>
                <a:spcPts val="8578"/>
              </a:lnSpc>
            </a:pPr>
            <a:r>
              <a:rPr lang="en-US" b="true" sz="6127" spc="575">
                <a:solidFill>
                  <a:srgbClr val="152540"/>
                </a:solidFill>
                <a:latin typeface="Glacial Indifference Bold"/>
                <a:ea typeface="Glacial Indifference Bold"/>
                <a:cs typeface="Glacial Indifference Bold"/>
                <a:sym typeface="Glacial Indifference Bold"/>
              </a:rPr>
              <a:t>EJEMPLO DE HOMONIMIA: “LLAMA”.</a:t>
            </a:r>
          </a:p>
          <a:p>
            <a:pPr algn="l">
              <a:lnSpc>
                <a:spcPts val="8578"/>
              </a:lnSpc>
            </a:pPr>
          </a:p>
        </p:txBody>
      </p:sp>
      <p:sp>
        <p:nvSpPr>
          <p:cNvPr name="TextBox 10" id="10"/>
          <p:cNvSpPr txBox="true"/>
          <p:nvPr/>
        </p:nvSpPr>
        <p:spPr>
          <a:xfrm rot="0">
            <a:off x="2255639" y="6244752"/>
            <a:ext cx="13776722" cy="2307095"/>
          </a:xfrm>
          <a:prstGeom prst="rect">
            <a:avLst/>
          </a:prstGeom>
        </p:spPr>
        <p:txBody>
          <a:bodyPr anchor="t" rtlCol="false" tIns="0" lIns="0" bIns="0" rIns="0">
            <a:spAutoFit/>
          </a:bodyPr>
          <a:lstStyle/>
          <a:p>
            <a:pPr algn="ctr">
              <a:lnSpc>
                <a:spcPts val="4612"/>
              </a:lnSpc>
            </a:pPr>
            <a:r>
              <a:rPr lang="en-US" sz="3294" spc="72">
                <a:solidFill>
                  <a:srgbClr val="152540"/>
                </a:solidFill>
                <a:latin typeface="Glacial Indifference"/>
                <a:ea typeface="Glacial Indifference"/>
                <a:cs typeface="Glacial Indifference"/>
                <a:sym typeface="Glacial Indifference"/>
              </a:rPr>
              <a:t>Mamífero </a:t>
            </a:r>
            <a:r>
              <a:rPr lang="en-US" sz="3294" spc="72" strike="noStrike" u="none">
                <a:solidFill>
                  <a:srgbClr val="152540"/>
                </a:solidFill>
                <a:latin typeface="Glacial Indifference"/>
                <a:ea typeface="Glacial Indifference"/>
                <a:cs typeface="Glacial Indifference"/>
                <a:sym typeface="Glacial Indifference"/>
              </a:rPr>
              <a:t>rumiante de los Andes (proviene del quechua llama).</a:t>
            </a:r>
          </a:p>
          <a:p>
            <a:pPr algn="ctr">
              <a:lnSpc>
                <a:spcPts val="4612"/>
              </a:lnSpc>
            </a:pPr>
            <a:r>
              <a:rPr lang="en-US" sz="3294" spc="72" strike="noStrike" u="none">
                <a:solidFill>
                  <a:srgbClr val="152540"/>
                </a:solidFill>
                <a:latin typeface="Glacial Indifference"/>
                <a:ea typeface="Glacial Indifference"/>
                <a:cs typeface="Glacial Indifference"/>
                <a:sym typeface="Glacial Indifference"/>
              </a:rPr>
              <a:t>Mas</a:t>
            </a:r>
            <a:r>
              <a:rPr lang="en-US" sz="3294" spc="72" strike="noStrike" u="none">
                <a:solidFill>
                  <a:srgbClr val="152540"/>
                </a:solidFill>
                <a:latin typeface="Glacial Indifference"/>
                <a:ea typeface="Glacial Indifference"/>
                <a:cs typeface="Glacial Indifference"/>
                <a:sym typeface="Glacial Indifference"/>
              </a:rPr>
              <a:t>a de gas en combustión (proviene del latín flamma).</a:t>
            </a:r>
          </a:p>
          <a:p>
            <a:pPr algn="ctr">
              <a:lnSpc>
                <a:spcPts val="4612"/>
              </a:lnSpc>
            </a:pPr>
            <a:r>
              <a:rPr lang="en-US" sz="3294" spc="72" strike="noStrike" u="none">
                <a:solidFill>
                  <a:srgbClr val="152540"/>
                </a:solidFill>
                <a:latin typeface="Glacial Indifference"/>
                <a:ea typeface="Glacial Indifference"/>
                <a:cs typeface="Glacial Indifference"/>
                <a:sym typeface="Glacial Indifference"/>
              </a:rPr>
              <a:t>D</a:t>
            </a:r>
            <a:r>
              <a:rPr lang="en-US" sz="3294" spc="72" strike="noStrike" u="none">
                <a:solidFill>
                  <a:srgbClr val="152540"/>
                </a:solidFill>
                <a:latin typeface="Glacial Indifference"/>
                <a:ea typeface="Glacial Indifference"/>
                <a:cs typeface="Glacial Indifference"/>
                <a:sym typeface="Glacial Indifference"/>
              </a:rPr>
              <a:t>el verbo llamar (proviene del latín clamare).</a:t>
            </a:r>
          </a:p>
          <a:p>
            <a:pPr algn="ctr">
              <a:lnSpc>
                <a:spcPts val="4612"/>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DE8E4"/>
        </a:solidFill>
      </p:bgPr>
    </p:bg>
    <p:spTree>
      <p:nvGrpSpPr>
        <p:cNvPr id="1" name=""/>
        <p:cNvGrpSpPr/>
        <p:nvPr/>
      </p:nvGrpSpPr>
      <p:grpSpPr>
        <a:xfrm>
          <a:off x="0" y="0"/>
          <a:ext cx="0" cy="0"/>
          <a:chOff x="0" y="0"/>
          <a:chExt cx="0" cy="0"/>
        </a:xfrm>
      </p:grpSpPr>
      <p:sp>
        <p:nvSpPr>
          <p:cNvPr name="Freeform 2" id="2"/>
          <p:cNvSpPr/>
          <p:nvPr/>
        </p:nvSpPr>
        <p:spPr>
          <a:xfrm flipH="false" flipV="false" rot="-445925">
            <a:off x="3142738" y="-769394"/>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8798399">
            <a:off x="8466276" y="-9590538"/>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3283157">
            <a:off x="-1501206" y="7329841"/>
            <a:ext cx="5624862" cy="7545546"/>
          </a:xfrm>
          <a:custGeom>
            <a:avLst/>
            <a:gdLst/>
            <a:ahLst/>
            <a:cxnLst/>
            <a:rect r="r" b="b" t="t" l="l"/>
            <a:pathLst>
              <a:path h="7545546" w="5624862">
                <a:moveTo>
                  <a:pt x="0" y="0"/>
                </a:moveTo>
                <a:lnTo>
                  <a:pt x="5624862" y="0"/>
                </a:lnTo>
                <a:lnTo>
                  <a:pt x="5624862" y="7545546"/>
                </a:lnTo>
                <a:lnTo>
                  <a:pt x="0" y="75455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2770156">
            <a:off x="-2577184" y="-2165857"/>
            <a:ext cx="5154368" cy="4995052"/>
          </a:xfrm>
          <a:custGeom>
            <a:avLst/>
            <a:gdLst/>
            <a:ahLst/>
            <a:cxnLst/>
            <a:rect r="r" b="b" t="t" l="l"/>
            <a:pathLst>
              <a:path h="4995052" w="5154368">
                <a:moveTo>
                  <a:pt x="0" y="0"/>
                </a:moveTo>
                <a:lnTo>
                  <a:pt x="5154368" y="0"/>
                </a:lnTo>
                <a:lnTo>
                  <a:pt x="5154368" y="4995051"/>
                </a:lnTo>
                <a:lnTo>
                  <a:pt x="0" y="49950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2770156">
            <a:off x="15710816" y="8522875"/>
            <a:ext cx="5154368" cy="4995052"/>
          </a:xfrm>
          <a:custGeom>
            <a:avLst/>
            <a:gdLst/>
            <a:ahLst/>
            <a:cxnLst/>
            <a:rect r="r" b="b" t="t" l="l"/>
            <a:pathLst>
              <a:path h="4995052" w="5154368">
                <a:moveTo>
                  <a:pt x="0" y="0"/>
                </a:moveTo>
                <a:lnTo>
                  <a:pt x="5154368" y="0"/>
                </a:lnTo>
                <a:lnTo>
                  <a:pt x="5154368" y="4995052"/>
                </a:lnTo>
                <a:lnTo>
                  <a:pt x="0" y="49950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7" id="7"/>
          <p:cNvSpPr txBox="true"/>
          <p:nvPr/>
        </p:nvSpPr>
        <p:spPr>
          <a:xfrm rot="0">
            <a:off x="2255639" y="4076481"/>
            <a:ext cx="13776722" cy="1726070"/>
          </a:xfrm>
          <a:prstGeom prst="rect">
            <a:avLst/>
          </a:prstGeom>
        </p:spPr>
        <p:txBody>
          <a:bodyPr anchor="t" rtlCol="false" tIns="0" lIns="0" bIns="0" rIns="0">
            <a:spAutoFit/>
          </a:bodyPr>
          <a:lstStyle/>
          <a:p>
            <a:pPr algn="ctr">
              <a:lnSpc>
                <a:spcPts val="4612"/>
              </a:lnSpc>
            </a:pPr>
            <a:r>
              <a:rPr lang="en-US" sz="3294" spc="72">
                <a:solidFill>
                  <a:srgbClr val="152540"/>
                </a:solidFill>
                <a:latin typeface="Glacial Indifference"/>
                <a:ea typeface="Glacial Indifference"/>
                <a:cs typeface="Glacial Indifference"/>
                <a:sym typeface="Glacial Indifference"/>
              </a:rPr>
              <a:t>Ocurr</a:t>
            </a:r>
            <a:r>
              <a:rPr lang="en-US" sz="3294" spc="72" strike="noStrike" u="none">
                <a:solidFill>
                  <a:srgbClr val="152540"/>
                </a:solidFill>
                <a:latin typeface="Glacial Indifference"/>
                <a:ea typeface="Glacial Indifference"/>
                <a:cs typeface="Glacial Indifference"/>
                <a:sym typeface="Glacial Indifference"/>
              </a:rPr>
              <a:t>e cuando la estructura de la oración permite más de una interpretación, independientemente de que las palabras sean claras.</a:t>
            </a:r>
          </a:p>
          <a:p>
            <a:pPr algn="ctr">
              <a:lnSpc>
                <a:spcPts val="4612"/>
              </a:lnSpc>
            </a:pPr>
          </a:p>
        </p:txBody>
      </p:sp>
      <p:sp>
        <p:nvSpPr>
          <p:cNvPr name="TextBox 8" id="8"/>
          <p:cNvSpPr txBox="true"/>
          <p:nvPr/>
        </p:nvSpPr>
        <p:spPr>
          <a:xfrm rot="0">
            <a:off x="2076000" y="1733814"/>
            <a:ext cx="14136000" cy="2893003"/>
          </a:xfrm>
          <a:prstGeom prst="rect">
            <a:avLst/>
          </a:prstGeom>
        </p:spPr>
        <p:txBody>
          <a:bodyPr anchor="t" rtlCol="false" tIns="0" lIns="0" bIns="0" rIns="0">
            <a:spAutoFit/>
          </a:bodyPr>
          <a:lstStyle/>
          <a:p>
            <a:pPr algn="ctr">
              <a:lnSpc>
                <a:spcPts val="7178"/>
              </a:lnSpc>
            </a:pPr>
            <a:r>
              <a:rPr lang="en-US" b="true" sz="5127" spc="481">
                <a:solidFill>
                  <a:srgbClr val="152540"/>
                </a:solidFill>
                <a:latin typeface="Glacial Indifference Bold"/>
                <a:ea typeface="Glacial Indifference Bold"/>
                <a:cs typeface="Glacial Indifference Bold"/>
                <a:sym typeface="Glacial Indifference Bold"/>
              </a:rPr>
              <a:t>B. AMBIGÜEDAD ESTRUCTURAL (SINTÁCTICA)</a:t>
            </a:r>
          </a:p>
          <a:p>
            <a:pPr algn="ctr">
              <a:lnSpc>
                <a:spcPts val="8858"/>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DE8E4"/>
        </a:solidFill>
      </p:bgPr>
    </p:bg>
    <p:spTree>
      <p:nvGrpSpPr>
        <p:cNvPr id="1" name=""/>
        <p:cNvGrpSpPr/>
        <p:nvPr/>
      </p:nvGrpSpPr>
      <p:grpSpPr>
        <a:xfrm>
          <a:off x="0" y="0"/>
          <a:ext cx="0" cy="0"/>
          <a:chOff x="0" y="0"/>
          <a:chExt cx="0" cy="0"/>
        </a:xfrm>
      </p:grpSpPr>
      <p:sp>
        <p:nvSpPr>
          <p:cNvPr name="Freeform 2" id="2"/>
          <p:cNvSpPr/>
          <p:nvPr/>
        </p:nvSpPr>
        <p:spPr>
          <a:xfrm flipH="false" flipV="false" rot="-445925">
            <a:off x="3142738" y="-769394"/>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8798399">
            <a:off x="8466276" y="-9590538"/>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3283157">
            <a:off x="-1501206" y="7329841"/>
            <a:ext cx="5624862" cy="7545546"/>
          </a:xfrm>
          <a:custGeom>
            <a:avLst/>
            <a:gdLst/>
            <a:ahLst/>
            <a:cxnLst/>
            <a:rect r="r" b="b" t="t" l="l"/>
            <a:pathLst>
              <a:path h="7545546" w="5624862">
                <a:moveTo>
                  <a:pt x="0" y="0"/>
                </a:moveTo>
                <a:lnTo>
                  <a:pt x="5624862" y="0"/>
                </a:lnTo>
                <a:lnTo>
                  <a:pt x="5624862" y="7545546"/>
                </a:lnTo>
                <a:lnTo>
                  <a:pt x="0" y="75455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2770156">
            <a:off x="-2577184" y="-2165857"/>
            <a:ext cx="5154368" cy="4995052"/>
          </a:xfrm>
          <a:custGeom>
            <a:avLst/>
            <a:gdLst/>
            <a:ahLst/>
            <a:cxnLst/>
            <a:rect r="r" b="b" t="t" l="l"/>
            <a:pathLst>
              <a:path h="4995052" w="5154368">
                <a:moveTo>
                  <a:pt x="0" y="0"/>
                </a:moveTo>
                <a:lnTo>
                  <a:pt x="5154368" y="0"/>
                </a:lnTo>
                <a:lnTo>
                  <a:pt x="5154368" y="4995051"/>
                </a:lnTo>
                <a:lnTo>
                  <a:pt x="0" y="49950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2770156">
            <a:off x="15710816" y="8522875"/>
            <a:ext cx="5154368" cy="4995052"/>
          </a:xfrm>
          <a:custGeom>
            <a:avLst/>
            <a:gdLst/>
            <a:ahLst/>
            <a:cxnLst/>
            <a:rect r="r" b="b" t="t" l="l"/>
            <a:pathLst>
              <a:path h="4995052" w="5154368">
                <a:moveTo>
                  <a:pt x="0" y="0"/>
                </a:moveTo>
                <a:lnTo>
                  <a:pt x="5154368" y="0"/>
                </a:lnTo>
                <a:lnTo>
                  <a:pt x="5154368" y="4995052"/>
                </a:lnTo>
                <a:lnTo>
                  <a:pt x="0" y="49950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7" id="7"/>
          <p:cNvSpPr txBox="true"/>
          <p:nvPr/>
        </p:nvSpPr>
        <p:spPr>
          <a:xfrm rot="0">
            <a:off x="2526598" y="2582078"/>
            <a:ext cx="13776722" cy="6374270"/>
          </a:xfrm>
          <a:prstGeom prst="rect">
            <a:avLst/>
          </a:prstGeom>
        </p:spPr>
        <p:txBody>
          <a:bodyPr anchor="t" rtlCol="false" tIns="0" lIns="0" bIns="0" rIns="0">
            <a:spAutoFit/>
          </a:bodyPr>
          <a:lstStyle/>
          <a:p>
            <a:pPr algn="ctr">
              <a:lnSpc>
                <a:spcPts val="4612"/>
              </a:lnSpc>
            </a:pPr>
            <a:r>
              <a:rPr lang="en-US" sz="3294" spc="72">
                <a:solidFill>
                  <a:srgbClr val="152540"/>
                </a:solidFill>
                <a:latin typeface="Glacial Indifference"/>
                <a:ea typeface="Glacial Indifference"/>
                <a:cs typeface="Glacial Indifference"/>
                <a:sym typeface="Glacial Indifference"/>
              </a:rPr>
              <a:t>1. Vimos a un hombre con un telesc</a:t>
            </a:r>
            <a:r>
              <a:rPr lang="en-US" sz="3294" spc="72" strike="noStrike" u="none">
                <a:solidFill>
                  <a:srgbClr val="152540"/>
                </a:solidFill>
                <a:latin typeface="Glacial Indifference"/>
                <a:ea typeface="Glacial Indifference"/>
                <a:cs typeface="Glacial Indifference"/>
                <a:sym typeface="Glacial Indifference"/>
              </a:rPr>
              <a:t>opio. / Usamos un telescopio para ver al hombre o el hombre que vimos cargaba un telescopio.</a:t>
            </a:r>
          </a:p>
          <a:p>
            <a:pPr algn="ctr">
              <a:lnSpc>
                <a:spcPts val="4612"/>
              </a:lnSpc>
            </a:pPr>
            <a:r>
              <a:rPr lang="en-US" sz="3294" spc="72" strike="noStrike" u="none">
                <a:solidFill>
                  <a:srgbClr val="152540"/>
                </a:solidFill>
                <a:latin typeface="Glacial Indifference"/>
                <a:ea typeface="Glacial Indifference"/>
                <a:cs typeface="Glacial Indifference"/>
                <a:sym typeface="Glacial Indifference"/>
              </a:rPr>
              <a:t>2. Esta alianza costó más de lo que esperaba. / Puede referirse a un pacto o a un anillo matrimonial.</a:t>
            </a:r>
          </a:p>
          <a:p>
            <a:pPr algn="ctr">
              <a:lnSpc>
                <a:spcPts val="4612"/>
              </a:lnSpc>
            </a:pPr>
            <a:r>
              <a:rPr lang="en-US" sz="3294" spc="72" strike="noStrike" u="none">
                <a:solidFill>
                  <a:srgbClr val="152540"/>
                </a:solidFill>
                <a:latin typeface="Glacial Indifference"/>
                <a:ea typeface="Glacial Indifference"/>
                <a:cs typeface="Glacial Indifference"/>
                <a:sym typeface="Glacial Indifference"/>
              </a:rPr>
              <a:t>3. Encontré un pilón de cartas. / Puede referirse a naipes, papeles escritos con un remitente y un destinatario o un menú.</a:t>
            </a:r>
          </a:p>
          <a:p>
            <a:pPr algn="ctr">
              <a:lnSpc>
                <a:spcPts val="4612"/>
              </a:lnSpc>
            </a:pPr>
            <a:r>
              <a:rPr lang="en-US" sz="3294" spc="72" strike="noStrike" u="none">
                <a:solidFill>
                  <a:srgbClr val="152540"/>
                </a:solidFill>
                <a:latin typeface="Glacial Indifference"/>
                <a:ea typeface="Glacial Indifference"/>
                <a:cs typeface="Glacial Indifference"/>
                <a:sym typeface="Glacial Indifference"/>
              </a:rPr>
              <a:t>4. Él se dedica a fabricar cascos. / Puede dedicarse a fabricar las protecciones que se utilizan en la cabeza o bien las partes delanteras de los barcos.</a:t>
            </a:r>
          </a:p>
          <a:p>
            <a:pPr algn="ctr">
              <a:lnSpc>
                <a:spcPts val="4612"/>
              </a:lnSpc>
            </a:pPr>
            <a:r>
              <a:rPr lang="en-US" sz="3294" spc="72" strike="noStrike" u="none">
                <a:solidFill>
                  <a:srgbClr val="152540"/>
                </a:solidFill>
                <a:latin typeface="Glacial Indifference"/>
                <a:ea typeface="Glacial Indifference"/>
                <a:cs typeface="Glacial Indifference"/>
                <a:sym typeface="Glacial Indifference"/>
              </a:rPr>
              <a:t>5. cincuenta mulas estaban pasando por la frontera. / Puede referirse al animal o bien a los contrabandistas.</a:t>
            </a:r>
          </a:p>
        </p:txBody>
      </p:sp>
      <p:sp>
        <p:nvSpPr>
          <p:cNvPr name="TextBox 8" id="8"/>
          <p:cNvSpPr txBox="true"/>
          <p:nvPr/>
        </p:nvSpPr>
        <p:spPr>
          <a:xfrm rot="0">
            <a:off x="4002259" y="1312240"/>
            <a:ext cx="10825400" cy="1028008"/>
          </a:xfrm>
          <a:prstGeom prst="rect">
            <a:avLst/>
          </a:prstGeom>
        </p:spPr>
        <p:txBody>
          <a:bodyPr anchor="t" rtlCol="false" tIns="0" lIns="0" bIns="0" rIns="0">
            <a:spAutoFit/>
          </a:bodyPr>
          <a:lstStyle/>
          <a:p>
            <a:pPr algn="l">
              <a:lnSpc>
                <a:spcPts val="8438"/>
              </a:lnSpc>
            </a:pPr>
            <a:r>
              <a:rPr lang="en-US" b="true" sz="6027" spc="566">
                <a:solidFill>
                  <a:srgbClr val="152540"/>
                </a:solidFill>
                <a:latin typeface="Glacial Indifference Bold"/>
                <a:ea typeface="Glacial Indifference Bold"/>
                <a:cs typeface="Glacial Indifference Bold"/>
                <a:sym typeface="Glacial Indifference Bold"/>
              </a:rPr>
              <a:t>EJEMPLO DE AMBIGÜEDAD</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DE8E4"/>
        </a:solidFill>
      </p:bgPr>
    </p:bg>
    <p:spTree>
      <p:nvGrpSpPr>
        <p:cNvPr id="1" name=""/>
        <p:cNvGrpSpPr/>
        <p:nvPr/>
      </p:nvGrpSpPr>
      <p:grpSpPr>
        <a:xfrm>
          <a:off x="0" y="0"/>
          <a:ext cx="0" cy="0"/>
          <a:chOff x="0" y="0"/>
          <a:chExt cx="0" cy="0"/>
        </a:xfrm>
      </p:grpSpPr>
      <p:sp>
        <p:nvSpPr>
          <p:cNvPr name="Freeform 2" id="2"/>
          <p:cNvSpPr/>
          <p:nvPr/>
        </p:nvSpPr>
        <p:spPr>
          <a:xfrm flipH="false" flipV="false" rot="-445925">
            <a:off x="3142738" y="-769394"/>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8798399">
            <a:off x="8466276" y="-9590538"/>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3283157">
            <a:off x="-1501206" y="7329841"/>
            <a:ext cx="5624862" cy="7545546"/>
          </a:xfrm>
          <a:custGeom>
            <a:avLst/>
            <a:gdLst/>
            <a:ahLst/>
            <a:cxnLst/>
            <a:rect r="r" b="b" t="t" l="l"/>
            <a:pathLst>
              <a:path h="7545546" w="5624862">
                <a:moveTo>
                  <a:pt x="0" y="0"/>
                </a:moveTo>
                <a:lnTo>
                  <a:pt x="5624862" y="0"/>
                </a:lnTo>
                <a:lnTo>
                  <a:pt x="5624862" y="7545546"/>
                </a:lnTo>
                <a:lnTo>
                  <a:pt x="0" y="75455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2770156">
            <a:off x="-2577184" y="-2165857"/>
            <a:ext cx="5154368" cy="4995052"/>
          </a:xfrm>
          <a:custGeom>
            <a:avLst/>
            <a:gdLst/>
            <a:ahLst/>
            <a:cxnLst/>
            <a:rect r="r" b="b" t="t" l="l"/>
            <a:pathLst>
              <a:path h="4995052" w="5154368">
                <a:moveTo>
                  <a:pt x="0" y="0"/>
                </a:moveTo>
                <a:lnTo>
                  <a:pt x="5154368" y="0"/>
                </a:lnTo>
                <a:lnTo>
                  <a:pt x="5154368" y="4995051"/>
                </a:lnTo>
                <a:lnTo>
                  <a:pt x="0" y="49950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2770156">
            <a:off x="15710816" y="8522875"/>
            <a:ext cx="5154368" cy="4995052"/>
          </a:xfrm>
          <a:custGeom>
            <a:avLst/>
            <a:gdLst/>
            <a:ahLst/>
            <a:cxnLst/>
            <a:rect r="r" b="b" t="t" l="l"/>
            <a:pathLst>
              <a:path h="4995052" w="5154368">
                <a:moveTo>
                  <a:pt x="0" y="0"/>
                </a:moveTo>
                <a:lnTo>
                  <a:pt x="5154368" y="0"/>
                </a:lnTo>
                <a:lnTo>
                  <a:pt x="5154368" y="4995052"/>
                </a:lnTo>
                <a:lnTo>
                  <a:pt x="0" y="49950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7" id="7"/>
          <p:cNvSpPr txBox="true"/>
          <p:nvPr/>
        </p:nvSpPr>
        <p:spPr>
          <a:xfrm rot="0">
            <a:off x="2526598" y="4087155"/>
            <a:ext cx="13776722" cy="2307095"/>
          </a:xfrm>
          <a:prstGeom prst="rect">
            <a:avLst/>
          </a:prstGeom>
        </p:spPr>
        <p:txBody>
          <a:bodyPr anchor="t" rtlCol="false" tIns="0" lIns="0" bIns="0" rIns="0">
            <a:spAutoFit/>
          </a:bodyPr>
          <a:lstStyle/>
          <a:p>
            <a:pPr algn="ctr">
              <a:lnSpc>
                <a:spcPts val="4612"/>
              </a:lnSpc>
            </a:pPr>
            <a:r>
              <a:rPr lang="en-US" sz="3294" spc="72">
                <a:solidFill>
                  <a:srgbClr val="152540"/>
                </a:solidFill>
                <a:latin typeface="Glacial Indifference"/>
                <a:ea typeface="Glacial Indifference"/>
                <a:cs typeface="Glacial Indifference"/>
                <a:sym typeface="Glacial Indifference"/>
              </a:rPr>
              <a:t>Lee</a:t>
            </a:r>
            <a:r>
              <a:rPr lang="en-US" sz="3294" spc="72" strike="noStrike" u="none">
                <a:solidFill>
                  <a:srgbClr val="152540"/>
                </a:solidFill>
                <a:latin typeface="Glacial Indifference"/>
                <a:ea typeface="Glacial Indifference"/>
                <a:cs typeface="Glacial Indifference"/>
                <a:sym typeface="Glacial Indifference"/>
              </a:rPr>
              <a:t> la oración e indica dos posibles interpretaciones:</a:t>
            </a:r>
          </a:p>
          <a:p>
            <a:pPr algn="ctr">
              <a:lnSpc>
                <a:spcPts val="4612"/>
              </a:lnSpc>
            </a:pPr>
          </a:p>
          <a:p>
            <a:pPr algn="ctr">
              <a:lnSpc>
                <a:spcPts val="4612"/>
              </a:lnSpc>
            </a:pPr>
            <a:r>
              <a:rPr lang="en-US" sz="3294" spc="72" strike="noStrike" u="none">
                <a:solidFill>
                  <a:srgbClr val="152540"/>
                </a:solidFill>
                <a:latin typeface="Glacial Indifference"/>
                <a:ea typeface="Glacial Indifference"/>
                <a:cs typeface="Glacial Indifference"/>
                <a:sym typeface="Glacial Indifference"/>
              </a:rPr>
              <a:t> </a:t>
            </a:r>
            <a:r>
              <a:rPr lang="en-US" sz="3294" spc="72" strike="noStrike" u="none">
                <a:solidFill>
                  <a:srgbClr val="152540"/>
                </a:solidFill>
                <a:latin typeface="Glacial Indifference"/>
                <a:ea typeface="Glacial Indifference"/>
                <a:cs typeface="Glacial Indifference"/>
                <a:sym typeface="Glacial Indifference"/>
              </a:rPr>
              <a:t>“Juan vio a su hermano con los binoculares.”</a:t>
            </a:r>
          </a:p>
          <a:p>
            <a:pPr algn="ctr">
              <a:lnSpc>
                <a:spcPts val="4612"/>
              </a:lnSpc>
            </a:pPr>
          </a:p>
        </p:txBody>
      </p:sp>
      <p:sp>
        <p:nvSpPr>
          <p:cNvPr name="TextBox 8" id="8"/>
          <p:cNvSpPr txBox="true"/>
          <p:nvPr/>
        </p:nvSpPr>
        <p:spPr>
          <a:xfrm rot="0">
            <a:off x="4002259" y="1312240"/>
            <a:ext cx="10825400" cy="1028008"/>
          </a:xfrm>
          <a:prstGeom prst="rect">
            <a:avLst/>
          </a:prstGeom>
        </p:spPr>
        <p:txBody>
          <a:bodyPr anchor="t" rtlCol="false" tIns="0" lIns="0" bIns="0" rIns="0">
            <a:spAutoFit/>
          </a:bodyPr>
          <a:lstStyle/>
          <a:p>
            <a:pPr algn="ctr">
              <a:lnSpc>
                <a:spcPts val="8438"/>
              </a:lnSpc>
            </a:pPr>
            <a:r>
              <a:rPr lang="en-US" b="true" sz="6027" spc="566">
                <a:solidFill>
                  <a:srgbClr val="152540"/>
                </a:solidFill>
                <a:latin typeface="Glacial Indifference Bold"/>
                <a:ea typeface="Glacial Indifference Bold"/>
                <a:cs typeface="Glacial Indifference Bold"/>
                <a:sym typeface="Glacial Indifference Bold"/>
              </a:rPr>
              <a:t>EJERCICIO:</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DE8E4"/>
        </a:solidFill>
      </p:bgPr>
    </p:bg>
    <p:spTree>
      <p:nvGrpSpPr>
        <p:cNvPr id="1" name=""/>
        <p:cNvGrpSpPr/>
        <p:nvPr/>
      </p:nvGrpSpPr>
      <p:grpSpPr>
        <a:xfrm>
          <a:off x="0" y="0"/>
          <a:ext cx="0" cy="0"/>
          <a:chOff x="0" y="0"/>
          <a:chExt cx="0" cy="0"/>
        </a:xfrm>
      </p:grpSpPr>
      <p:sp>
        <p:nvSpPr>
          <p:cNvPr name="Freeform 2" id="2"/>
          <p:cNvSpPr/>
          <p:nvPr/>
        </p:nvSpPr>
        <p:spPr>
          <a:xfrm flipH="false" flipV="false" rot="-445925">
            <a:off x="3142738" y="-769394"/>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8798399">
            <a:off x="8466276" y="-9590538"/>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3283157">
            <a:off x="-1501206" y="7329841"/>
            <a:ext cx="5624862" cy="7545546"/>
          </a:xfrm>
          <a:custGeom>
            <a:avLst/>
            <a:gdLst/>
            <a:ahLst/>
            <a:cxnLst/>
            <a:rect r="r" b="b" t="t" l="l"/>
            <a:pathLst>
              <a:path h="7545546" w="5624862">
                <a:moveTo>
                  <a:pt x="0" y="0"/>
                </a:moveTo>
                <a:lnTo>
                  <a:pt x="5624862" y="0"/>
                </a:lnTo>
                <a:lnTo>
                  <a:pt x="5624862" y="7545546"/>
                </a:lnTo>
                <a:lnTo>
                  <a:pt x="0" y="75455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2770156">
            <a:off x="-2577184" y="-2165857"/>
            <a:ext cx="5154368" cy="4995052"/>
          </a:xfrm>
          <a:custGeom>
            <a:avLst/>
            <a:gdLst/>
            <a:ahLst/>
            <a:cxnLst/>
            <a:rect r="r" b="b" t="t" l="l"/>
            <a:pathLst>
              <a:path h="4995052" w="5154368">
                <a:moveTo>
                  <a:pt x="0" y="0"/>
                </a:moveTo>
                <a:lnTo>
                  <a:pt x="5154368" y="0"/>
                </a:lnTo>
                <a:lnTo>
                  <a:pt x="5154368" y="4995051"/>
                </a:lnTo>
                <a:lnTo>
                  <a:pt x="0" y="49950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2770156">
            <a:off x="15710816" y="8522875"/>
            <a:ext cx="5154368" cy="4995052"/>
          </a:xfrm>
          <a:custGeom>
            <a:avLst/>
            <a:gdLst/>
            <a:ahLst/>
            <a:cxnLst/>
            <a:rect r="r" b="b" t="t" l="l"/>
            <a:pathLst>
              <a:path h="4995052" w="5154368">
                <a:moveTo>
                  <a:pt x="0" y="0"/>
                </a:moveTo>
                <a:lnTo>
                  <a:pt x="5154368" y="0"/>
                </a:lnTo>
                <a:lnTo>
                  <a:pt x="5154368" y="4995052"/>
                </a:lnTo>
                <a:lnTo>
                  <a:pt x="0" y="49950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7" id="7"/>
          <p:cNvSpPr txBox="true"/>
          <p:nvPr/>
        </p:nvSpPr>
        <p:spPr>
          <a:xfrm rot="0">
            <a:off x="2526598" y="2582078"/>
            <a:ext cx="13776722" cy="6374270"/>
          </a:xfrm>
          <a:prstGeom prst="rect">
            <a:avLst/>
          </a:prstGeom>
        </p:spPr>
        <p:txBody>
          <a:bodyPr anchor="t" rtlCol="false" tIns="0" lIns="0" bIns="0" rIns="0">
            <a:spAutoFit/>
          </a:bodyPr>
          <a:lstStyle/>
          <a:p>
            <a:pPr algn="ctr">
              <a:lnSpc>
                <a:spcPts val="4612"/>
              </a:lnSpc>
            </a:pPr>
            <a:r>
              <a:rPr lang="en-US" sz="3294" spc="72">
                <a:solidFill>
                  <a:srgbClr val="152540"/>
                </a:solidFill>
                <a:latin typeface="Glacial Indifference"/>
                <a:ea typeface="Glacial Indifference"/>
                <a:cs typeface="Glacial Indifference"/>
                <a:sym typeface="Glacial Indifference"/>
              </a:rPr>
              <a:t>S</a:t>
            </a:r>
            <a:r>
              <a:rPr lang="en-US" sz="3294" spc="72" strike="noStrike" u="none">
                <a:solidFill>
                  <a:srgbClr val="152540"/>
                </a:solidFill>
                <a:latin typeface="Glacial Indifference"/>
                <a:ea typeface="Glacial Indifference"/>
                <a:cs typeface="Glacial Indifference"/>
                <a:sym typeface="Glacial Indifference"/>
              </a:rPr>
              <a:t>on aquellas palabras y fórmulas lingüísticas en desuso dentro de una lengua, que provienen de épocas y formas de habla pasadas, pero que aun así permanecen en la lengua en contextos muy específicos. Dicho de otro modo, se trata de formas del lenguaje desfasadas, que permanecen como reliquias en un idioma. En el caso del español, la mayoría de los arcaísmos provienen del español hablado durante la Edad Media y hasta el siglo XVII. Generalmente han perdido su contexto y responden a estructuras y fórmulas que el español perdió a lo largo del tiempo. Por esa razón se enlistan en la mayoría de los diccionarios de la lengua como anticuado (ant.), desusado (des.) o poco usado (p. us.).</a:t>
            </a:r>
          </a:p>
          <a:p>
            <a:pPr algn="ctr">
              <a:lnSpc>
                <a:spcPts val="4612"/>
              </a:lnSpc>
            </a:pPr>
          </a:p>
        </p:txBody>
      </p:sp>
      <p:sp>
        <p:nvSpPr>
          <p:cNvPr name="TextBox 8" id="8"/>
          <p:cNvSpPr txBox="true"/>
          <p:nvPr/>
        </p:nvSpPr>
        <p:spPr>
          <a:xfrm rot="0">
            <a:off x="5643351" y="1042119"/>
            <a:ext cx="7543218" cy="2561884"/>
          </a:xfrm>
          <a:prstGeom prst="rect">
            <a:avLst/>
          </a:prstGeom>
        </p:spPr>
        <p:txBody>
          <a:bodyPr anchor="t" rtlCol="false" tIns="0" lIns="0" bIns="0" rIns="0">
            <a:spAutoFit/>
          </a:bodyPr>
          <a:lstStyle/>
          <a:p>
            <a:pPr algn="l">
              <a:lnSpc>
                <a:spcPts val="10258"/>
              </a:lnSpc>
            </a:pPr>
            <a:r>
              <a:rPr lang="en-US" b="true" sz="7327" spc="688">
                <a:solidFill>
                  <a:srgbClr val="152540"/>
                </a:solidFill>
                <a:latin typeface="Glacial Indifference Bold"/>
                <a:ea typeface="Glacial Indifference Bold"/>
                <a:cs typeface="Glacial Indifference Bold"/>
                <a:sym typeface="Glacial Indifference Bold"/>
              </a:rPr>
              <a:t>2. ARCAÍSMO</a:t>
            </a:r>
          </a:p>
          <a:p>
            <a:pPr algn="l">
              <a:lnSpc>
                <a:spcPts val="10258"/>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DE8E4"/>
        </a:solidFill>
      </p:bgPr>
    </p:bg>
    <p:spTree>
      <p:nvGrpSpPr>
        <p:cNvPr id="1" name=""/>
        <p:cNvGrpSpPr/>
        <p:nvPr/>
      </p:nvGrpSpPr>
      <p:grpSpPr>
        <a:xfrm>
          <a:off x="0" y="0"/>
          <a:ext cx="0" cy="0"/>
          <a:chOff x="0" y="0"/>
          <a:chExt cx="0" cy="0"/>
        </a:xfrm>
      </p:grpSpPr>
      <p:sp>
        <p:nvSpPr>
          <p:cNvPr name="Freeform 2" id="2"/>
          <p:cNvSpPr/>
          <p:nvPr/>
        </p:nvSpPr>
        <p:spPr>
          <a:xfrm flipH="false" flipV="false" rot="-445925">
            <a:off x="3142738" y="-769394"/>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8798399">
            <a:off x="8466276" y="-9590538"/>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3283157">
            <a:off x="-1501206" y="7329841"/>
            <a:ext cx="5624862" cy="7545546"/>
          </a:xfrm>
          <a:custGeom>
            <a:avLst/>
            <a:gdLst/>
            <a:ahLst/>
            <a:cxnLst/>
            <a:rect r="r" b="b" t="t" l="l"/>
            <a:pathLst>
              <a:path h="7545546" w="5624862">
                <a:moveTo>
                  <a:pt x="0" y="0"/>
                </a:moveTo>
                <a:lnTo>
                  <a:pt x="5624862" y="0"/>
                </a:lnTo>
                <a:lnTo>
                  <a:pt x="5624862" y="7545546"/>
                </a:lnTo>
                <a:lnTo>
                  <a:pt x="0" y="75455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2770156">
            <a:off x="-2577184" y="-2165857"/>
            <a:ext cx="5154368" cy="4995052"/>
          </a:xfrm>
          <a:custGeom>
            <a:avLst/>
            <a:gdLst/>
            <a:ahLst/>
            <a:cxnLst/>
            <a:rect r="r" b="b" t="t" l="l"/>
            <a:pathLst>
              <a:path h="4995052" w="5154368">
                <a:moveTo>
                  <a:pt x="0" y="0"/>
                </a:moveTo>
                <a:lnTo>
                  <a:pt x="5154368" y="0"/>
                </a:lnTo>
                <a:lnTo>
                  <a:pt x="5154368" y="4995051"/>
                </a:lnTo>
                <a:lnTo>
                  <a:pt x="0" y="49950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2770156">
            <a:off x="15710816" y="8522875"/>
            <a:ext cx="5154368" cy="4995052"/>
          </a:xfrm>
          <a:custGeom>
            <a:avLst/>
            <a:gdLst/>
            <a:ahLst/>
            <a:cxnLst/>
            <a:rect r="r" b="b" t="t" l="l"/>
            <a:pathLst>
              <a:path h="4995052" w="5154368">
                <a:moveTo>
                  <a:pt x="0" y="0"/>
                </a:moveTo>
                <a:lnTo>
                  <a:pt x="5154368" y="0"/>
                </a:lnTo>
                <a:lnTo>
                  <a:pt x="5154368" y="4995052"/>
                </a:lnTo>
                <a:lnTo>
                  <a:pt x="0" y="49950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7" id="7"/>
          <p:cNvSpPr txBox="true"/>
          <p:nvPr/>
        </p:nvSpPr>
        <p:spPr>
          <a:xfrm rot="0">
            <a:off x="2526598" y="2354221"/>
            <a:ext cx="13776722" cy="2307095"/>
          </a:xfrm>
          <a:prstGeom prst="rect">
            <a:avLst/>
          </a:prstGeom>
        </p:spPr>
        <p:txBody>
          <a:bodyPr anchor="t" rtlCol="false" tIns="0" lIns="0" bIns="0" rIns="0">
            <a:spAutoFit/>
          </a:bodyPr>
          <a:lstStyle/>
          <a:p>
            <a:pPr algn="ctr">
              <a:lnSpc>
                <a:spcPts val="4612"/>
              </a:lnSpc>
            </a:pPr>
            <a:r>
              <a:rPr lang="en-US" sz="3294" spc="72">
                <a:solidFill>
                  <a:srgbClr val="152540"/>
                </a:solidFill>
                <a:latin typeface="Glacial Indifference"/>
                <a:ea typeface="Glacial Indifference"/>
                <a:cs typeface="Glacial Indifference"/>
                <a:sym typeface="Glacial Indifference"/>
              </a:rPr>
              <a:t>E</a:t>
            </a:r>
            <a:r>
              <a:rPr lang="en-US" sz="3294" spc="72" strike="noStrike" u="none">
                <a:solidFill>
                  <a:srgbClr val="152540"/>
                </a:solidFill>
                <a:latin typeface="Glacial Indifference"/>
                <a:ea typeface="Glacial Indifference"/>
                <a:cs typeface="Glacial Indifference"/>
                <a:sym typeface="Glacial Indifference"/>
              </a:rPr>
              <a:t>s el uso de una palabra en su totalidad y con la totalidad de significados que ésta pueda tener (una misma palabra puede significar varias cosas según en contexto diferentes). Por ejemplo: adrede (a propósito, de forma deliberada).</a:t>
            </a:r>
          </a:p>
        </p:txBody>
      </p:sp>
      <p:sp>
        <p:nvSpPr>
          <p:cNvPr name="TextBox 8" id="8"/>
          <p:cNvSpPr txBox="true"/>
          <p:nvPr/>
        </p:nvSpPr>
        <p:spPr>
          <a:xfrm rot="0">
            <a:off x="4729463" y="1269615"/>
            <a:ext cx="9370993" cy="994987"/>
          </a:xfrm>
          <a:prstGeom prst="rect">
            <a:avLst/>
          </a:prstGeom>
        </p:spPr>
        <p:txBody>
          <a:bodyPr anchor="t" rtlCol="false" tIns="0" lIns="0" bIns="0" rIns="0">
            <a:spAutoFit/>
          </a:bodyPr>
          <a:lstStyle/>
          <a:p>
            <a:pPr algn="l">
              <a:lnSpc>
                <a:spcPts val="8158"/>
              </a:lnSpc>
            </a:pPr>
            <a:r>
              <a:rPr lang="en-US" b="true" sz="5827" spc="547">
                <a:solidFill>
                  <a:srgbClr val="152540"/>
                </a:solidFill>
                <a:latin typeface="Glacial Indifference Bold"/>
                <a:ea typeface="Glacial Indifference Bold"/>
                <a:cs typeface="Glacial Indifference Bold"/>
                <a:sym typeface="Glacial Indifference Bold"/>
              </a:rPr>
              <a:t>ARCAÍSMO ABSOLUTO.</a:t>
            </a:r>
          </a:p>
        </p:txBody>
      </p:sp>
      <p:sp>
        <p:nvSpPr>
          <p:cNvPr name="TextBox 9" id="9"/>
          <p:cNvSpPr txBox="true"/>
          <p:nvPr/>
        </p:nvSpPr>
        <p:spPr>
          <a:xfrm rot="0">
            <a:off x="4729463" y="5029200"/>
            <a:ext cx="9370993" cy="994987"/>
          </a:xfrm>
          <a:prstGeom prst="rect">
            <a:avLst/>
          </a:prstGeom>
        </p:spPr>
        <p:txBody>
          <a:bodyPr anchor="t" rtlCol="false" tIns="0" lIns="0" bIns="0" rIns="0">
            <a:spAutoFit/>
          </a:bodyPr>
          <a:lstStyle/>
          <a:p>
            <a:pPr algn="l">
              <a:lnSpc>
                <a:spcPts val="8158"/>
              </a:lnSpc>
            </a:pPr>
            <a:r>
              <a:rPr lang="en-US" b="true" sz="5827" spc="547">
                <a:solidFill>
                  <a:srgbClr val="152540"/>
                </a:solidFill>
                <a:latin typeface="Glacial Indifference Bold"/>
                <a:ea typeface="Glacial Indifference Bold"/>
                <a:cs typeface="Glacial Indifference Bold"/>
                <a:sym typeface="Glacial Indifference Bold"/>
              </a:rPr>
              <a:t>ARCAÍSMO RELATIVO.</a:t>
            </a:r>
          </a:p>
        </p:txBody>
      </p:sp>
      <p:sp>
        <p:nvSpPr>
          <p:cNvPr name="TextBox 10" id="10"/>
          <p:cNvSpPr txBox="true"/>
          <p:nvPr/>
        </p:nvSpPr>
        <p:spPr>
          <a:xfrm rot="0">
            <a:off x="2526598" y="6109912"/>
            <a:ext cx="13776722" cy="1726070"/>
          </a:xfrm>
          <a:prstGeom prst="rect">
            <a:avLst/>
          </a:prstGeom>
        </p:spPr>
        <p:txBody>
          <a:bodyPr anchor="t" rtlCol="false" tIns="0" lIns="0" bIns="0" rIns="0">
            <a:spAutoFit/>
          </a:bodyPr>
          <a:lstStyle/>
          <a:p>
            <a:pPr algn="ctr">
              <a:lnSpc>
                <a:spcPts val="4612"/>
              </a:lnSpc>
            </a:pPr>
            <a:r>
              <a:rPr lang="en-US" sz="3294" spc="72">
                <a:solidFill>
                  <a:srgbClr val="152540"/>
                </a:solidFill>
                <a:latin typeface="Glacial Indifference"/>
                <a:ea typeface="Glacial Indifference"/>
                <a:cs typeface="Glacial Indifference"/>
                <a:sym typeface="Glacial Indifference"/>
              </a:rPr>
              <a:t>E</a:t>
            </a:r>
            <a:r>
              <a:rPr lang="en-US" sz="3294" spc="72" strike="noStrike" u="none">
                <a:solidFill>
                  <a:srgbClr val="152540"/>
                </a:solidFill>
                <a:latin typeface="Glacial Indifference"/>
                <a:ea typeface="Glacial Indifference"/>
                <a:cs typeface="Glacial Indifference"/>
                <a:sym typeface="Glacial Indifference"/>
              </a:rPr>
              <a:t>s aquel que solo se utiliza en una determinada lengua. Por ejemplo: colorete (rubor, polvo compacto de color cobrizo), alforja (bolso de manos o cartera).</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DE8E4"/>
        </a:solidFill>
      </p:bgPr>
    </p:bg>
    <p:spTree>
      <p:nvGrpSpPr>
        <p:cNvPr id="1" name=""/>
        <p:cNvGrpSpPr/>
        <p:nvPr/>
      </p:nvGrpSpPr>
      <p:grpSpPr>
        <a:xfrm>
          <a:off x="0" y="0"/>
          <a:ext cx="0" cy="0"/>
          <a:chOff x="0" y="0"/>
          <a:chExt cx="0" cy="0"/>
        </a:xfrm>
      </p:grpSpPr>
      <p:sp>
        <p:nvSpPr>
          <p:cNvPr name="Freeform 2" id="2"/>
          <p:cNvSpPr/>
          <p:nvPr/>
        </p:nvSpPr>
        <p:spPr>
          <a:xfrm flipH="false" flipV="false" rot="-445925">
            <a:off x="3142738" y="-769394"/>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8798399">
            <a:off x="8466276" y="-9590538"/>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3283157">
            <a:off x="-1501206" y="7329841"/>
            <a:ext cx="5624862" cy="7545546"/>
          </a:xfrm>
          <a:custGeom>
            <a:avLst/>
            <a:gdLst/>
            <a:ahLst/>
            <a:cxnLst/>
            <a:rect r="r" b="b" t="t" l="l"/>
            <a:pathLst>
              <a:path h="7545546" w="5624862">
                <a:moveTo>
                  <a:pt x="0" y="0"/>
                </a:moveTo>
                <a:lnTo>
                  <a:pt x="5624862" y="0"/>
                </a:lnTo>
                <a:lnTo>
                  <a:pt x="5624862" y="7545546"/>
                </a:lnTo>
                <a:lnTo>
                  <a:pt x="0" y="75455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2770156">
            <a:off x="-2577184" y="-2165857"/>
            <a:ext cx="5154368" cy="4995052"/>
          </a:xfrm>
          <a:custGeom>
            <a:avLst/>
            <a:gdLst/>
            <a:ahLst/>
            <a:cxnLst/>
            <a:rect r="r" b="b" t="t" l="l"/>
            <a:pathLst>
              <a:path h="4995052" w="5154368">
                <a:moveTo>
                  <a:pt x="0" y="0"/>
                </a:moveTo>
                <a:lnTo>
                  <a:pt x="5154368" y="0"/>
                </a:lnTo>
                <a:lnTo>
                  <a:pt x="5154368" y="4995051"/>
                </a:lnTo>
                <a:lnTo>
                  <a:pt x="0" y="49950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2770156">
            <a:off x="15710816" y="8522875"/>
            <a:ext cx="5154368" cy="4995052"/>
          </a:xfrm>
          <a:custGeom>
            <a:avLst/>
            <a:gdLst/>
            <a:ahLst/>
            <a:cxnLst/>
            <a:rect r="r" b="b" t="t" l="l"/>
            <a:pathLst>
              <a:path h="4995052" w="5154368">
                <a:moveTo>
                  <a:pt x="0" y="0"/>
                </a:moveTo>
                <a:lnTo>
                  <a:pt x="5154368" y="0"/>
                </a:lnTo>
                <a:lnTo>
                  <a:pt x="5154368" y="4995052"/>
                </a:lnTo>
                <a:lnTo>
                  <a:pt x="0" y="49950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7" id="7"/>
          <p:cNvSpPr txBox="true"/>
          <p:nvPr/>
        </p:nvSpPr>
        <p:spPr>
          <a:xfrm rot="0">
            <a:off x="2526598" y="3955730"/>
            <a:ext cx="13776722" cy="2888120"/>
          </a:xfrm>
          <a:prstGeom prst="rect">
            <a:avLst/>
          </a:prstGeom>
        </p:spPr>
        <p:txBody>
          <a:bodyPr anchor="t" rtlCol="false" tIns="0" lIns="0" bIns="0" rIns="0">
            <a:spAutoFit/>
          </a:bodyPr>
          <a:lstStyle/>
          <a:p>
            <a:pPr algn="ctr">
              <a:lnSpc>
                <a:spcPts val="4612"/>
              </a:lnSpc>
            </a:pPr>
            <a:r>
              <a:rPr lang="en-US" sz="3294" spc="72">
                <a:solidFill>
                  <a:srgbClr val="152540"/>
                </a:solidFill>
                <a:latin typeface="Glacial Indifference"/>
                <a:ea typeface="Glacial Indifference"/>
                <a:cs typeface="Glacial Indifference"/>
                <a:sym typeface="Glacial Indifference"/>
              </a:rPr>
              <a:t>1.</a:t>
            </a:r>
            <a:r>
              <a:rPr lang="en-US" sz="3294" spc="72" strike="noStrike" u="none">
                <a:solidFill>
                  <a:srgbClr val="152540"/>
                </a:solidFill>
                <a:latin typeface="Glacial Indifference"/>
                <a:ea typeface="Glacial Indifference"/>
                <a:cs typeface="Glacial Indifference"/>
                <a:sym typeface="Glacial Indifference"/>
              </a:rPr>
              <a:t> a tientas (a oscuras)</a:t>
            </a:r>
          </a:p>
          <a:p>
            <a:pPr algn="ctr">
              <a:lnSpc>
                <a:spcPts val="4612"/>
              </a:lnSpc>
            </a:pPr>
            <a:r>
              <a:rPr lang="en-US" sz="3294" spc="72" strike="noStrike" u="none">
                <a:solidFill>
                  <a:srgbClr val="152540"/>
                </a:solidFill>
                <a:latin typeface="Glacial Indifference"/>
                <a:ea typeface="Glacial Indifference"/>
                <a:cs typeface="Glacial Indifference"/>
                <a:sym typeface="Glacial Indifference"/>
              </a:rPr>
              <a:t>2. Abarullar (embarullar, desordenar)</a:t>
            </a:r>
          </a:p>
          <a:p>
            <a:pPr algn="ctr">
              <a:lnSpc>
                <a:spcPts val="4612"/>
              </a:lnSpc>
            </a:pPr>
            <a:r>
              <a:rPr lang="en-US" sz="3294" spc="72" strike="noStrike" u="none">
                <a:solidFill>
                  <a:srgbClr val="152540"/>
                </a:solidFill>
                <a:latin typeface="Glacial Indifference"/>
                <a:ea typeface="Glacial Indifference"/>
                <a:cs typeface="Glacial Indifference"/>
                <a:sym typeface="Glacial Indifference"/>
              </a:rPr>
              <a:t>3. Abe</a:t>
            </a:r>
            <a:r>
              <a:rPr lang="en-US" sz="3294" spc="72" strike="noStrike" u="none">
                <a:solidFill>
                  <a:srgbClr val="152540"/>
                </a:solidFill>
                <a:latin typeface="Glacial Indifference"/>
                <a:ea typeface="Glacial Indifference"/>
                <a:cs typeface="Glacial Indifference"/>
                <a:sym typeface="Glacial Indifference"/>
              </a:rPr>
              <a:t>rruntar (predecir)</a:t>
            </a:r>
          </a:p>
          <a:p>
            <a:pPr algn="ctr">
              <a:lnSpc>
                <a:spcPts val="4612"/>
              </a:lnSpc>
            </a:pPr>
            <a:r>
              <a:rPr lang="en-US" sz="3294" spc="72" strike="noStrike" u="none">
                <a:solidFill>
                  <a:srgbClr val="152540"/>
                </a:solidFill>
                <a:latin typeface="Glacial Indifference"/>
                <a:ea typeface="Glacial Indifference"/>
                <a:cs typeface="Glacial Indifference"/>
                <a:sym typeface="Glacial Indifference"/>
              </a:rPr>
              <a:t>4. adusto (arisco)</a:t>
            </a:r>
          </a:p>
          <a:p>
            <a:pPr algn="ctr">
              <a:lnSpc>
                <a:spcPts val="4612"/>
              </a:lnSpc>
            </a:pPr>
            <a:r>
              <a:rPr lang="en-US" sz="3294" spc="72" strike="noStrike" u="none">
                <a:solidFill>
                  <a:srgbClr val="152540"/>
                </a:solidFill>
                <a:latin typeface="Glacial Indifference"/>
                <a:ea typeface="Glacial Indifference"/>
                <a:cs typeface="Glacial Indifference"/>
                <a:sym typeface="Glacial Indifference"/>
              </a:rPr>
              <a:t>5. Agora (ahora)</a:t>
            </a:r>
          </a:p>
        </p:txBody>
      </p:sp>
      <p:sp>
        <p:nvSpPr>
          <p:cNvPr name="TextBox 8" id="8"/>
          <p:cNvSpPr txBox="true"/>
          <p:nvPr/>
        </p:nvSpPr>
        <p:spPr>
          <a:xfrm rot="0">
            <a:off x="3931217" y="2196204"/>
            <a:ext cx="10967486" cy="1028008"/>
          </a:xfrm>
          <a:prstGeom prst="rect">
            <a:avLst/>
          </a:prstGeom>
        </p:spPr>
        <p:txBody>
          <a:bodyPr anchor="t" rtlCol="false" tIns="0" lIns="0" bIns="0" rIns="0">
            <a:spAutoFit/>
          </a:bodyPr>
          <a:lstStyle/>
          <a:p>
            <a:pPr algn="l">
              <a:lnSpc>
                <a:spcPts val="8438"/>
              </a:lnSpc>
            </a:pPr>
            <a:r>
              <a:rPr lang="en-US" b="true" sz="6027" spc="566">
                <a:solidFill>
                  <a:srgbClr val="152540"/>
                </a:solidFill>
                <a:latin typeface="Glacial Indifference Bold"/>
                <a:ea typeface="Glacial Indifference Bold"/>
                <a:cs typeface="Glacial Indifference Bold"/>
                <a:sym typeface="Glacial Indifference Bold"/>
              </a:rPr>
              <a:t>EJEMPLOS DE ARCAÍSMOS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EDE8E4"/>
        </a:solidFill>
      </p:bgPr>
    </p:bg>
    <p:spTree>
      <p:nvGrpSpPr>
        <p:cNvPr id="1" name=""/>
        <p:cNvGrpSpPr/>
        <p:nvPr/>
      </p:nvGrpSpPr>
      <p:grpSpPr>
        <a:xfrm>
          <a:off x="0" y="0"/>
          <a:ext cx="0" cy="0"/>
          <a:chOff x="0" y="0"/>
          <a:chExt cx="0" cy="0"/>
        </a:xfrm>
      </p:grpSpPr>
      <p:sp>
        <p:nvSpPr>
          <p:cNvPr name="Freeform 2" id="2"/>
          <p:cNvSpPr/>
          <p:nvPr/>
        </p:nvSpPr>
        <p:spPr>
          <a:xfrm flipH="false" flipV="false" rot="-445925">
            <a:off x="3142738" y="-769394"/>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8798399">
            <a:off x="8466276" y="-9590538"/>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3283157">
            <a:off x="-1501206" y="7329841"/>
            <a:ext cx="5624862" cy="7545546"/>
          </a:xfrm>
          <a:custGeom>
            <a:avLst/>
            <a:gdLst/>
            <a:ahLst/>
            <a:cxnLst/>
            <a:rect r="r" b="b" t="t" l="l"/>
            <a:pathLst>
              <a:path h="7545546" w="5624862">
                <a:moveTo>
                  <a:pt x="0" y="0"/>
                </a:moveTo>
                <a:lnTo>
                  <a:pt x="5624862" y="0"/>
                </a:lnTo>
                <a:lnTo>
                  <a:pt x="5624862" y="7545546"/>
                </a:lnTo>
                <a:lnTo>
                  <a:pt x="0" y="75455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2770156">
            <a:off x="-2577184" y="-2165857"/>
            <a:ext cx="5154368" cy="4995052"/>
          </a:xfrm>
          <a:custGeom>
            <a:avLst/>
            <a:gdLst/>
            <a:ahLst/>
            <a:cxnLst/>
            <a:rect r="r" b="b" t="t" l="l"/>
            <a:pathLst>
              <a:path h="4995052" w="5154368">
                <a:moveTo>
                  <a:pt x="0" y="0"/>
                </a:moveTo>
                <a:lnTo>
                  <a:pt x="5154368" y="0"/>
                </a:lnTo>
                <a:lnTo>
                  <a:pt x="5154368" y="4995051"/>
                </a:lnTo>
                <a:lnTo>
                  <a:pt x="0" y="49950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2770156">
            <a:off x="15710816" y="8522875"/>
            <a:ext cx="5154368" cy="4995052"/>
          </a:xfrm>
          <a:custGeom>
            <a:avLst/>
            <a:gdLst/>
            <a:ahLst/>
            <a:cxnLst/>
            <a:rect r="r" b="b" t="t" l="l"/>
            <a:pathLst>
              <a:path h="4995052" w="5154368">
                <a:moveTo>
                  <a:pt x="0" y="0"/>
                </a:moveTo>
                <a:lnTo>
                  <a:pt x="5154368" y="0"/>
                </a:lnTo>
                <a:lnTo>
                  <a:pt x="5154368" y="4995052"/>
                </a:lnTo>
                <a:lnTo>
                  <a:pt x="0" y="49950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7" id="7"/>
          <p:cNvSpPr txBox="true"/>
          <p:nvPr/>
        </p:nvSpPr>
        <p:spPr>
          <a:xfrm rot="0">
            <a:off x="2526598" y="3955730"/>
            <a:ext cx="13776722" cy="2307095"/>
          </a:xfrm>
          <a:prstGeom prst="rect">
            <a:avLst/>
          </a:prstGeom>
        </p:spPr>
        <p:txBody>
          <a:bodyPr anchor="t" rtlCol="false" tIns="0" lIns="0" bIns="0" rIns="0">
            <a:spAutoFit/>
          </a:bodyPr>
          <a:lstStyle/>
          <a:p>
            <a:pPr algn="ctr">
              <a:lnSpc>
                <a:spcPts val="4612"/>
              </a:lnSpc>
            </a:pPr>
            <a:r>
              <a:rPr lang="en-US" sz="3294" spc="72">
                <a:solidFill>
                  <a:srgbClr val="152540"/>
                </a:solidFill>
                <a:latin typeface="Glacial Indifference"/>
                <a:ea typeface="Glacial Indifference"/>
                <a:cs typeface="Glacial Indifference"/>
                <a:sym typeface="Glacial Indifference"/>
              </a:rPr>
              <a:t>Sus</a:t>
            </a:r>
            <a:r>
              <a:rPr lang="en-US" sz="3294" spc="72" strike="noStrike" u="none">
                <a:solidFill>
                  <a:srgbClr val="152540"/>
                </a:solidFill>
                <a:latin typeface="Glacial Indifference"/>
                <a:ea typeface="Glacial Indifference"/>
                <a:cs typeface="Glacial Indifference"/>
                <a:sym typeface="Glacial Indifference"/>
              </a:rPr>
              <a:t>tituye la palabra arcaica por su equivalente actual:</a:t>
            </a:r>
          </a:p>
          <a:p>
            <a:pPr algn="ctr">
              <a:lnSpc>
                <a:spcPts val="4612"/>
              </a:lnSpc>
            </a:pPr>
          </a:p>
          <a:p>
            <a:pPr algn="ctr">
              <a:lnSpc>
                <a:spcPts val="4612"/>
              </a:lnSpc>
            </a:pPr>
            <a:r>
              <a:rPr lang="en-US" sz="3294" spc="72" strike="noStrike" u="none">
                <a:solidFill>
                  <a:srgbClr val="152540"/>
                </a:solidFill>
                <a:latin typeface="Glacial Indifference"/>
                <a:ea typeface="Glacial Indifference"/>
                <a:cs typeface="Glacial Indifference"/>
                <a:sym typeface="Glacial Indifference"/>
              </a:rPr>
              <a:t> </a:t>
            </a:r>
            <a:r>
              <a:rPr lang="en-US" sz="3294" spc="72" strike="noStrike" u="none">
                <a:solidFill>
                  <a:srgbClr val="152540"/>
                </a:solidFill>
                <a:latin typeface="Glacial Indifference"/>
                <a:ea typeface="Glacial Indifference"/>
                <a:cs typeface="Glacial Indifference"/>
                <a:sym typeface="Glacial Indifference"/>
              </a:rPr>
              <a:t>“Ago</a:t>
            </a:r>
            <a:r>
              <a:rPr lang="en-US" sz="3294" spc="72" strike="noStrike" u="none">
                <a:solidFill>
                  <a:srgbClr val="152540"/>
                </a:solidFill>
                <a:latin typeface="Glacial Indifference"/>
                <a:ea typeface="Glacial Indifference"/>
                <a:cs typeface="Glacial Indifference"/>
                <a:sym typeface="Glacial Indifference"/>
              </a:rPr>
              <a:t>ra debemos terminar la tarea.”</a:t>
            </a:r>
          </a:p>
          <a:p>
            <a:pPr algn="ctr">
              <a:lnSpc>
                <a:spcPts val="4612"/>
              </a:lnSpc>
            </a:pPr>
          </a:p>
        </p:txBody>
      </p:sp>
      <p:sp>
        <p:nvSpPr>
          <p:cNvPr name="TextBox 8" id="8"/>
          <p:cNvSpPr txBox="true"/>
          <p:nvPr/>
        </p:nvSpPr>
        <p:spPr>
          <a:xfrm rot="0">
            <a:off x="3931217" y="2196204"/>
            <a:ext cx="10967486" cy="1028008"/>
          </a:xfrm>
          <a:prstGeom prst="rect">
            <a:avLst/>
          </a:prstGeom>
        </p:spPr>
        <p:txBody>
          <a:bodyPr anchor="t" rtlCol="false" tIns="0" lIns="0" bIns="0" rIns="0">
            <a:spAutoFit/>
          </a:bodyPr>
          <a:lstStyle/>
          <a:p>
            <a:pPr algn="ctr">
              <a:lnSpc>
                <a:spcPts val="8438"/>
              </a:lnSpc>
            </a:pPr>
            <a:r>
              <a:rPr lang="en-US" b="true" sz="6027" spc="566">
                <a:solidFill>
                  <a:srgbClr val="152540"/>
                </a:solidFill>
                <a:latin typeface="Glacial Indifference Bold"/>
                <a:ea typeface="Glacial Indifference Bold"/>
                <a:cs typeface="Glacial Indifference Bold"/>
                <a:sym typeface="Glacial Indifference Bold"/>
              </a:rPr>
              <a:t>EJERCICIO:</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EDE8E4"/>
        </a:solidFill>
      </p:bgPr>
    </p:bg>
    <p:spTree>
      <p:nvGrpSpPr>
        <p:cNvPr id="1" name=""/>
        <p:cNvGrpSpPr/>
        <p:nvPr/>
      </p:nvGrpSpPr>
      <p:grpSpPr>
        <a:xfrm>
          <a:off x="0" y="0"/>
          <a:ext cx="0" cy="0"/>
          <a:chOff x="0" y="0"/>
          <a:chExt cx="0" cy="0"/>
        </a:xfrm>
      </p:grpSpPr>
      <p:sp>
        <p:nvSpPr>
          <p:cNvPr name="Freeform 2" id="2"/>
          <p:cNvSpPr/>
          <p:nvPr/>
        </p:nvSpPr>
        <p:spPr>
          <a:xfrm flipH="false" flipV="false" rot="-445925">
            <a:off x="3142738" y="-769394"/>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8798399">
            <a:off x="8466276" y="-9590538"/>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3283157">
            <a:off x="-1501206" y="7329841"/>
            <a:ext cx="5624862" cy="7545546"/>
          </a:xfrm>
          <a:custGeom>
            <a:avLst/>
            <a:gdLst/>
            <a:ahLst/>
            <a:cxnLst/>
            <a:rect r="r" b="b" t="t" l="l"/>
            <a:pathLst>
              <a:path h="7545546" w="5624862">
                <a:moveTo>
                  <a:pt x="0" y="0"/>
                </a:moveTo>
                <a:lnTo>
                  <a:pt x="5624862" y="0"/>
                </a:lnTo>
                <a:lnTo>
                  <a:pt x="5624862" y="7545546"/>
                </a:lnTo>
                <a:lnTo>
                  <a:pt x="0" y="75455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2770156">
            <a:off x="-2577184" y="-2165857"/>
            <a:ext cx="5154368" cy="4995052"/>
          </a:xfrm>
          <a:custGeom>
            <a:avLst/>
            <a:gdLst/>
            <a:ahLst/>
            <a:cxnLst/>
            <a:rect r="r" b="b" t="t" l="l"/>
            <a:pathLst>
              <a:path h="4995052" w="5154368">
                <a:moveTo>
                  <a:pt x="0" y="0"/>
                </a:moveTo>
                <a:lnTo>
                  <a:pt x="5154368" y="0"/>
                </a:lnTo>
                <a:lnTo>
                  <a:pt x="5154368" y="4995051"/>
                </a:lnTo>
                <a:lnTo>
                  <a:pt x="0" y="49950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2770156">
            <a:off x="15710816" y="8522875"/>
            <a:ext cx="5154368" cy="4995052"/>
          </a:xfrm>
          <a:custGeom>
            <a:avLst/>
            <a:gdLst/>
            <a:ahLst/>
            <a:cxnLst/>
            <a:rect r="r" b="b" t="t" l="l"/>
            <a:pathLst>
              <a:path h="4995052" w="5154368">
                <a:moveTo>
                  <a:pt x="0" y="0"/>
                </a:moveTo>
                <a:lnTo>
                  <a:pt x="5154368" y="0"/>
                </a:lnTo>
                <a:lnTo>
                  <a:pt x="5154368" y="4995052"/>
                </a:lnTo>
                <a:lnTo>
                  <a:pt x="0" y="49950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7" id="7"/>
          <p:cNvSpPr txBox="true"/>
          <p:nvPr/>
        </p:nvSpPr>
        <p:spPr>
          <a:xfrm rot="0">
            <a:off x="2526598" y="3106080"/>
            <a:ext cx="13776722" cy="4050170"/>
          </a:xfrm>
          <a:prstGeom prst="rect">
            <a:avLst/>
          </a:prstGeom>
        </p:spPr>
        <p:txBody>
          <a:bodyPr anchor="t" rtlCol="false" tIns="0" lIns="0" bIns="0" rIns="0">
            <a:spAutoFit/>
          </a:bodyPr>
          <a:lstStyle/>
          <a:p>
            <a:pPr algn="ctr">
              <a:lnSpc>
                <a:spcPts val="4612"/>
              </a:lnSpc>
            </a:pPr>
            <a:r>
              <a:rPr lang="en-US" sz="3294" spc="72">
                <a:solidFill>
                  <a:srgbClr val="152540"/>
                </a:solidFill>
                <a:latin typeface="Glacial Indifference"/>
                <a:ea typeface="Glacial Indifference"/>
                <a:cs typeface="Glacial Indifference"/>
                <a:sym typeface="Glacial Indifference"/>
              </a:rPr>
              <a:t>Llamam</a:t>
            </a:r>
            <a:r>
              <a:rPr lang="en-US" sz="3294" spc="72" strike="noStrike" u="none">
                <a:solidFill>
                  <a:srgbClr val="152540"/>
                </a:solidFill>
                <a:latin typeface="Glacial Indifference"/>
                <a:ea typeface="Glacial Indifference"/>
                <a:cs typeface="Glacial Indifference"/>
                <a:sym typeface="Glacial Indifference"/>
              </a:rPr>
              <a:t>os barbarismos a aquellos errores o incorrecciones al pronunciar o al escribir una palabra o una frase, o al utilizar ciertos vocablos extranjeros (extranjerismos) no incorporados aún al propio idioma. Se trata de un tipo de error lingüístico que suele ser muy común en el habla coloquial y popular, pero que desde el punto de vista de la norma de la lengua se considera una señal de falta de cultura o de educación.</a:t>
            </a:r>
          </a:p>
          <a:p>
            <a:pPr algn="ctr">
              <a:lnSpc>
                <a:spcPts val="4612"/>
              </a:lnSpc>
            </a:pPr>
          </a:p>
        </p:txBody>
      </p:sp>
      <p:sp>
        <p:nvSpPr>
          <p:cNvPr name="TextBox 8" id="8"/>
          <p:cNvSpPr txBox="true"/>
          <p:nvPr/>
        </p:nvSpPr>
        <p:spPr>
          <a:xfrm rot="0">
            <a:off x="5479952" y="1482585"/>
            <a:ext cx="7870015" cy="1259324"/>
          </a:xfrm>
          <a:prstGeom prst="rect">
            <a:avLst/>
          </a:prstGeom>
        </p:spPr>
        <p:txBody>
          <a:bodyPr anchor="t" rtlCol="false" tIns="0" lIns="0" bIns="0" rIns="0">
            <a:spAutoFit/>
          </a:bodyPr>
          <a:lstStyle/>
          <a:p>
            <a:pPr algn="l">
              <a:lnSpc>
                <a:spcPts val="10258"/>
              </a:lnSpc>
            </a:pPr>
            <a:r>
              <a:rPr lang="en-US" b="true" sz="7327" spc="688">
                <a:solidFill>
                  <a:srgbClr val="152540"/>
                </a:solidFill>
                <a:latin typeface="Glacial Indifference Bold"/>
                <a:ea typeface="Glacial Indifference Bold"/>
                <a:cs typeface="Glacial Indifference Bold"/>
                <a:sym typeface="Glacial Indifference Bold"/>
              </a:rPr>
              <a:t>3. BARBARISMO</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EDE8E4"/>
        </a:solidFill>
      </p:bgPr>
    </p:bg>
    <p:spTree>
      <p:nvGrpSpPr>
        <p:cNvPr id="1" name=""/>
        <p:cNvGrpSpPr/>
        <p:nvPr/>
      </p:nvGrpSpPr>
      <p:grpSpPr>
        <a:xfrm>
          <a:off x="0" y="0"/>
          <a:ext cx="0" cy="0"/>
          <a:chOff x="0" y="0"/>
          <a:chExt cx="0" cy="0"/>
        </a:xfrm>
      </p:grpSpPr>
      <p:sp>
        <p:nvSpPr>
          <p:cNvPr name="Freeform 2" id="2"/>
          <p:cNvSpPr/>
          <p:nvPr/>
        </p:nvSpPr>
        <p:spPr>
          <a:xfrm flipH="false" flipV="false" rot="-445925">
            <a:off x="3142738" y="-769394"/>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8798399">
            <a:off x="8466276" y="-9590538"/>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3283157">
            <a:off x="-1501206" y="7329841"/>
            <a:ext cx="5624862" cy="7545546"/>
          </a:xfrm>
          <a:custGeom>
            <a:avLst/>
            <a:gdLst/>
            <a:ahLst/>
            <a:cxnLst/>
            <a:rect r="r" b="b" t="t" l="l"/>
            <a:pathLst>
              <a:path h="7545546" w="5624862">
                <a:moveTo>
                  <a:pt x="0" y="0"/>
                </a:moveTo>
                <a:lnTo>
                  <a:pt x="5624862" y="0"/>
                </a:lnTo>
                <a:lnTo>
                  <a:pt x="5624862" y="7545546"/>
                </a:lnTo>
                <a:lnTo>
                  <a:pt x="0" y="75455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2770156">
            <a:off x="-2577184" y="-2165857"/>
            <a:ext cx="5154368" cy="4995052"/>
          </a:xfrm>
          <a:custGeom>
            <a:avLst/>
            <a:gdLst/>
            <a:ahLst/>
            <a:cxnLst/>
            <a:rect r="r" b="b" t="t" l="l"/>
            <a:pathLst>
              <a:path h="4995052" w="5154368">
                <a:moveTo>
                  <a:pt x="0" y="0"/>
                </a:moveTo>
                <a:lnTo>
                  <a:pt x="5154368" y="0"/>
                </a:lnTo>
                <a:lnTo>
                  <a:pt x="5154368" y="4995051"/>
                </a:lnTo>
                <a:lnTo>
                  <a:pt x="0" y="49950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2770156">
            <a:off x="15710816" y="8522875"/>
            <a:ext cx="5154368" cy="4995052"/>
          </a:xfrm>
          <a:custGeom>
            <a:avLst/>
            <a:gdLst/>
            <a:ahLst/>
            <a:cxnLst/>
            <a:rect r="r" b="b" t="t" l="l"/>
            <a:pathLst>
              <a:path h="4995052" w="5154368">
                <a:moveTo>
                  <a:pt x="0" y="0"/>
                </a:moveTo>
                <a:lnTo>
                  <a:pt x="5154368" y="0"/>
                </a:lnTo>
                <a:lnTo>
                  <a:pt x="5154368" y="4995052"/>
                </a:lnTo>
                <a:lnTo>
                  <a:pt x="0" y="49950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7" id="7"/>
          <p:cNvSpPr txBox="true"/>
          <p:nvPr/>
        </p:nvSpPr>
        <p:spPr>
          <a:xfrm rot="0">
            <a:off x="2526598" y="3908125"/>
            <a:ext cx="13776722" cy="3469145"/>
          </a:xfrm>
          <a:prstGeom prst="rect">
            <a:avLst/>
          </a:prstGeom>
        </p:spPr>
        <p:txBody>
          <a:bodyPr anchor="t" rtlCol="false" tIns="0" lIns="0" bIns="0" rIns="0">
            <a:spAutoFit/>
          </a:bodyPr>
          <a:lstStyle/>
          <a:p>
            <a:pPr algn="ctr">
              <a:lnSpc>
                <a:spcPts val="4612"/>
              </a:lnSpc>
            </a:pPr>
            <a:r>
              <a:rPr lang="en-US" sz="3294" spc="72">
                <a:solidFill>
                  <a:srgbClr val="152540"/>
                </a:solidFill>
                <a:latin typeface="Glacial Indifference"/>
                <a:ea typeface="Glacial Indifference"/>
                <a:cs typeface="Glacial Indifference"/>
                <a:sym typeface="Glacial Indifference"/>
              </a:rPr>
              <a:t>T</a:t>
            </a:r>
            <a:r>
              <a:rPr lang="en-US" sz="3294" spc="72" strike="noStrike" u="none">
                <a:solidFill>
                  <a:srgbClr val="152540"/>
                </a:solidFill>
                <a:latin typeface="Glacial Indifference"/>
                <a:ea typeface="Glacial Indifference"/>
                <a:cs typeface="Glacial Indifference"/>
                <a:sym typeface="Glacial Indifference"/>
              </a:rPr>
              <a:t>ienen lugar cuando se producen alteraciones o imprecisiones en la manera de pronunciar o articular los sonidos de la lengua. Muchas veces la mala pronunciación responde a criterios de economía de la lengua, o sea, al menor esfuerzo posible en la pronunciación; otras veces, al simple vicio.</a:t>
            </a:r>
          </a:p>
          <a:p>
            <a:pPr algn="ctr">
              <a:lnSpc>
                <a:spcPts val="4612"/>
              </a:lnSpc>
            </a:pPr>
          </a:p>
        </p:txBody>
      </p:sp>
      <p:sp>
        <p:nvSpPr>
          <p:cNvPr name="TextBox 8" id="8"/>
          <p:cNvSpPr txBox="true"/>
          <p:nvPr/>
        </p:nvSpPr>
        <p:spPr>
          <a:xfrm rot="0">
            <a:off x="5659591" y="1553786"/>
            <a:ext cx="7543218" cy="2094808"/>
          </a:xfrm>
          <a:prstGeom prst="rect">
            <a:avLst/>
          </a:prstGeom>
        </p:spPr>
        <p:txBody>
          <a:bodyPr anchor="t" rtlCol="false" tIns="0" lIns="0" bIns="0" rIns="0">
            <a:spAutoFit/>
          </a:bodyPr>
          <a:lstStyle/>
          <a:p>
            <a:pPr algn="ctr">
              <a:lnSpc>
                <a:spcPts val="8438"/>
              </a:lnSpc>
            </a:pPr>
            <a:r>
              <a:rPr lang="en-US" b="true" sz="6027" spc="566">
                <a:solidFill>
                  <a:srgbClr val="152540"/>
                </a:solidFill>
                <a:latin typeface="Glacial Indifference Bold"/>
                <a:ea typeface="Glacial Indifference Bold"/>
                <a:cs typeface="Glacial Indifference Bold"/>
                <a:sym typeface="Glacial Indifference Bold"/>
              </a:rPr>
              <a:t>BARBARISMOS PROSÓDICOS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EDE8E4"/>
        </a:solidFill>
      </p:bgPr>
    </p:bg>
    <p:spTree>
      <p:nvGrpSpPr>
        <p:cNvPr id="1" name=""/>
        <p:cNvGrpSpPr/>
        <p:nvPr/>
      </p:nvGrpSpPr>
      <p:grpSpPr>
        <a:xfrm>
          <a:off x="0" y="0"/>
          <a:ext cx="0" cy="0"/>
          <a:chOff x="0" y="0"/>
          <a:chExt cx="0" cy="0"/>
        </a:xfrm>
      </p:grpSpPr>
      <p:sp>
        <p:nvSpPr>
          <p:cNvPr name="Freeform 2" id="2"/>
          <p:cNvSpPr/>
          <p:nvPr/>
        </p:nvSpPr>
        <p:spPr>
          <a:xfrm flipH="false" flipV="false" rot="-445925">
            <a:off x="3142738" y="-769394"/>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8798399">
            <a:off x="8466276" y="-9590538"/>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3283157">
            <a:off x="-1501206" y="7329841"/>
            <a:ext cx="5624862" cy="7545546"/>
          </a:xfrm>
          <a:custGeom>
            <a:avLst/>
            <a:gdLst/>
            <a:ahLst/>
            <a:cxnLst/>
            <a:rect r="r" b="b" t="t" l="l"/>
            <a:pathLst>
              <a:path h="7545546" w="5624862">
                <a:moveTo>
                  <a:pt x="0" y="0"/>
                </a:moveTo>
                <a:lnTo>
                  <a:pt x="5624862" y="0"/>
                </a:lnTo>
                <a:lnTo>
                  <a:pt x="5624862" y="7545546"/>
                </a:lnTo>
                <a:lnTo>
                  <a:pt x="0" y="75455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2770156">
            <a:off x="-2577184" y="-2165857"/>
            <a:ext cx="5154368" cy="4995052"/>
          </a:xfrm>
          <a:custGeom>
            <a:avLst/>
            <a:gdLst/>
            <a:ahLst/>
            <a:cxnLst/>
            <a:rect r="r" b="b" t="t" l="l"/>
            <a:pathLst>
              <a:path h="4995052" w="5154368">
                <a:moveTo>
                  <a:pt x="0" y="0"/>
                </a:moveTo>
                <a:lnTo>
                  <a:pt x="5154368" y="0"/>
                </a:lnTo>
                <a:lnTo>
                  <a:pt x="5154368" y="4995051"/>
                </a:lnTo>
                <a:lnTo>
                  <a:pt x="0" y="49950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2770156">
            <a:off x="15710816" y="8522875"/>
            <a:ext cx="5154368" cy="4995052"/>
          </a:xfrm>
          <a:custGeom>
            <a:avLst/>
            <a:gdLst/>
            <a:ahLst/>
            <a:cxnLst/>
            <a:rect r="r" b="b" t="t" l="l"/>
            <a:pathLst>
              <a:path h="4995052" w="5154368">
                <a:moveTo>
                  <a:pt x="0" y="0"/>
                </a:moveTo>
                <a:lnTo>
                  <a:pt x="5154368" y="0"/>
                </a:lnTo>
                <a:lnTo>
                  <a:pt x="5154368" y="4995052"/>
                </a:lnTo>
                <a:lnTo>
                  <a:pt x="0" y="49950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7" id="7"/>
          <p:cNvSpPr txBox="true"/>
          <p:nvPr/>
        </p:nvSpPr>
        <p:spPr>
          <a:xfrm rot="0">
            <a:off x="2526598" y="3106080"/>
            <a:ext cx="13776722" cy="5212220"/>
          </a:xfrm>
          <a:prstGeom prst="rect">
            <a:avLst/>
          </a:prstGeom>
        </p:spPr>
        <p:txBody>
          <a:bodyPr anchor="t" rtlCol="false" tIns="0" lIns="0" bIns="0" rIns="0">
            <a:spAutoFit/>
          </a:bodyPr>
          <a:lstStyle/>
          <a:p>
            <a:pPr algn="ctr">
              <a:lnSpc>
                <a:spcPts val="4612"/>
              </a:lnSpc>
            </a:pPr>
            <a:r>
              <a:rPr lang="en-US" sz="3294" spc="72">
                <a:solidFill>
                  <a:srgbClr val="152540"/>
                </a:solidFill>
                <a:latin typeface="Glacial Indifference"/>
                <a:ea typeface="Glacial Indifference"/>
                <a:cs typeface="Glacial Indifference"/>
                <a:sym typeface="Glacial Indifference"/>
              </a:rPr>
              <a:t>1.  Pr</a:t>
            </a:r>
            <a:r>
              <a:rPr lang="en-US" sz="3294" spc="72" strike="noStrike" u="none">
                <a:solidFill>
                  <a:srgbClr val="152540"/>
                </a:solidFill>
                <a:latin typeface="Glacial Indifference"/>
                <a:ea typeface="Glacial Indifference"/>
                <a:cs typeface="Glacial Indifference"/>
                <a:sym typeface="Glacial Indifference"/>
              </a:rPr>
              <a:t>onunciar la “g” como si fuera “y”, imitando la sonoridad de otros idiomas: yirar en lugar de girar.</a:t>
            </a:r>
          </a:p>
          <a:p>
            <a:pPr algn="ctr">
              <a:lnSpc>
                <a:spcPts val="4612"/>
              </a:lnSpc>
            </a:pPr>
            <a:r>
              <a:rPr lang="en-US" sz="3294" spc="72" strike="noStrike" u="none">
                <a:solidFill>
                  <a:srgbClr val="152540"/>
                </a:solidFill>
                <a:latin typeface="Glacial Indifference"/>
                <a:ea typeface="Glacial Indifference"/>
                <a:cs typeface="Glacial Indifference"/>
                <a:sym typeface="Glacial Indifference"/>
              </a:rPr>
              <a:t>2.  No pronunciar ciertas consonantes intermedias: fuite por fuiste, delicuente por delincuente.</a:t>
            </a:r>
          </a:p>
          <a:p>
            <a:pPr algn="ctr">
              <a:lnSpc>
                <a:spcPts val="4612"/>
              </a:lnSpc>
            </a:pPr>
            <a:r>
              <a:rPr lang="en-US" sz="3294" spc="72" strike="noStrike" u="none">
                <a:solidFill>
                  <a:srgbClr val="152540"/>
                </a:solidFill>
                <a:latin typeface="Glacial Indifference"/>
                <a:ea typeface="Glacial Indifference"/>
                <a:cs typeface="Glacial Indifference"/>
                <a:sym typeface="Glacial Indifference"/>
              </a:rPr>
              <a:t>3.  Pronunciar una “s” al final de los verbos en segunda persona: comistes por comiste, llegastes en lugar de llegaste.</a:t>
            </a:r>
          </a:p>
          <a:p>
            <a:pPr algn="ctr">
              <a:lnSpc>
                <a:spcPts val="4612"/>
              </a:lnSpc>
            </a:pPr>
            <a:r>
              <a:rPr lang="en-US" sz="3294" spc="72" strike="noStrike" u="none">
                <a:solidFill>
                  <a:srgbClr val="152540"/>
                </a:solidFill>
                <a:latin typeface="Glacial Indifference"/>
                <a:ea typeface="Glacial Indifference"/>
                <a:cs typeface="Glacial Indifference"/>
                <a:sym typeface="Glacial Indifference"/>
              </a:rPr>
              <a:t>4.  Pronunciar sindrome en lugar de síndrome.</a:t>
            </a:r>
          </a:p>
          <a:p>
            <a:pPr algn="ctr">
              <a:lnSpc>
                <a:spcPts val="4612"/>
              </a:lnSpc>
            </a:pPr>
            <a:r>
              <a:rPr lang="en-US" sz="3294" spc="72" strike="noStrike" u="none">
                <a:solidFill>
                  <a:srgbClr val="152540"/>
                </a:solidFill>
                <a:latin typeface="Glacial Indifference"/>
                <a:ea typeface="Glacial Indifference"/>
                <a:cs typeface="Glacial Indifference"/>
                <a:sym typeface="Glacial Indifference"/>
              </a:rPr>
              <a:t>5.  Pronunciar tasi en lugar de taxi.</a:t>
            </a:r>
          </a:p>
          <a:p>
            <a:pPr algn="ctr">
              <a:lnSpc>
                <a:spcPts val="4612"/>
              </a:lnSpc>
            </a:pPr>
          </a:p>
        </p:txBody>
      </p:sp>
      <p:sp>
        <p:nvSpPr>
          <p:cNvPr name="TextBox 8" id="8"/>
          <p:cNvSpPr txBox="true"/>
          <p:nvPr/>
        </p:nvSpPr>
        <p:spPr>
          <a:xfrm rot="0">
            <a:off x="5643351" y="1425909"/>
            <a:ext cx="7543218" cy="2094808"/>
          </a:xfrm>
          <a:prstGeom prst="rect">
            <a:avLst/>
          </a:prstGeom>
        </p:spPr>
        <p:txBody>
          <a:bodyPr anchor="t" rtlCol="false" tIns="0" lIns="0" bIns="0" rIns="0">
            <a:spAutoFit/>
          </a:bodyPr>
          <a:lstStyle/>
          <a:p>
            <a:pPr algn="ctr">
              <a:lnSpc>
                <a:spcPts val="8438"/>
              </a:lnSpc>
            </a:pPr>
            <a:r>
              <a:rPr lang="en-US" b="true" sz="6027" spc="566">
                <a:solidFill>
                  <a:srgbClr val="152540"/>
                </a:solidFill>
                <a:latin typeface="Glacial Indifference Bold"/>
                <a:ea typeface="Glacial Indifference Bold"/>
                <a:cs typeface="Glacial Indifference Bold"/>
                <a:sym typeface="Glacial Indifference Bold"/>
              </a:rPr>
              <a:t>EJEMPLOS:</a:t>
            </a:r>
          </a:p>
          <a:p>
            <a:pPr algn="ctr">
              <a:lnSpc>
                <a:spcPts val="8438"/>
              </a:lnSpc>
            </a:pP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EDE8E4"/>
        </a:solidFill>
      </p:bgPr>
    </p:bg>
    <p:spTree>
      <p:nvGrpSpPr>
        <p:cNvPr id="1" name=""/>
        <p:cNvGrpSpPr/>
        <p:nvPr/>
      </p:nvGrpSpPr>
      <p:grpSpPr>
        <a:xfrm>
          <a:off x="0" y="0"/>
          <a:ext cx="0" cy="0"/>
          <a:chOff x="0" y="0"/>
          <a:chExt cx="0" cy="0"/>
        </a:xfrm>
      </p:grpSpPr>
      <p:sp>
        <p:nvSpPr>
          <p:cNvPr name="Freeform 2" id="2"/>
          <p:cNvSpPr/>
          <p:nvPr/>
        </p:nvSpPr>
        <p:spPr>
          <a:xfrm flipH="false" flipV="false" rot="-445925">
            <a:off x="3142738" y="-769394"/>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8798399">
            <a:off x="8466276" y="-9590538"/>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3283157">
            <a:off x="-1501206" y="7329841"/>
            <a:ext cx="5624862" cy="7545546"/>
          </a:xfrm>
          <a:custGeom>
            <a:avLst/>
            <a:gdLst/>
            <a:ahLst/>
            <a:cxnLst/>
            <a:rect r="r" b="b" t="t" l="l"/>
            <a:pathLst>
              <a:path h="7545546" w="5624862">
                <a:moveTo>
                  <a:pt x="0" y="0"/>
                </a:moveTo>
                <a:lnTo>
                  <a:pt x="5624862" y="0"/>
                </a:lnTo>
                <a:lnTo>
                  <a:pt x="5624862" y="7545546"/>
                </a:lnTo>
                <a:lnTo>
                  <a:pt x="0" y="75455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2770156">
            <a:off x="-2577184" y="-2165857"/>
            <a:ext cx="5154368" cy="4995052"/>
          </a:xfrm>
          <a:custGeom>
            <a:avLst/>
            <a:gdLst/>
            <a:ahLst/>
            <a:cxnLst/>
            <a:rect r="r" b="b" t="t" l="l"/>
            <a:pathLst>
              <a:path h="4995052" w="5154368">
                <a:moveTo>
                  <a:pt x="0" y="0"/>
                </a:moveTo>
                <a:lnTo>
                  <a:pt x="5154368" y="0"/>
                </a:lnTo>
                <a:lnTo>
                  <a:pt x="5154368" y="4995051"/>
                </a:lnTo>
                <a:lnTo>
                  <a:pt x="0" y="49950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2770156">
            <a:off x="15710816" y="8522875"/>
            <a:ext cx="5154368" cy="4995052"/>
          </a:xfrm>
          <a:custGeom>
            <a:avLst/>
            <a:gdLst/>
            <a:ahLst/>
            <a:cxnLst/>
            <a:rect r="r" b="b" t="t" l="l"/>
            <a:pathLst>
              <a:path h="4995052" w="5154368">
                <a:moveTo>
                  <a:pt x="0" y="0"/>
                </a:moveTo>
                <a:lnTo>
                  <a:pt x="5154368" y="0"/>
                </a:lnTo>
                <a:lnTo>
                  <a:pt x="5154368" y="4995052"/>
                </a:lnTo>
                <a:lnTo>
                  <a:pt x="0" y="49950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7" id="7"/>
          <p:cNvSpPr txBox="true"/>
          <p:nvPr/>
        </p:nvSpPr>
        <p:spPr>
          <a:xfrm rot="0">
            <a:off x="2526598" y="3908125"/>
            <a:ext cx="13776722" cy="2307095"/>
          </a:xfrm>
          <a:prstGeom prst="rect">
            <a:avLst/>
          </a:prstGeom>
        </p:spPr>
        <p:txBody>
          <a:bodyPr anchor="t" rtlCol="false" tIns="0" lIns="0" bIns="0" rIns="0">
            <a:spAutoFit/>
          </a:bodyPr>
          <a:lstStyle/>
          <a:p>
            <a:pPr algn="ctr">
              <a:lnSpc>
                <a:spcPts val="4612"/>
              </a:lnSpc>
            </a:pPr>
            <a:r>
              <a:rPr lang="en-US" sz="3294" spc="72">
                <a:solidFill>
                  <a:srgbClr val="152540"/>
                </a:solidFill>
                <a:latin typeface="Glacial Indifference"/>
                <a:ea typeface="Glacial Indifference"/>
                <a:cs typeface="Glacial Indifference"/>
                <a:sym typeface="Glacial Indifference"/>
              </a:rPr>
              <a:t>T</a:t>
            </a:r>
            <a:r>
              <a:rPr lang="en-US" sz="3294" spc="72" strike="noStrike" u="none">
                <a:solidFill>
                  <a:srgbClr val="152540"/>
                </a:solidFill>
                <a:latin typeface="Glacial Indifference"/>
                <a:ea typeface="Glacial Indifference"/>
                <a:cs typeface="Glacial Indifference"/>
                <a:sym typeface="Glacial Indifference"/>
              </a:rPr>
              <a:t>ienen lugar cuando la alteración se produce en la construcción misma de una palabra, tanto a nivel de su grafía como de su pronunciación. Por eso también suelen considerarse faltas a la ortografía, y a menudo conducen a la creación errónea de palabras inexistentes.</a:t>
            </a:r>
          </a:p>
        </p:txBody>
      </p:sp>
      <p:sp>
        <p:nvSpPr>
          <p:cNvPr name="TextBox 8" id="8"/>
          <p:cNvSpPr txBox="true"/>
          <p:nvPr/>
        </p:nvSpPr>
        <p:spPr>
          <a:xfrm rot="0">
            <a:off x="5659591" y="1553786"/>
            <a:ext cx="7543218" cy="2094808"/>
          </a:xfrm>
          <a:prstGeom prst="rect">
            <a:avLst/>
          </a:prstGeom>
        </p:spPr>
        <p:txBody>
          <a:bodyPr anchor="t" rtlCol="false" tIns="0" lIns="0" bIns="0" rIns="0">
            <a:spAutoFit/>
          </a:bodyPr>
          <a:lstStyle/>
          <a:p>
            <a:pPr algn="ctr">
              <a:lnSpc>
                <a:spcPts val="8438"/>
              </a:lnSpc>
            </a:pPr>
            <a:r>
              <a:rPr lang="en-US" b="true" sz="6027" spc="566">
                <a:solidFill>
                  <a:srgbClr val="152540"/>
                </a:solidFill>
                <a:latin typeface="Glacial Indifference Bold"/>
                <a:ea typeface="Glacial Indifference Bold"/>
                <a:cs typeface="Glacial Indifference Bold"/>
                <a:sym typeface="Glacial Indifference Bold"/>
              </a:rPr>
              <a:t> BARBARISMOS MORFOLÓGICOS.</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EDE8E4"/>
        </a:solidFill>
      </p:bgPr>
    </p:bg>
    <p:spTree>
      <p:nvGrpSpPr>
        <p:cNvPr id="1" name=""/>
        <p:cNvGrpSpPr/>
        <p:nvPr/>
      </p:nvGrpSpPr>
      <p:grpSpPr>
        <a:xfrm>
          <a:off x="0" y="0"/>
          <a:ext cx="0" cy="0"/>
          <a:chOff x="0" y="0"/>
          <a:chExt cx="0" cy="0"/>
        </a:xfrm>
      </p:grpSpPr>
      <p:sp>
        <p:nvSpPr>
          <p:cNvPr name="Freeform 2" id="2"/>
          <p:cNvSpPr/>
          <p:nvPr/>
        </p:nvSpPr>
        <p:spPr>
          <a:xfrm flipH="false" flipV="false" rot="-445925">
            <a:off x="3142738" y="-769394"/>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8798399">
            <a:off x="8466276" y="-9590538"/>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3283157">
            <a:off x="-1501206" y="7329841"/>
            <a:ext cx="5624862" cy="7545546"/>
          </a:xfrm>
          <a:custGeom>
            <a:avLst/>
            <a:gdLst/>
            <a:ahLst/>
            <a:cxnLst/>
            <a:rect r="r" b="b" t="t" l="l"/>
            <a:pathLst>
              <a:path h="7545546" w="5624862">
                <a:moveTo>
                  <a:pt x="0" y="0"/>
                </a:moveTo>
                <a:lnTo>
                  <a:pt x="5624862" y="0"/>
                </a:lnTo>
                <a:lnTo>
                  <a:pt x="5624862" y="7545546"/>
                </a:lnTo>
                <a:lnTo>
                  <a:pt x="0" y="75455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2770156">
            <a:off x="-2577184" y="-2165857"/>
            <a:ext cx="5154368" cy="4995052"/>
          </a:xfrm>
          <a:custGeom>
            <a:avLst/>
            <a:gdLst/>
            <a:ahLst/>
            <a:cxnLst/>
            <a:rect r="r" b="b" t="t" l="l"/>
            <a:pathLst>
              <a:path h="4995052" w="5154368">
                <a:moveTo>
                  <a:pt x="0" y="0"/>
                </a:moveTo>
                <a:lnTo>
                  <a:pt x="5154368" y="0"/>
                </a:lnTo>
                <a:lnTo>
                  <a:pt x="5154368" y="4995051"/>
                </a:lnTo>
                <a:lnTo>
                  <a:pt x="0" y="49950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2770156">
            <a:off x="15710816" y="8522875"/>
            <a:ext cx="5154368" cy="4995052"/>
          </a:xfrm>
          <a:custGeom>
            <a:avLst/>
            <a:gdLst/>
            <a:ahLst/>
            <a:cxnLst/>
            <a:rect r="r" b="b" t="t" l="l"/>
            <a:pathLst>
              <a:path h="4995052" w="5154368">
                <a:moveTo>
                  <a:pt x="0" y="0"/>
                </a:moveTo>
                <a:lnTo>
                  <a:pt x="5154368" y="0"/>
                </a:lnTo>
                <a:lnTo>
                  <a:pt x="5154368" y="4995052"/>
                </a:lnTo>
                <a:lnTo>
                  <a:pt x="0" y="49950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7" id="7"/>
          <p:cNvSpPr txBox="true"/>
          <p:nvPr/>
        </p:nvSpPr>
        <p:spPr>
          <a:xfrm rot="0">
            <a:off x="2526598" y="3106080"/>
            <a:ext cx="13776722" cy="3469145"/>
          </a:xfrm>
          <a:prstGeom prst="rect">
            <a:avLst/>
          </a:prstGeom>
        </p:spPr>
        <p:txBody>
          <a:bodyPr anchor="t" rtlCol="false" tIns="0" lIns="0" bIns="0" rIns="0">
            <a:spAutoFit/>
          </a:bodyPr>
          <a:lstStyle/>
          <a:p>
            <a:pPr algn="ctr">
              <a:lnSpc>
                <a:spcPts val="4612"/>
              </a:lnSpc>
            </a:pPr>
            <a:r>
              <a:rPr lang="en-US" sz="3294" spc="72">
                <a:solidFill>
                  <a:srgbClr val="152540"/>
                </a:solidFill>
                <a:latin typeface="Glacial Indifference"/>
                <a:ea typeface="Glacial Indifference"/>
                <a:cs typeface="Glacial Indifference"/>
                <a:sym typeface="Glacial Indifference"/>
              </a:rPr>
              <a:t>1.  El us</a:t>
            </a:r>
            <a:r>
              <a:rPr lang="en-US" sz="3294" spc="72" strike="noStrike" u="none">
                <a:solidFill>
                  <a:srgbClr val="152540"/>
                </a:solidFill>
                <a:latin typeface="Glacial Indifference"/>
                <a:ea typeface="Glacial Indifference"/>
                <a:cs typeface="Glacial Indifference"/>
                <a:sym typeface="Glacial Indifference"/>
              </a:rPr>
              <a:t>o de aperturar en lugar de abrir.</a:t>
            </a:r>
          </a:p>
          <a:p>
            <a:pPr algn="ctr">
              <a:lnSpc>
                <a:spcPts val="4612"/>
              </a:lnSpc>
            </a:pPr>
            <a:r>
              <a:rPr lang="en-US" sz="3294" spc="72" strike="noStrike" u="none">
                <a:solidFill>
                  <a:srgbClr val="152540"/>
                </a:solidFill>
                <a:latin typeface="Glacial Indifference"/>
                <a:ea typeface="Glacial Indifference"/>
                <a:cs typeface="Glacial Indifference"/>
                <a:sym typeface="Glacial Indifference"/>
              </a:rPr>
              <a:t>2.  El uso de downloadear en lugar de descargar.</a:t>
            </a:r>
          </a:p>
          <a:p>
            <a:pPr algn="ctr">
              <a:lnSpc>
                <a:spcPts val="4612"/>
              </a:lnSpc>
            </a:pPr>
            <a:r>
              <a:rPr lang="en-US" sz="3294" spc="72" strike="noStrike" u="none">
                <a:solidFill>
                  <a:srgbClr val="152540"/>
                </a:solidFill>
                <a:latin typeface="Glacial Indifference"/>
                <a:ea typeface="Glacial Indifference"/>
                <a:cs typeface="Glacial Indifference"/>
                <a:sym typeface="Glacial Indifference"/>
              </a:rPr>
              <a:t>3.  El uso de americano en lugar de estadounidense.</a:t>
            </a:r>
          </a:p>
          <a:p>
            <a:pPr algn="ctr">
              <a:lnSpc>
                <a:spcPts val="4612"/>
              </a:lnSpc>
            </a:pPr>
            <a:r>
              <a:rPr lang="en-US" sz="3294" spc="72" strike="noStrike" u="none">
                <a:solidFill>
                  <a:srgbClr val="152540"/>
                </a:solidFill>
                <a:latin typeface="Glacial Indifference"/>
                <a:ea typeface="Glacial Indifference"/>
                <a:cs typeface="Glacial Indifference"/>
                <a:sym typeface="Glacial Indifference"/>
              </a:rPr>
              <a:t>4.  El uso de cabo en lugar de quepo, del verbo caber.</a:t>
            </a:r>
          </a:p>
          <a:p>
            <a:pPr algn="ctr">
              <a:lnSpc>
                <a:spcPts val="4612"/>
              </a:lnSpc>
            </a:pPr>
            <a:r>
              <a:rPr lang="en-US" sz="3294" spc="72" strike="noStrike" u="none">
                <a:solidFill>
                  <a:srgbClr val="152540"/>
                </a:solidFill>
                <a:latin typeface="Glacial Indifference"/>
                <a:ea typeface="Glacial Indifference"/>
                <a:cs typeface="Glacial Indifference"/>
                <a:sym typeface="Glacial Indifference"/>
              </a:rPr>
              <a:t>5.  El uso de andé en lugar de anduve, del verbo andar.</a:t>
            </a:r>
          </a:p>
          <a:p>
            <a:pPr algn="ctr">
              <a:lnSpc>
                <a:spcPts val="4612"/>
              </a:lnSpc>
            </a:pPr>
          </a:p>
        </p:txBody>
      </p:sp>
      <p:sp>
        <p:nvSpPr>
          <p:cNvPr name="TextBox 8" id="8"/>
          <p:cNvSpPr txBox="true"/>
          <p:nvPr/>
        </p:nvSpPr>
        <p:spPr>
          <a:xfrm rot="0">
            <a:off x="5643351" y="1468535"/>
            <a:ext cx="7543218" cy="1028008"/>
          </a:xfrm>
          <a:prstGeom prst="rect">
            <a:avLst/>
          </a:prstGeom>
        </p:spPr>
        <p:txBody>
          <a:bodyPr anchor="t" rtlCol="false" tIns="0" lIns="0" bIns="0" rIns="0">
            <a:spAutoFit/>
          </a:bodyPr>
          <a:lstStyle/>
          <a:p>
            <a:pPr algn="ctr">
              <a:lnSpc>
                <a:spcPts val="8438"/>
              </a:lnSpc>
            </a:pPr>
            <a:r>
              <a:rPr lang="en-US" b="true" sz="6027" spc="566">
                <a:solidFill>
                  <a:srgbClr val="152540"/>
                </a:solidFill>
                <a:latin typeface="Glacial Indifference Bold"/>
                <a:ea typeface="Glacial Indifference Bold"/>
                <a:cs typeface="Glacial Indifference Bold"/>
                <a:sym typeface="Glacial Indifference Bold"/>
              </a:rPr>
              <a:t>EJEMPLOS:</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EDE8E4"/>
        </a:solidFill>
      </p:bgPr>
    </p:bg>
    <p:spTree>
      <p:nvGrpSpPr>
        <p:cNvPr id="1" name=""/>
        <p:cNvGrpSpPr/>
        <p:nvPr/>
      </p:nvGrpSpPr>
      <p:grpSpPr>
        <a:xfrm>
          <a:off x="0" y="0"/>
          <a:ext cx="0" cy="0"/>
          <a:chOff x="0" y="0"/>
          <a:chExt cx="0" cy="0"/>
        </a:xfrm>
      </p:grpSpPr>
      <p:sp>
        <p:nvSpPr>
          <p:cNvPr name="Freeform 2" id="2"/>
          <p:cNvSpPr/>
          <p:nvPr/>
        </p:nvSpPr>
        <p:spPr>
          <a:xfrm flipH="false" flipV="false" rot="-445925">
            <a:off x="3142738" y="-769394"/>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8798399">
            <a:off x="8466276" y="-9590538"/>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3283157">
            <a:off x="-1501206" y="7329841"/>
            <a:ext cx="5624862" cy="7545546"/>
          </a:xfrm>
          <a:custGeom>
            <a:avLst/>
            <a:gdLst/>
            <a:ahLst/>
            <a:cxnLst/>
            <a:rect r="r" b="b" t="t" l="l"/>
            <a:pathLst>
              <a:path h="7545546" w="5624862">
                <a:moveTo>
                  <a:pt x="0" y="0"/>
                </a:moveTo>
                <a:lnTo>
                  <a:pt x="5624862" y="0"/>
                </a:lnTo>
                <a:lnTo>
                  <a:pt x="5624862" y="7545546"/>
                </a:lnTo>
                <a:lnTo>
                  <a:pt x="0" y="75455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2770156">
            <a:off x="-2577184" y="-2165857"/>
            <a:ext cx="5154368" cy="4995052"/>
          </a:xfrm>
          <a:custGeom>
            <a:avLst/>
            <a:gdLst/>
            <a:ahLst/>
            <a:cxnLst/>
            <a:rect r="r" b="b" t="t" l="l"/>
            <a:pathLst>
              <a:path h="4995052" w="5154368">
                <a:moveTo>
                  <a:pt x="0" y="0"/>
                </a:moveTo>
                <a:lnTo>
                  <a:pt x="5154368" y="0"/>
                </a:lnTo>
                <a:lnTo>
                  <a:pt x="5154368" y="4995051"/>
                </a:lnTo>
                <a:lnTo>
                  <a:pt x="0" y="49950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2770156">
            <a:off x="15710816" y="8522875"/>
            <a:ext cx="5154368" cy="4995052"/>
          </a:xfrm>
          <a:custGeom>
            <a:avLst/>
            <a:gdLst/>
            <a:ahLst/>
            <a:cxnLst/>
            <a:rect r="r" b="b" t="t" l="l"/>
            <a:pathLst>
              <a:path h="4995052" w="5154368">
                <a:moveTo>
                  <a:pt x="0" y="0"/>
                </a:moveTo>
                <a:lnTo>
                  <a:pt x="5154368" y="0"/>
                </a:lnTo>
                <a:lnTo>
                  <a:pt x="5154368" y="4995052"/>
                </a:lnTo>
                <a:lnTo>
                  <a:pt x="0" y="49950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7" id="7"/>
          <p:cNvSpPr txBox="true"/>
          <p:nvPr/>
        </p:nvSpPr>
        <p:spPr>
          <a:xfrm rot="0">
            <a:off x="2526598" y="4320552"/>
            <a:ext cx="13776722" cy="2307095"/>
          </a:xfrm>
          <a:prstGeom prst="rect">
            <a:avLst/>
          </a:prstGeom>
        </p:spPr>
        <p:txBody>
          <a:bodyPr anchor="t" rtlCol="false" tIns="0" lIns="0" bIns="0" rIns="0">
            <a:spAutoFit/>
          </a:bodyPr>
          <a:lstStyle/>
          <a:p>
            <a:pPr algn="ctr">
              <a:lnSpc>
                <a:spcPts val="4612"/>
              </a:lnSpc>
            </a:pPr>
            <a:r>
              <a:rPr lang="en-US" sz="3294" spc="72">
                <a:solidFill>
                  <a:srgbClr val="152540"/>
                </a:solidFill>
                <a:latin typeface="Glacial Indifference"/>
                <a:ea typeface="Glacial Indifference"/>
                <a:cs typeface="Glacial Indifference"/>
                <a:sym typeface="Glacial Indifference"/>
              </a:rPr>
              <a:t>T</a:t>
            </a:r>
            <a:r>
              <a:rPr lang="en-US" sz="3294" spc="72" strike="noStrike" u="none">
                <a:solidFill>
                  <a:srgbClr val="152540"/>
                </a:solidFill>
                <a:latin typeface="Glacial Indifference"/>
                <a:ea typeface="Glacial Indifference"/>
                <a:cs typeface="Glacial Indifference"/>
                <a:sym typeface="Glacial Indifference"/>
              </a:rPr>
              <a:t>ienen lugar cuando la alteración se produce en el orden de los términos de una oración, o en la concordancia de los mismos (en materia de género, número, etc.).</a:t>
            </a:r>
          </a:p>
          <a:p>
            <a:pPr algn="ctr">
              <a:lnSpc>
                <a:spcPts val="4612"/>
              </a:lnSpc>
            </a:pPr>
          </a:p>
        </p:txBody>
      </p:sp>
      <p:sp>
        <p:nvSpPr>
          <p:cNvPr name="TextBox 8" id="8"/>
          <p:cNvSpPr txBox="true"/>
          <p:nvPr/>
        </p:nvSpPr>
        <p:spPr>
          <a:xfrm rot="0">
            <a:off x="5372391" y="1852166"/>
            <a:ext cx="7543218" cy="3161608"/>
          </a:xfrm>
          <a:prstGeom prst="rect">
            <a:avLst/>
          </a:prstGeom>
        </p:spPr>
        <p:txBody>
          <a:bodyPr anchor="t" rtlCol="false" tIns="0" lIns="0" bIns="0" rIns="0">
            <a:spAutoFit/>
          </a:bodyPr>
          <a:lstStyle/>
          <a:p>
            <a:pPr algn="ctr">
              <a:lnSpc>
                <a:spcPts val="8438"/>
              </a:lnSpc>
            </a:pPr>
            <a:r>
              <a:rPr lang="en-US" b="true" sz="6027" spc="566">
                <a:solidFill>
                  <a:srgbClr val="152540"/>
                </a:solidFill>
                <a:latin typeface="Glacial Indifference Bold"/>
                <a:ea typeface="Glacial Indifference Bold"/>
                <a:cs typeface="Glacial Indifference Bold"/>
                <a:sym typeface="Glacial Indifference Bold"/>
              </a:rPr>
              <a:t>BARBARISMOS SINTÁCTICOS</a:t>
            </a:r>
          </a:p>
          <a:p>
            <a:pPr algn="ctr">
              <a:lnSpc>
                <a:spcPts val="8438"/>
              </a:lnSpc>
            </a:pP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EDE8E4"/>
        </a:solidFill>
      </p:bgPr>
    </p:bg>
    <p:spTree>
      <p:nvGrpSpPr>
        <p:cNvPr id="1" name=""/>
        <p:cNvGrpSpPr/>
        <p:nvPr/>
      </p:nvGrpSpPr>
      <p:grpSpPr>
        <a:xfrm>
          <a:off x="0" y="0"/>
          <a:ext cx="0" cy="0"/>
          <a:chOff x="0" y="0"/>
          <a:chExt cx="0" cy="0"/>
        </a:xfrm>
      </p:grpSpPr>
      <p:sp>
        <p:nvSpPr>
          <p:cNvPr name="Freeform 2" id="2"/>
          <p:cNvSpPr/>
          <p:nvPr/>
        </p:nvSpPr>
        <p:spPr>
          <a:xfrm flipH="false" flipV="false" rot="-445925">
            <a:off x="3142738" y="-769394"/>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8798399">
            <a:off x="8466276" y="-9590538"/>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3283157">
            <a:off x="-1501206" y="7329841"/>
            <a:ext cx="5624862" cy="7545546"/>
          </a:xfrm>
          <a:custGeom>
            <a:avLst/>
            <a:gdLst/>
            <a:ahLst/>
            <a:cxnLst/>
            <a:rect r="r" b="b" t="t" l="l"/>
            <a:pathLst>
              <a:path h="7545546" w="5624862">
                <a:moveTo>
                  <a:pt x="0" y="0"/>
                </a:moveTo>
                <a:lnTo>
                  <a:pt x="5624862" y="0"/>
                </a:lnTo>
                <a:lnTo>
                  <a:pt x="5624862" y="7545546"/>
                </a:lnTo>
                <a:lnTo>
                  <a:pt x="0" y="75455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2770156">
            <a:off x="-2577184" y="-2165857"/>
            <a:ext cx="5154368" cy="4995052"/>
          </a:xfrm>
          <a:custGeom>
            <a:avLst/>
            <a:gdLst/>
            <a:ahLst/>
            <a:cxnLst/>
            <a:rect r="r" b="b" t="t" l="l"/>
            <a:pathLst>
              <a:path h="4995052" w="5154368">
                <a:moveTo>
                  <a:pt x="0" y="0"/>
                </a:moveTo>
                <a:lnTo>
                  <a:pt x="5154368" y="0"/>
                </a:lnTo>
                <a:lnTo>
                  <a:pt x="5154368" y="4995051"/>
                </a:lnTo>
                <a:lnTo>
                  <a:pt x="0" y="49950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2770156">
            <a:off x="15710816" y="8522875"/>
            <a:ext cx="5154368" cy="4995052"/>
          </a:xfrm>
          <a:custGeom>
            <a:avLst/>
            <a:gdLst/>
            <a:ahLst/>
            <a:cxnLst/>
            <a:rect r="r" b="b" t="t" l="l"/>
            <a:pathLst>
              <a:path h="4995052" w="5154368">
                <a:moveTo>
                  <a:pt x="0" y="0"/>
                </a:moveTo>
                <a:lnTo>
                  <a:pt x="5154368" y="0"/>
                </a:lnTo>
                <a:lnTo>
                  <a:pt x="5154368" y="4995052"/>
                </a:lnTo>
                <a:lnTo>
                  <a:pt x="0" y="49950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7" id="7"/>
          <p:cNvSpPr txBox="true"/>
          <p:nvPr/>
        </p:nvSpPr>
        <p:spPr>
          <a:xfrm rot="0">
            <a:off x="2526598" y="3106080"/>
            <a:ext cx="13776722" cy="5212220"/>
          </a:xfrm>
          <a:prstGeom prst="rect">
            <a:avLst/>
          </a:prstGeom>
        </p:spPr>
        <p:txBody>
          <a:bodyPr anchor="t" rtlCol="false" tIns="0" lIns="0" bIns="0" rIns="0">
            <a:spAutoFit/>
          </a:bodyPr>
          <a:lstStyle/>
          <a:p>
            <a:pPr algn="ctr">
              <a:lnSpc>
                <a:spcPts val="4612"/>
              </a:lnSpc>
            </a:pPr>
            <a:r>
              <a:rPr lang="en-US" sz="3294" spc="72">
                <a:solidFill>
                  <a:srgbClr val="152540"/>
                </a:solidFill>
                <a:latin typeface="Glacial Indifference"/>
                <a:ea typeface="Glacial Indifference"/>
                <a:cs typeface="Glacial Indifference"/>
                <a:sym typeface="Glacial Indifference"/>
              </a:rPr>
              <a:t>1.  El us</a:t>
            </a:r>
            <a:r>
              <a:rPr lang="en-US" sz="3294" spc="72" strike="noStrike" u="none">
                <a:solidFill>
                  <a:srgbClr val="152540"/>
                </a:solidFill>
                <a:latin typeface="Glacial Indifference"/>
                <a:ea typeface="Glacial Indifference"/>
                <a:cs typeface="Glacial Indifference"/>
                <a:sym typeface="Glacial Indifference"/>
              </a:rPr>
              <a:t>o de la frase “a grosso modo”, cuando tendría que ser “grosso modo”.</a:t>
            </a:r>
          </a:p>
          <a:p>
            <a:pPr algn="ctr">
              <a:lnSpc>
                <a:spcPts val="4612"/>
              </a:lnSpc>
            </a:pPr>
            <a:r>
              <a:rPr lang="en-US" sz="3294" spc="72" strike="noStrike" u="none">
                <a:solidFill>
                  <a:srgbClr val="152540"/>
                </a:solidFill>
                <a:latin typeface="Glacial Indifference"/>
                <a:ea typeface="Glacial Indifference"/>
                <a:cs typeface="Glacial Indifference"/>
                <a:sym typeface="Glacial Indifference"/>
              </a:rPr>
              <a:t>2.  El uso de “la primer” en lugar de “la primera”.</a:t>
            </a:r>
          </a:p>
          <a:p>
            <a:pPr algn="ctr">
              <a:lnSpc>
                <a:spcPts val="4612"/>
              </a:lnSpc>
            </a:pPr>
            <a:r>
              <a:rPr lang="en-US" sz="3294" spc="72" strike="noStrike" u="none">
                <a:solidFill>
                  <a:srgbClr val="152540"/>
                </a:solidFill>
                <a:latin typeface="Glacial Indifference"/>
                <a:ea typeface="Glacial Indifference"/>
                <a:cs typeface="Glacial Indifference"/>
                <a:sym typeface="Glacial Indifference"/>
              </a:rPr>
              <a:t>3.  </a:t>
            </a:r>
            <a:r>
              <a:rPr lang="en-US" sz="3294" spc="72" strike="noStrike" u="none">
                <a:solidFill>
                  <a:srgbClr val="152540"/>
                </a:solidFill>
                <a:latin typeface="Glacial Indifference"/>
                <a:ea typeface="Glacial Indifference"/>
                <a:cs typeface="Glacial Indifference"/>
                <a:sym typeface="Glacial Indifference"/>
              </a:rPr>
              <a:t>El uso de “más mejor” o “más peor” en lugar de “mejor” y “peor”.</a:t>
            </a:r>
          </a:p>
          <a:p>
            <a:pPr algn="ctr">
              <a:lnSpc>
                <a:spcPts val="4612"/>
              </a:lnSpc>
            </a:pPr>
            <a:r>
              <a:rPr lang="en-US" sz="3294" spc="72" strike="noStrike" u="none">
                <a:solidFill>
                  <a:srgbClr val="152540"/>
                </a:solidFill>
                <a:latin typeface="Glacial Indifference"/>
                <a:ea typeface="Glacial Indifference"/>
                <a:cs typeface="Glacial Indifference"/>
                <a:sym typeface="Glacial Indifference"/>
              </a:rPr>
              <a:t>4.  El uso de “de que” donde corresponde “que” (dequeísmo), como en: ella me dijo de qué… o yo pienso de que…</a:t>
            </a:r>
          </a:p>
          <a:p>
            <a:pPr algn="ctr">
              <a:lnSpc>
                <a:spcPts val="4612"/>
              </a:lnSpc>
            </a:pPr>
            <a:r>
              <a:rPr lang="en-US" sz="3294" spc="72" strike="noStrike" u="none">
                <a:solidFill>
                  <a:srgbClr val="152540"/>
                </a:solidFill>
                <a:latin typeface="Glacial Indifference"/>
                <a:ea typeface="Glacial Indifference"/>
                <a:cs typeface="Glacial Indifference"/>
                <a:sym typeface="Glacial Indifference"/>
              </a:rPr>
              <a:t>5.  El uso de “que” donde corresponde “de que” (queísmo), como en: nos percatamos que… o ¿Qué estaban hablando ustedes dos?</a:t>
            </a:r>
          </a:p>
          <a:p>
            <a:pPr algn="ctr">
              <a:lnSpc>
                <a:spcPts val="4612"/>
              </a:lnSpc>
            </a:pPr>
          </a:p>
        </p:txBody>
      </p:sp>
      <p:sp>
        <p:nvSpPr>
          <p:cNvPr name="TextBox 8" id="8"/>
          <p:cNvSpPr txBox="true"/>
          <p:nvPr/>
        </p:nvSpPr>
        <p:spPr>
          <a:xfrm rot="0">
            <a:off x="5643351" y="1610621"/>
            <a:ext cx="7543218" cy="1028008"/>
          </a:xfrm>
          <a:prstGeom prst="rect">
            <a:avLst/>
          </a:prstGeom>
        </p:spPr>
        <p:txBody>
          <a:bodyPr anchor="t" rtlCol="false" tIns="0" lIns="0" bIns="0" rIns="0">
            <a:spAutoFit/>
          </a:bodyPr>
          <a:lstStyle/>
          <a:p>
            <a:pPr algn="ctr">
              <a:lnSpc>
                <a:spcPts val="8438"/>
              </a:lnSpc>
            </a:pPr>
            <a:r>
              <a:rPr lang="en-US" b="true" sz="6027" spc="566">
                <a:solidFill>
                  <a:srgbClr val="152540"/>
                </a:solidFill>
                <a:latin typeface="Glacial Indifference Bold"/>
                <a:ea typeface="Glacial Indifference Bold"/>
                <a:cs typeface="Glacial Indifference Bold"/>
                <a:sym typeface="Glacial Indifference Bold"/>
              </a:rPr>
              <a:t>EJEMPLOS:</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EDE8E4"/>
        </a:solidFill>
      </p:bgPr>
    </p:bg>
    <p:spTree>
      <p:nvGrpSpPr>
        <p:cNvPr id="1" name=""/>
        <p:cNvGrpSpPr/>
        <p:nvPr/>
      </p:nvGrpSpPr>
      <p:grpSpPr>
        <a:xfrm>
          <a:off x="0" y="0"/>
          <a:ext cx="0" cy="0"/>
          <a:chOff x="0" y="0"/>
          <a:chExt cx="0" cy="0"/>
        </a:xfrm>
      </p:grpSpPr>
      <p:sp>
        <p:nvSpPr>
          <p:cNvPr name="Freeform 2" id="2"/>
          <p:cNvSpPr/>
          <p:nvPr/>
        </p:nvSpPr>
        <p:spPr>
          <a:xfrm flipH="false" flipV="false" rot="-445925">
            <a:off x="3142738" y="-769394"/>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8798399">
            <a:off x="8466276" y="-9590538"/>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3283157">
            <a:off x="-1501206" y="7329841"/>
            <a:ext cx="5624862" cy="7545546"/>
          </a:xfrm>
          <a:custGeom>
            <a:avLst/>
            <a:gdLst/>
            <a:ahLst/>
            <a:cxnLst/>
            <a:rect r="r" b="b" t="t" l="l"/>
            <a:pathLst>
              <a:path h="7545546" w="5624862">
                <a:moveTo>
                  <a:pt x="0" y="0"/>
                </a:moveTo>
                <a:lnTo>
                  <a:pt x="5624862" y="0"/>
                </a:lnTo>
                <a:lnTo>
                  <a:pt x="5624862" y="7545546"/>
                </a:lnTo>
                <a:lnTo>
                  <a:pt x="0" y="75455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2770156">
            <a:off x="-2577184" y="-2165857"/>
            <a:ext cx="5154368" cy="4995052"/>
          </a:xfrm>
          <a:custGeom>
            <a:avLst/>
            <a:gdLst/>
            <a:ahLst/>
            <a:cxnLst/>
            <a:rect r="r" b="b" t="t" l="l"/>
            <a:pathLst>
              <a:path h="4995052" w="5154368">
                <a:moveTo>
                  <a:pt x="0" y="0"/>
                </a:moveTo>
                <a:lnTo>
                  <a:pt x="5154368" y="0"/>
                </a:lnTo>
                <a:lnTo>
                  <a:pt x="5154368" y="4995051"/>
                </a:lnTo>
                <a:lnTo>
                  <a:pt x="0" y="49950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2770156">
            <a:off x="15710816" y="8522875"/>
            <a:ext cx="5154368" cy="4995052"/>
          </a:xfrm>
          <a:custGeom>
            <a:avLst/>
            <a:gdLst/>
            <a:ahLst/>
            <a:cxnLst/>
            <a:rect r="r" b="b" t="t" l="l"/>
            <a:pathLst>
              <a:path h="4995052" w="5154368">
                <a:moveTo>
                  <a:pt x="0" y="0"/>
                </a:moveTo>
                <a:lnTo>
                  <a:pt x="5154368" y="0"/>
                </a:lnTo>
                <a:lnTo>
                  <a:pt x="5154368" y="4995052"/>
                </a:lnTo>
                <a:lnTo>
                  <a:pt x="0" y="49950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7" id="7"/>
          <p:cNvSpPr txBox="true"/>
          <p:nvPr/>
        </p:nvSpPr>
        <p:spPr>
          <a:xfrm rot="0">
            <a:off x="2526598" y="3446253"/>
            <a:ext cx="13776722" cy="2307095"/>
          </a:xfrm>
          <a:prstGeom prst="rect">
            <a:avLst/>
          </a:prstGeom>
        </p:spPr>
        <p:txBody>
          <a:bodyPr anchor="t" rtlCol="false" tIns="0" lIns="0" bIns="0" rIns="0">
            <a:spAutoFit/>
          </a:bodyPr>
          <a:lstStyle/>
          <a:p>
            <a:pPr algn="ctr">
              <a:lnSpc>
                <a:spcPts val="4612"/>
              </a:lnSpc>
            </a:pPr>
            <a:r>
              <a:rPr lang="en-US" sz="3294" spc="72">
                <a:solidFill>
                  <a:srgbClr val="152540"/>
                </a:solidFill>
                <a:latin typeface="Glacial Indifference"/>
                <a:ea typeface="Glacial Indifference"/>
                <a:cs typeface="Glacial Indifference"/>
                <a:sym typeface="Glacial Indifference"/>
              </a:rPr>
              <a:t>C</a:t>
            </a:r>
            <a:r>
              <a:rPr lang="en-US" sz="3294" spc="72" strike="noStrike" u="none">
                <a:solidFill>
                  <a:srgbClr val="152540"/>
                </a:solidFill>
                <a:latin typeface="Glacial Indifference"/>
                <a:ea typeface="Glacial Indifference"/>
                <a:cs typeface="Glacial Indifference"/>
                <a:sym typeface="Glacial Indifference"/>
              </a:rPr>
              <a:t>orrige el error en la siguiente oración:</a:t>
            </a:r>
          </a:p>
          <a:p>
            <a:pPr algn="ctr">
              <a:lnSpc>
                <a:spcPts val="4612"/>
              </a:lnSpc>
            </a:pPr>
          </a:p>
          <a:p>
            <a:pPr algn="ctr">
              <a:lnSpc>
                <a:spcPts val="4612"/>
              </a:lnSpc>
            </a:pPr>
            <a:r>
              <a:rPr lang="en-US" sz="3294" spc="72" strike="noStrike" u="none">
                <a:solidFill>
                  <a:srgbClr val="152540"/>
                </a:solidFill>
                <a:latin typeface="Glacial Indifference"/>
                <a:ea typeface="Glacial Indifference"/>
                <a:cs typeface="Glacial Indifference"/>
                <a:sym typeface="Glacial Indifference"/>
              </a:rPr>
              <a:t>“Ayer andé mucho por la ciudad y me cansé bastante.”</a:t>
            </a:r>
          </a:p>
          <a:p>
            <a:pPr algn="ctr">
              <a:lnSpc>
                <a:spcPts val="4612"/>
              </a:lnSpc>
            </a:pPr>
          </a:p>
        </p:txBody>
      </p:sp>
      <p:sp>
        <p:nvSpPr>
          <p:cNvPr name="TextBox 8" id="8"/>
          <p:cNvSpPr txBox="true"/>
          <p:nvPr/>
        </p:nvSpPr>
        <p:spPr>
          <a:xfrm rot="0">
            <a:off x="5643351" y="1610621"/>
            <a:ext cx="7543218" cy="1028008"/>
          </a:xfrm>
          <a:prstGeom prst="rect">
            <a:avLst/>
          </a:prstGeom>
        </p:spPr>
        <p:txBody>
          <a:bodyPr anchor="t" rtlCol="false" tIns="0" lIns="0" bIns="0" rIns="0">
            <a:spAutoFit/>
          </a:bodyPr>
          <a:lstStyle/>
          <a:p>
            <a:pPr algn="ctr">
              <a:lnSpc>
                <a:spcPts val="8438"/>
              </a:lnSpc>
            </a:pPr>
            <a:r>
              <a:rPr lang="en-US" b="true" sz="6027" spc="566">
                <a:solidFill>
                  <a:srgbClr val="152540"/>
                </a:solidFill>
                <a:latin typeface="Glacial Indifference Bold"/>
                <a:ea typeface="Glacial Indifference Bold"/>
                <a:cs typeface="Glacial Indifference Bold"/>
                <a:sym typeface="Glacial Indifference Bold"/>
              </a:rPr>
              <a:t>EJERCICIO:</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EDE8E4"/>
        </a:solidFill>
      </p:bgPr>
    </p:bg>
    <p:spTree>
      <p:nvGrpSpPr>
        <p:cNvPr id="1" name=""/>
        <p:cNvGrpSpPr/>
        <p:nvPr/>
      </p:nvGrpSpPr>
      <p:grpSpPr>
        <a:xfrm>
          <a:off x="0" y="0"/>
          <a:ext cx="0" cy="0"/>
          <a:chOff x="0" y="0"/>
          <a:chExt cx="0" cy="0"/>
        </a:xfrm>
      </p:grpSpPr>
      <p:sp>
        <p:nvSpPr>
          <p:cNvPr name="Freeform 2" id="2"/>
          <p:cNvSpPr/>
          <p:nvPr/>
        </p:nvSpPr>
        <p:spPr>
          <a:xfrm flipH="false" flipV="false" rot="-445925">
            <a:off x="3142738" y="-769394"/>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8798399">
            <a:off x="8466276" y="-9590538"/>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3283157">
            <a:off x="-1501206" y="7329841"/>
            <a:ext cx="5624862" cy="7545546"/>
          </a:xfrm>
          <a:custGeom>
            <a:avLst/>
            <a:gdLst/>
            <a:ahLst/>
            <a:cxnLst/>
            <a:rect r="r" b="b" t="t" l="l"/>
            <a:pathLst>
              <a:path h="7545546" w="5624862">
                <a:moveTo>
                  <a:pt x="0" y="0"/>
                </a:moveTo>
                <a:lnTo>
                  <a:pt x="5624862" y="0"/>
                </a:lnTo>
                <a:lnTo>
                  <a:pt x="5624862" y="7545546"/>
                </a:lnTo>
                <a:lnTo>
                  <a:pt x="0" y="75455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2770156">
            <a:off x="-2577184" y="-2165857"/>
            <a:ext cx="5154368" cy="4995052"/>
          </a:xfrm>
          <a:custGeom>
            <a:avLst/>
            <a:gdLst/>
            <a:ahLst/>
            <a:cxnLst/>
            <a:rect r="r" b="b" t="t" l="l"/>
            <a:pathLst>
              <a:path h="4995052" w="5154368">
                <a:moveTo>
                  <a:pt x="0" y="0"/>
                </a:moveTo>
                <a:lnTo>
                  <a:pt x="5154368" y="0"/>
                </a:lnTo>
                <a:lnTo>
                  <a:pt x="5154368" y="4995051"/>
                </a:lnTo>
                <a:lnTo>
                  <a:pt x="0" y="49950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2770156">
            <a:off x="15710816" y="8522875"/>
            <a:ext cx="5154368" cy="4995052"/>
          </a:xfrm>
          <a:custGeom>
            <a:avLst/>
            <a:gdLst/>
            <a:ahLst/>
            <a:cxnLst/>
            <a:rect r="r" b="b" t="t" l="l"/>
            <a:pathLst>
              <a:path h="4995052" w="5154368">
                <a:moveTo>
                  <a:pt x="0" y="0"/>
                </a:moveTo>
                <a:lnTo>
                  <a:pt x="5154368" y="0"/>
                </a:lnTo>
                <a:lnTo>
                  <a:pt x="5154368" y="4995052"/>
                </a:lnTo>
                <a:lnTo>
                  <a:pt x="0" y="49950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7" id="7"/>
          <p:cNvSpPr txBox="true"/>
          <p:nvPr/>
        </p:nvSpPr>
        <p:spPr>
          <a:xfrm rot="0">
            <a:off x="2526598" y="3849030"/>
            <a:ext cx="13776722" cy="2307095"/>
          </a:xfrm>
          <a:prstGeom prst="rect">
            <a:avLst/>
          </a:prstGeom>
        </p:spPr>
        <p:txBody>
          <a:bodyPr anchor="t" rtlCol="false" tIns="0" lIns="0" bIns="0" rIns="0">
            <a:spAutoFit/>
          </a:bodyPr>
          <a:lstStyle/>
          <a:p>
            <a:pPr algn="ctr">
              <a:lnSpc>
                <a:spcPts val="4612"/>
              </a:lnSpc>
            </a:pPr>
            <a:r>
              <a:rPr lang="en-US" sz="3294" spc="72">
                <a:solidFill>
                  <a:srgbClr val="152540"/>
                </a:solidFill>
                <a:latin typeface="Glacial Indifference"/>
                <a:ea typeface="Glacial Indifference"/>
                <a:cs typeface="Glacial Indifference"/>
                <a:sym typeface="Glacial Indifference"/>
              </a:rPr>
              <a:t>L</a:t>
            </a:r>
            <a:r>
              <a:rPr lang="en-US" sz="3294" spc="72" strike="noStrike" u="none">
                <a:solidFill>
                  <a:srgbClr val="152540"/>
                </a:solidFill>
                <a:latin typeface="Glacial Indifference"/>
                <a:ea typeface="Glacial Indifference"/>
                <a:cs typeface="Glacial Indifference"/>
                <a:sym typeface="Glacial Indifference"/>
              </a:rPr>
              <a:t>as cacofonías son expresiones que, si bien sintáctica y gramaticalmente cumplen con todos los requisitos que el idioma exige, generan disonancias durante la pronunciación y eso se debe a la cercanía de sílabas semejantes o idénticas.</a:t>
            </a:r>
          </a:p>
        </p:txBody>
      </p:sp>
      <p:sp>
        <p:nvSpPr>
          <p:cNvPr name="TextBox 8" id="8"/>
          <p:cNvSpPr txBox="true"/>
          <p:nvPr/>
        </p:nvSpPr>
        <p:spPr>
          <a:xfrm rot="0">
            <a:off x="5643351" y="1820897"/>
            <a:ext cx="7543218" cy="2094808"/>
          </a:xfrm>
          <a:prstGeom prst="rect">
            <a:avLst/>
          </a:prstGeom>
        </p:spPr>
        <p:txBody>
          <a:bodyPr anchor="t" rtlCol="false" tIns="0" lIns="0" bIns="0" rIns="0">
            <a:spAutoFit/>
          </a:bodyPr>
          <a:lstStyle/>
          <a:p>
            <a:pPr algn="ctr">
              <a:lnSpc>
                <a:spcPts val="8438"/>
              </a:lnSpc>
            </a:pPr>
            <a:r>
              <a:rPr lang="en-US" b="true" sz="6027" spc="566">
                <a:solidFill>
                  <a:srgbClr val="152540"/>
                </a:solidFill>
                <a:latin typeface="Glacial Indifference Bold"/>
                <a:ea typeface="Glacial Indifference Bold"/>
                <a:cs typeface="Glacial Indifference Bold"/>
                <a:sym typeface="Glacial Indifference Bold"/>
              </a:rPr>
              <a:t>4. CACOFONÍA</a:t>
            </a:r>
          </a:p>
          <a:p>
            <a:pPr algn="ctr">
              <a:lnSpc>
                <a:spcPts val="8438"/>
              </a:lnSpc>
            </a:pP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EDE8E4"/>
        </a:solidFill>
      </p:bgPr>
    </p:bg>
    <p:spTree>
      <p:nvGrpSpPr>
        <p:cNvPr id="1" name=""/>
        <p:cNvGrpSpPr/>
        <p:nvPr/>
      </p:nvGrpSpPr>
      <p:grpSpPr>
        <a:xfrm>
          <a:off x="0" y="0"/>
          <a:ext cx="0" cy="0"/>
          <a:chOff x="0" y="0"/>
          <a:chExt cx="0" cy="0"/>
        </a:xfrm>
      </p:grpSpPr>
      <p:sp>
        <p:nvSpPr>
          <p:cNvPr name="Freeform 2" id="2"/>
          <p:cNvSpPr/>
          <p:nvPr/>
        </p:nvSpPr>
        <p:spPr>
          <a:xfrm flipH="false" flipV="false" rot="-445925">
            <a:off x="3142738" y="-769394"/>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8798399">
            <a:off x="8466276" y="-9590538"/>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3283157">
            <a:off x="-1501206" y="7329841"/>
            <a:ext cx="5624862" cy="7545546"/>
          </a:xfrm>
          <a:custGeom>
            <a:avLst/>
            <a:gdLst/>
            <a:ahLst/>
            <a:cxnLst/>
            <a:rect r="r" b="b" t="t" l="l"/>
            <a:pathLst>
              <a:path h="7545546" w="5624862">
                <a:moveTo>
                  <a:pt x="0" y="0"/>
                </a:moveTo>
                <a:lnTo>
                  <a:pt x="5624862" y="0"/>
                </a:lnTo>
                <a:lnTo>
                  <a:pt x="5624862" y="7545546"/>
                </a:lnTo>
                <a:lnTo>
                  <a:pt x="0" y="75455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2770156">
            <a:off x="-2577184" y="-2165857"/>
            <a:ext cx="5154368" cy="4995052"/>
          </a:xfrm>
          <a:custGeom>
            <a:avLst/>
            <a:gdLst/>
            <a:ahLst/>
            <a:cxnLst/>
            <a:rect r="r" b="b" t="t" l="l"/>
            <a:pathLst>
              <a:path h="4995052" w="5154368">
                <a:moveTo>
                  <a:pt x="0" y="0"/>
                </a:moveTo>
                <a:lnTo>
                  <a:pt x="5154368" y="0"/>
                </a:lnTo>
                <a:lnTo>
                  <a:pt x="5154368" y="4995051"/>
                </a:lnTo>
                <a:lnTo>
                  <a:pt x="0" y="49950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2770156">
            <a:off x="15710816" y="8522875"/>
            <a:ext cx="5154368" cy="4995052"/>
          </a:xfrm>
          <a:custGeom>
            <a:avLst/>
            <a:gdLst/>
            <a:ahLst/>
            <a:cxnLst/>
            <a:rect r="r" b="b" t="t" l="l"/>
            <a:pathLst>
              <a:path h="4995052" w="5154368">
                <a:moveTo>
                  <a:pt x="0" y="0"/>
                </a:moveTo>
                <a:lnTo>
                  <a:pt x="5154368" y="0"/>
                </a:lnTo>
                <a:lnTo>
                  <a:pt x="5154368" y="4995052"/>
                </a:lnTo>
                <a:lnTo>
                  <a:pt x="0" y="49950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7" id="7"/>
          <p:cNvSpPr txBox="true"/>
          <p:nvPr/>
        </p:nvSpPr>
        <p:spPr>
          <a:xfrm rot="0">
            <a:off x="2526598" y="3305000"/>
            <a:ext cx="13776722" cy="2888120"/>
          </a:xfrm>
          <a:prstGeom prst="rect">
            <a:avLst/>
          </a:prstGeom>
        </p:spPr>
        <p:txBody>
          <a:bodyPr anchor="t" rtlCol="false" tIns="0" lIns="0" bIns="0" rIns="0">
            <a:spAutoFit/>
          </a:bodyPr>
          <a:lstStyle/>
          <a:p>
            <a:pPr algn="ctr">
              <a:lnSpc>
                <a:spcPts val="4612"/>
              </a:lnSpc>
            </a:pPr>
            <a:r>
              <a:rPr lang="en-US" sz="3294" spc="72">
                <a:solidFill>
                  <a:srgbClr val="152540"/>
                </a:solidFill>
                <a:latin typeface="Glacial Indifference"/>
                <a:ea typeface="Glacial Indifference"/>
                <a:cs typeface="Glacial Indifference"/>
                <a:sym typeface="Glacial Indifference"/>
              </a:rPr>
              <a:t>1.  S</a:t>
            </a:r>
            <a:r>
              <a:rPr lang="en-US" sz="3294" spc="72" strike="noStrike" u="none">
                <a:solidFill>
                  <a:srgbClr val="152540"/>
                </a:solidFill>
                <a:latin typeface="Glacial Indifference"/>
                <a:ea typeface="Glacial Indifference"/>
                <a:cs typeface="Glacial Indifference"/>
                <a:sym typeface="Glacial Indifference"/>
              </a:rPr>
              <a:t>e comportó atentamente, sigilosamente y tranquilamente.</a:t>
            </a:r>
          </a:p>
          <a:p>
            <a:pPr algn="ctr">
              <a:lnSpc>
                <a:spcPts val="4612"/>
              </a:lnSpc>
            </a:pPr>
            <a:r>
              <a:rPr lang="en-US" sz="3294" spc="72" strike="noStrike" u="none">
                <a:solidFill>
                  <a:srgbClr val="152540"/>
                </a:solidFill>
                <a:latin typeface="Glacial Indifference"/>
                <a:ea typeface="Glacial Indifference"/>
                <a:cs typeface="Glacial Indifference"/>
                <a:sym typeface="Glacial Indifference"/>
              </a:rPr>
              <a:t>2.  Tomando té, te mejorarás.</a:t>
            </a:r>
          </a:p>
          <a:p>
            <a:pPr algn="ctr">
              <a:lnSpc>
                <a:spcPts val="4612"/>
              </a:lnSpc>
            </a:pPr>
            <a:r>
              <a:rPr lang="en-US" sz="3294" spc="72" strike="noStrike" u="none">
                <a:solidFill>
                  <a:srgbClr val="152540"/>
                </a:solidFill>
                <a:latin typeface="Glacial Indifference"/>
                <a:ea typeface="Glacial Indifference"/>
                <a:cs typeface="Glacial Indifference"/>
                <a:sym typeface="Glacial Indifference"/>
              </a:rPr>
              <a:t>3.  Y</a:t>
            </a:r>
            <a:r>
              <a:rPr lang="en-US" sz="3294" spc="72" strike="noStrike" u="none">
                <a:solidFill>
                  <a:srgbClr val="152540"/>
                </a:solidFill>
                <a:latin typeface="Glacial Indifference"/>
                <a:ea typeface="Glacial Indifference"/>
                <a:cs typeface="Glacial Indifference"/>
                <a:sym typeface="Glacial Indifference"/>
              </a:rPr>
              <a:t>o lo coloco mientras tú esperas aquí.</a:t>
            </a:r>
          </a:p>
          <a:p>
            <a:pPr algn="ctr">
              <a:lnSpc>
                <a:spcPts val="4612"/>
              </a:lnSpc>
            </a:pPr>
            <a:r>
              <a:rPr lang="en-US" sz="3294" spc="72" strike="noStrike" u="none">
                <a:solidFill>
                  <a:srgbClr val="152540"/>
                </a:solidFill>
                <a:latin typeface="Glacial Indifference"/>
                <a:ea typeface="Glacial Indifference"/>
                <a:cs typeface="Glacial Indifference"/>
                <a:sym typeface="Glacial Indifference"/>
              </a:rPr>
              <a:t>4.  Firme la forma solicitada.</a:t>
            </a:r>
          </a:p>
          <a:p>
            <a:pPr algn="ctr">
              <a:lnSpc>
                <a:spcPts val="4612"/>
              </a:lnSpc>
            </a:pPr>
            <a:r>
              <a:rPr lang="en-US" sz="3294" spc="72" strike="noStrike" u="none">
                <a:solidFill>
                  <a:srgbClr val="152540"/>
                </a:solidFill>
                <a:latin typeface="Glacial Indifference"/>
                <a:ea typeface="Glacial Indifference"/>
                <a:cs typeface="Glacial Indifference"/>
                <a:sym typeface="Glacial Indifference"/>
              </a:rPr>
              <a:t>5.  Me preguntó qué difundo, qué defiendo.</a:t>
            </a:r>
          </a:p>
        </p:txBody>
      </p:sp>
      <p:sp>
        <p:nvSpPr>
          <p:cNvPr name="TextBox 8" id="8"/>
          <p:cNvSpPr txBox="true"/>
          <p:nvPr/>
        </p:nvSpPr>
        <p:spPr>
          <a:xfrm rot="0">
            <a:off x="5643351" y="1553786"/>
            <a:ext cx="7543218" cy="1028008"/>
          </a:xfrm>
          <a:prstGeom prst="rect">
            <a:avLst/>
          </a:prstGeom>
        </p:spPr>
        <p:txBody>
          <a:bodyPr anchor="t" rtlCol="false" tIns="0" lIns="0" bIns="0" rIns="0">
            <a:spAutoFit/>
          </a:bodyPr>
          <a:lstStyle/>
          <a:p>
            <a:pPr algn="ctr">
              <a:lnSpc>
                <a:spcPts val="8438"/>
              </a:lnSpc>
            </a:pPr>
            <a:r>
              <a:rPr lang="en-US" b="true" sz="6027" spc="566">
                <a:solidFill>
                  <a:srgbClr val="152540"/>
                </a:solidFill>
                <a:latin typeface="Glacial Indifference Bold"/>
                <a:ea typeface="Glacial Indifference Bold"/>
                <a:cs typeface="Glacial Indifference Bold"/>
                <a:sym typeface="Glacial Indifference Bold"/>
              </a:rPr>
              <a:t>EJEMPLOS:</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EDE8E4"/>
        </a:solidFill>
      </p:bgPr>
    </p:bg>
    <p:spTree>
      <p:nvGrpSpPr>
        <p:cNvPr id="1" name=""/>
        <p:cNvGrpSpPr/>
        <p:nvPr/>
      </p:nvGrpSpPr>
      <p:grpSpPr>
        <a:xfrm>
          <a:off x="0" y="0"/>
          <a:ext cx="0" cy="0"/>
          <a:chOff x="0" y="0"/>
          <a:chExt cx="0" cy="0"/>
        </a:xfrm>
      </p:grpSpPr>
      <p:sp>
        <p:nvSpPr>
          <p:cNvPr name="Freeform 2" id="2"/>
          <p:cNvSpPr/>
          <p:nvPr/>
        </p:nvSpPr>
        <p:spPr>
          <a:xfrm flipH="false" flipV="false" rot="-445925">
            <a:off x="3142738" y="-769394"/>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8798399">
            <a:off x="8466276" y="-9590538"/>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3283157">
            <a:off x="-1501206" y="7329841"/>
            <a:ext cx="5624862" cy="7545546"/>
          </a:xfrm>
          <a:custGeom>
            <a:avLst/>
            <a:gdLst/>
            <a:ahLst/>
            <a:cxnLst/>
            <a:rect r="r" b="b" t="t" l="l"/>
            <a:pathLst>
              <a:path h="7545546" w="5624862">
                <a:moveTo>
                  <a:pt x="0" y="0"/>
                </a:moveTo>
                <a:lnTo>
                  <a:pt x="5624862" y="0"/>
                </a:lnTo>
                <a:lnTo>
                  <a:pt x="5624862" y="7545546"/>
                </a:lnTo>
                <a:lnTo>
                  <a:pt x="0" y="75455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2770156">
            <a:off x="-2577184" y="-2165857"/>
            <a:ext cx="5154368" cy="4995052"/>
          </a:xfrm>
          <a:custGeom>
            <a:avLst/>
            <a:gdLst/>
            <a:ahLst/>
            <a:cxnLst/>
            <a:rect r="r" b="b" t="t" l="l"/>
            <a:pathLst>
              <a:path h="4995052" w="5154368">
                <a:moveTo>
                  <a:pt x="0" y="0"/>
                </a:moveTo>
                <a:lnTo>
                  <a:pt x="5154368" y="0"/>
                </a:lnTo>
                <a:lnTo>
                  <a:pt x="5154368" y="4995051"/>
                </a:lnTo>
                <a:lnTo>
                  <a:pt x="0" y="49950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2770156">
            <a:off x="15710816" y="8522875"/>
            <a:ext cx="5154368" cy="4995052"/>
          </a:xfrm>
          <a:custGeom>
            <a:avLst/>
            <a:gdLst/>
            <a:ahLst/>
            <a:cxnLst/>
            <a:rect r="r" b="b" t="t" l="l"/>
            <a:pathLst>
              <a:path h="4995052" w="5154368">
                <a:moveTo>
                  <a:pt x="0" y="0"/>
                </a:moveTo>
                <a:lnTo>
                  <a:pt x="5154368" y="0"/>
                </a:lnTo>
                <a:lnTo>
                  <a:pt x="5154368" y="4995052"/>
                </a:lnTo>
                <a:lnTo>
                  <a:pt x="0" y="49950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7" id="7"/>
          <p:cNvSpPr txBox="true"/>
          <p:nvPr/>
        </p:nvSpPr>
        <p:spPr>
          <a:xfrm rot="0">
            <a:off x="2526598" y="3708348"/>
            <a:ext cx="13776722" cy="2307095"/>
          </a:xfrm>
          <a:prstGeom prst="rect">
            <a:avLst/>
          </a:prstGeom>
        </p:spPr>
        <p:txBody>
          <a:bodyPr anchor="t" rtlCol="false" tIns="0" lIns="0" bIns="0" rIns="0">
            <a:spAutoFit/>
          </a:bodyPr>
          <a:lstStyle/>
          <a:p>
            <a:pPr algn="ctr">
              <a:lnSpc>
                <a:spcPts val="4612"/>
              </a:lnSpc>
            </a:pPr>
            <a:r>
              <a:rPr lang="en-US" sz="3294" spc="72">
                <a:solidFill>
                  <a:srgbClr val="152540"/>
                </a:solidFill>
                <a:latin typeface="Glacial Indifference"/>
                <a:ea typeface="Glacial Indifference"/>
                <a:cs typeface="Glacial Indifference"/>
                <a:sym typeface="Glacial Indifference"/>
              </a:rPr>
              <a:t>Reescribe la </a:t>
            </a:r>
            <a:r>
              <a:rPr lang="en-US" sz="3294" spc="72" strike="noStrike" u="none">
                <a:solidFill>
                  <a:srgbClr val="152540"/>
                </a:solidFill>
                <a:latin typeface="Glacial Indifference"/>
                <a:ea typeface="Glacial Indifference"/>
                <a:cs typeface="Glacial Indifference"/>
                <a:sym typeface="Glacial Indifference"/>
              </a:rPr>
              <a:t>oración para evitar la repetición desagradable de sonidos:</a:t>
            </a:r>
          </a:p>
          <a:p>
            <a:pPr algn="ctr">
              <a:lnSpc>
                <a:spcPts val="4612"/>
              </a:lnSpc>
            </a:pPr>
            <a:r>
              <a:rPr lang="en-US" sz="3294" spc="72" strike="noStrike" u="none">
                <a:solidFill>
                  <a:srgbClr val="152540"/>
                </a:solidFill>
                <a:latin typeface="Glacial Indifference"/>
                <a:ea typeface="Glacial Indifference"/>
                <a:cs typeface="Glacial Indifference"/>
                <a:sym typeface="Glacial Indifference"/>
              </a:rPr>
              <a:t> </a:t>
            </a:r>
          </a:p>
          <a:p>
            <a:pPr algn="ctr">
              <a:lnSpc>
                <a:spcPts val="4612"/>
              </a:lnSpc>
            </a:pPr>
            <a:r>
              <a:rPr lang="en-US" sz="3294" spc="72" strike="noStrike" u="none">
                <a:solidFill>
                  <a:srgbClr val="152540"/>
                </a:solidFill>
                <a:latin typeface="Glacial Indifference"/>
                <a:ea typeface="Glacial Indifference"/>
                <a:cs typeface="Glacial Indifference"/>
                <a:sym typeface="Glacial Indifference"/>
              </a:rPr>
              <a:t>“Mi mamá</a:t>
            </a:r>
            <a:r>
              <a:rPr lang="en-US" sz="3294" spc="72" strike="noStrike" u="none">
                <a:solidFill>
                  <a:srgbClr val="152540"/>
                </a:solidFill>
                <a:latin typeface="Glacial Indifference"/>
                <a:ea typeface="Glacial Indifference"/>
                <a:cs typeface="Glacial Indifference"/>
                <a:sym typeface="Glacial Indifference"/>
              </a:rPr>
              <a:t> me mima</a:t>
            </a:r>
            <a:r>
              <a:rPr lang="en-US" sz="3294" spc="72" strike="noStrike" u="none">
                <a:solidFill>
                  <a:srgbClr val="152540"/>
                </a:solidFill>
                <a:latin typeface="Glacial Indifference"/>
                <a:ea typeface="Glacial Indifference"/>
                <a:cs typeface="Glacial Indifference"/>
                <a:sym typeface="Glacial Indifference"/>
              </a:rPr>
              <a:t> mientras me mira.”</a:t>
            </a:r>
          </a:p>
          <a:p>
            <a:pPr algn="ctr">
              <a:lnSpc>
                <a:spcPts val="4612"/>
              </a:lnSpc>
            </a:pPr>
          </a:p>
        </p:txBody>
      </p:sp>
      <p:sp>
        <p:nvSpPr>
          <p:cNvPr name="TextBox 8" id="8"/>
          <p:cNvSpPr txBox="true"/>
          <p:nvPr/>
        </p:nvSpPr>
        <p:spPr>
          <a:xfrm rot="0">
            <a:off x="5643351" y="1553786"/>
            <a:ext cx="7543218" cy="1028008"/>
          </a:xfrm>
          <a:prstGeom prst="rect">
            <a:avLst/>
          </a:prstGeom>
        </p:spPr>
        <p:txBody>
          <a:bodyPr anchor="t" rtlCol="false" tIns="0" lIns="0" bIns="0" rIns="0">
            <a:spAutoFit/>
          </a:bodyPr>
          <a:lstStyle/>
          <a:p>
            <a:pPr algn="ctr">
              <a:lnSpc>
                <a:spcPts val="8438"/>
              </a:lnSpc>
            </a:pPr>
            <a:r>
              <a:rPr lang="en-US" b="true" sz="6027" spc="566">
                <a:solidFill>
                  <a:srgbClr val="152540"/>
                </a:solidFill>
                <a:latin typeface="Glacial Indifference Bold"/>
                <a:ea typeface="Glacial Indifference Bold"/>
                <a:cs typeface="Glacial Indifference Bold"/>
                <a:sym typeface="Glacial Indifference Bold"/>
              </a:rPr>
              <a:t>EJERCICIO:</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EDE8E4"/>
        </a:solidFill>
      </p:bgPr>
    </p:bg>
    <p:spTree>
      <p:nvGrpSpPr>
        <p:cNvPr id="1" name=""/>
        <p:cNvGrpSpPr/>
        <p:nvPr/>
      </p:nvGrpSpPr>
      <p:grpSpPr>
        <a:xfrm>
          <a:off x="0" y="0"/>
          <a:ext cx="0" cy="0"/>
          <a:chOff x="0" y="0"/>
          <a:chExt cx="0" cy="0"/>
        </a:xfrm>
      </p:grpSpPr>
      <p:sp>
        <p:nvSpPr>
          <p:cNvPr name="Freeform 2" id="2"/>
          <p:cNvSpPr/>
          <p:nvPr/>
        </p:nvSpPr>
        <p:spPr>
          <a:xfrm flipH="false" flipV="false" rot="-445925">
            <a:off x="3142738" y="-769394"/>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8798399">
            <a:off x="8466276" y="-9590538"/>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3283157">
            <a:off x="-1501206" y="7329841"/>
            <a:ext cx="5624862" cy="7545546"/>
          </a:xfrm>
          <a:custGeom>
            <a:avLst/>
            <a:gdLst/>
            <a:ahLst/>
            <a:cxnLst/>
            <a:rect r="r" b="b" t="t" l="l"/>
            <a:pathLst>
              <a:path h="7545546" w="5624862">
                <a:moveTo>
                  <a:pt x="0" y="0"/>
                </a:moveTo>
                <a:lnTo>
                  <a:pt x="5624862" y="0"/>
                </a:lnTo>
                <a:lnTo>
                  <a:pt x="5624862" y="7545546"/>
                </a:lnTo>
                <a:lnTo>
                  <a:pt x="0" y="75455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2770156">
            <a:off x="-2577184" y="-2165857"/>
            <a:ext cx="5154368" cy="4995052"/>
          </a:xfrm>
          <a:custGeom>
            <a:avLst/>
            <a:gdLst/>
            <a:ahLst/>
            <a:cxnLst/>
            <a:rect r="r" b="b" t="t" l="l"/>
            <a:pathLst>
              <a:path h="4995052" w="5154368">
                <a:moveTo>
                  <a:pt x="0" y="0"/>
                </a:moveTo>
                <a:lnTo>
                  <a:pt x="5154368" y="0"/>
                </a:lnTo>
                <a:lnTo>
                  <a:pt x="5154368" y="4995051"/>
                </a:lnTo>
                <a:lnTo>
                  <a:pt x="0" y="49950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2770156">
            <a:off x="15710816" y="8522875"/>
            <a:ext cx="5154368" cy="4995052"/>
          </a:xfrm>
          <a:custGeom>
            <a:avLst/>
            <a:gdLst/>
            <a:ahLst/>
            <a:cxnLst/>
            <a:rect r="r" b="b" t="t" l="l"/>
            <a:pathLst>
              <a:path h="4995052" w="5154368">
                <a:moveTo>
                  <a:pt x="0" y="0"/>
                </a:moveTo>
                <a:lnTo>
                  <a:pt x="5154368" y="0"/>
                </a:lnTo>
                <a:lnTo>
                  <a:pt x="5154368" y="4995052"/>
                </a:lnTo>
                <a:lnTo>
                  <a:pt x="0" y="49950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7" id="7"/>
          <p:cNvSpPr txBox="true"/>
          <p:nvPr/>
        </p:nvSpPr>
        <p:spPr>
          <a:xfrm rot="0">
            <a:off x="2526598" y="3248166"/>
            <a:ext cx="13776722" cy="4631195"/>
          </a:xfrm>
          <a:prstGeom prst="rect">
            <a:avLst/>
          </a:prstGeom>
        </p:spPr>
        <p:txBody>
          <a:bodyPr anchor="t" rtlCol="false" tIns="0" lIns="0" bIns="0" rIns="0">
            <a:spAutoFit/>
          </a:bodyPr>
          <a:lstStyle/>
          <a:p>
            <a:pPr algn="ctr">
              <a:lnSpc>
                <a:spcPts val="4612"/>
              </a:lnSpc>
            </a:pPr>
            <a:r>
              <a:rPr lang="en-US" sz="3294" spc="72">
                <a:solidFill>
                  <a:srgbClr val="152540"/>
                </a:solidFill>
                <a:latin typeface="Glacial Indifference"/>
                <a:ea typeface="Glacial Indifference"/>
                <a:cs typeface="Glacial Indifference"/>
                <a:sym typeface="Glacial Indifference"/>
              </a:rPr>
              <a:t>El c</a:t>
            </a:r>
            <a:r>
              <a:rPr lang="en-US" sz="3294" spc="72" strike="noStrike" u="none">
                <a:solidFill>
                  <a:srgbClr val="152540"/>
                </a:solidFill>
                <a:latin typeface="Glacial Indifference"/>
                <a:ea typeface="Glacial Indifference"/>
                <a:cs typeface="Glacial Indifference"/>
                <a:sym typeface="Glacial Indifference"/>
              </a:rPr>
              <a:t>osismo es un vicio del lenguaje que consiste en usar la palabra cosa de forma excesiva o innecesaria, en lugar de emplear términos más precisos que describan mejor lo que se quiere expresar.</a:t>
            </a:r>
          </a:p>
          <a:p>
            <a:pPr algn="ctr">
              <a:lnSpc>
                <a:spcPts val="4612"/>
              </a:lnSpc>
            </a:pPr>
            <a:r>
              <a:rPr lang="en-US" sz="3294" spc="72" strike="noStrike" u="none">
                <a:solidFill>
                  <a:srgbClr val="152540"/>
                </a:solidFill>
                <a:latin typeface="Glacial Indifference"/>
                <a:ea typeface="Glacial Indifference"/>
                <a:cs typeface="Glacial Indifference"/>
                <a:sym typeface="Glacial Indifference"/>
              </a:rPr>
              <a:t>S</a:t>
            </a:r>
            <a:r>
              <a:rPr lang="en-US" sz="3294" spc="72" strike="noStrike" u="none">
                <a:solidFill>
                  <a:srgbClr val="152540"/>
                </a:solidFill>
                <a:latin typeface="Glacial Indifference"/>
                <a:ea typeface="Glacial Indifference"/>
                <a:cs typeface="Glacial Indifference"/>
                <a:sym typeface="Glacial Indifference"/>
              </a:rPr>
              <a:t>egún la Real Academia Española, el uso impreciso del vocabulario empobrece la expresión y reduce la claridad del mensaje.</a:t>
            </a:r>
          </a:p>
          <a:p>
            <a:pPr algn="ctr">
              <a:lnSpc>
                <a:spcPts val="4612"/>
              </a:lnSpc>
            </a:pPr>
            <a:r>
              <a:rPr lang="en-US" sz="3294" spc="72" strike="noStrike" u="none">
                <a:solidFill>
                  <a:srgbClr val="152540"/>
                </a:solidFill>
                <a:latin typeface="Glacial Indifference"/>
                <a:ea typeface="Glacial Indifference"/>
                <a:cs typeface="Glacial Indifference"/>
                <a:sym typeface="Glacial Indifference"/>
              </a:rPr>
              <a:t>El lingüista Manuel Seco señala que el cosismo ocurre cuando se sustituye una palabra específica por otra demasiado general, como cosa, lo que provoca ambigüedad.</a:t>
            </a:r>
          </a:p>
        </p:txBody>
      </p:sp>
      <p:sp>
        <p:nvSpPr>
          <p:cNvPr name="TextBox 8" id="8"/>
          <p:cNvSpPr txBox="true"/>
          <p:nvPr/>
        </p:nvSpPr>
        <p:spPr>
          <a:xfrm rot="0">
            <a:off x="5643351" y="1724289"/>
            <a:ext cx="7543218" cy="1028008"/>
          </a:xfrm>
          <a:prstGeom prst="rect">
            <a:avLst/>
          </a:prstGeom>
        </p:spPr>
        <p:txBody>
          <a:bodyPr anchor="t" rtlCol="false" tIns="0" lIns="0" bIns="0" rIns="0">
            <a:spAutoFit/>
          </a:bodyPr>
          <a:lstStyle/>
          <a:p>
            <a:pPr algn="ctr">
              <a:lnSpc>
                <a:spcPts val="8438"/>
              </a:lnSpc>
            </a:pPr>
            <a:r>
              <a:rPr lang="en-US" b="true" sz="6027" spc="566">
                <a:solidFill>
                  <a:srgbClr val="152540"/>
                </a:solidFill>
                <a:latin typeface="Glacial Indifference Bold"/>
                <a:ea typeface="Glacial Indifference Bold"/>
                <a:cs typeface="Glacial Indifference Bold"/>
                <a:sym typeface="Glacial Indifference Bold"/>
              </a:rPr>
              <a:t>5. COSISMO.</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EDE8E4"/>
        </a:solidFill>
      </p:bgPr>
    </p:bg>
    <p:spTree>
      <p:nvGrpSpPr>
        <p:cNvPr id="1" name=""/>
        <p:cNvGrpSpPr/>
        <p:nvPr/>
      </p:nvGrpSpPr>
      <p:grpSpPr>
        <a:xfrm>
          <a:off x="0" y="0"/>
          <a:ext cx="0" cy="0"/>
          <a:chOff x="0" y="0"/>
          <a:chExt cx="0" cy="0"/>
        </a:xfrm>
      </p:grpSpPr>
      <p:sp>
        <p:nvSpPr>
          <p:cNvPr name="Freeform 2" id="2"/>
          <p:cNvSpPr/>
          <p:nvPr/>
        </p:nvSpPr>
        <p:spPr>
          <a:xfrm flipH="false" flipV="false" rot="-445925">
            <a:off x="3142738" y="-769394"/>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8798399">
            <a:off x="8466276" y="-9590538"/>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3283157">
            <a:off x="-1501206" y="7329841"/>
            <a:ext cx="5624862" cy="7545546"/>
          </a:xfrm>
          <a:custGeom>
            <a:avLst/>
            <a:gdLst/>
            <a:ahLst/>
            <a:cxnLst/>
            <a:rect r="r" b="b" t="t" l="l"/>
            <a:pathLst>
              <a:path h="7545546" w="5624862">
                <a:moveTo>
                  <a:pt x="0" y="0"/>
                </a:moveTo>
                <a:lnTo>
                  <a:pt x="5624862" y="0"/>
                </a:lnTo>
                <a:lnTo>
                  <a:pt x="5624862" y="7545546"/>
                </a:lnTo>
                <a:lnTo>
                  <a:pt x="0" y="75455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2770156">
            <a:off x="-2577184" y="-2165857"/>
            <a:ext cx="5154368" cy="4995052"/>
          </a:xfrm>
          <a:custGeom>
            <a:avLst/>
            <a:gdLst/>
            <a:ahLst/>
            <a:cxnLst/>
            <a:rect r="r" b="b" t="t" l="l"/>
            <a:pathLst>
              <a:path h="4995052" w="5154368">
                <a:moveTo>
                  <a:pt x="0" y="0"/>
                </a:moveTo>
                <a:lnTo>
                  <a:pt x="5154368" y="0"/>
                </a:lnTo>
                <a:lnTo>
                  <a:pt x="5154368" y="4995051"/>
                </a:lnTo>
                <a:lnTo>
                  <a:pt x="0" y="49950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2770156">
            <a:off x="15710816" y="8522875"/>
            <a:ext cx="5154368" cy="4995052"/>
          </a:xfrm>
          <a:custGeom>
            <a:avLst/>
            <a:gdLst/>
            <a:ahLst/>
            <a:cxnLst/>
            <a:rect r="r" b="b" t="t" l="l"/>
            <a:pathLst>
              <a:path h="4995052" w="5154368">
                <a:moveTo>
                  <a:pt x="0" y="0"/>
                </a:moveTo>
                <a:lnTo>
                  <a:pt x="5154368" y="0"/>
                </a:lnTo>
                <a:lnTo>
                  <a:pt x="5154368" y="4995052"/>
                </a:lnTo>
                <a:lnTo>
                  <a:pt x="0" y="49950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7" id="7"/>
          <p:cNvSpPr txBox="true"/>
          <p:nvPr/>
        </p:nvSpPr>
        <p:spPr>
          <a:xfrm rot="0">
            <a:off x="2255639" y="2518844"/>
            <a:ext cx="13776722" cy="6155830"/>
          </a:xfrm>
          <a:prstGeom prst="rect">
            <a:avLst/>
          </a:prstGeom>
        </p:spPr>
        <p:txBody>
          <a:bodyPr anchor="t" rtlCol="false" tIns="0" lIns="0" bIns="0" rIns="0">
            <a:spAutoFit/>
          </a:bodyPr>
          <a:lstStyle/>
          <a:p>
            <a:pPr algn="ctr">
              <a:lnSpc>
                <a:spcPts val="4052"/>
              </a:lnSpc>
            </a:pPr>
            <a:r>
              <a:rPr lang="en-US" sz="2894" spc="63">
                <a:solidFill>
                  <a:srgbClr val="152540"/>
                </a:solidFill>
                <a:latin typeface="Glacial Indifference"/>
                <a:ea typeface="Glacial Indifference"/>
                <a:cs typeface="Glacial Indifference"/>
                <a:sym typeface="Glacial Indifference"/>
              </a:rPr>
              <a:t>Incorrect</a:t>
            </a:r>
            <a:r>
              <a:rPr lang="en-US" sz="2894" spc="63" strike="noStrike" u="none">
                <a:solidFill>
                  <a:srgbClr val="152540"/>
                </a:solidFill>
                <a:latin typeface="Glacial Indifference"/>
                <a:ea typeface="Glacial Indifference"/>
                <a:cs typeface="Glacial Indifference"/>
                <a:sym typeface="Glacial Indifference"/>
              </a:rPr>
              <a:t>o:</a:t>
            </a:r>
          </a:p>
          <a:p>
            <a:pPr algn="ctr" marL="624922" indent="-312461" lvl="1">
              <a:lnSpc>
                <a:spcPts val="4052"/>
              </a:lnSpc>
              <a:buFont typeface="Arial"/>
              <a:buChar char="•"/>
            </a:pPr>
            <a:r>
              <a:rPr lang="en-US" sz="2894" spc="63" strike="noStrike" u="none">
                <a:solidFill>
                  <a:srgbClr val="152540"/>
                </a:solidFill>
                <a:latin typeface="Glacial Indifference"/>
                <a:ea typeface="Glacial Indifference"/>
                <a:cs typeface="Glacial Indifference"/>
                <a:sym typeface="Glacial Indifference"/>
              </a:rPr>
              <a:t>Dame esa cosa para escribir.</a:t>
            </a:r>
          </a:p>
          <a:p>
            <a:pPr algn="ctr" marL="624922" indent="-312461" lvl="1">
              <a:lnSpc>
                <a:spcPts val="4052"/>
              </a:lnSpc>
              <a:buFont typeface="Arial"/>
              <a:buChar char="•"/>
            </a:pPr>
          </a:p>
          <a:p>
            <a:pPr algn="ctr">
              <a:lnSpc>
                <a:spcPts val="4052"/>
              </a:lnSpc>
            </a:pPr>
            <a:r>
              <a:rPr lang="en-US" sz="2894" spc="63" strike="noStrike" u="none">
                <a:solidFill>
                  <a:srgbClr val="152540"/>
                </a:solidFill>
                <a:latin typeface="Glacial Indifference"/>
                <a:ea typeface="Glacial Indifference"/>
                <a:cs typeface="Glacial Indifference"/>
                <a:sym typeface="Glacial Indifference"/>
              </a:rPr>
              <a:t>Corr</a:t>
            </a:r>
            <a:r>
              <a:rPr lang="en-US" sz="2894" spc="63" strike="noStrike" u="none">
                <a:solidFill>
                  <a:srgbClr val="152540"/>
                </a:solidFill>
                <a:latin typeface="Glacial Indifference"/>
                <a:ea typeface="Glacial Indifference"/>
                <a:cs typeface="Glacial Indifference"/>
                <a:sym typeface="Glacial Indifference"/>
              </a:rPr>
              <a:t>ecto:</a:t>
            </a:r>
          </a:p>
          <a:p>
            <a:pPr algn="ctr" marL="624922" indent="-312461" lvl="1">
              <a:lnSpc>
                <a:spcPts val="4052"/>
              </a:lnSpc>
              <a:buFont typeface="Arial"/>
              <a:buChar char="•"/>
            </a:pPr>
            <a:r>
              <a:rPr lang="en-US" sz="2894" spc="63" strike="noStrike" u="none">
                <a:solidFill>
                  <a:srgbClr val="152540"/>
                </a:solidFill>
                <a:latin typeface="Glacial Indifference"/>
                <a:ea typeface="Glacial Indifference"/>
                <a:cs typeface="Glacial Indifference"/>
                <a:sym typeface="Glacial Indifference"/>
              </a:rPr>
              <a:t>Dame ese lápiz para escribir.</a:t>
            </a:r>
          </a:p>
          <a:p>
            <a:pPr algn="ctr" marL="624922" indent="-312461" lvl="1">
              <a:lnSpc>
                <a:spcPts val="4052"/>
              </a:lnSpc>
              <a:buFont typeface="Arial"/>
              <a:buChar char="•"/>
            </a:pPr>
          </a:p>
          <a:p>
            <a:pPr algn="ctr">
              <a:lnSpc>
                <a:spcPts val="4052"/>
              </a:lnSpc>
            </a:pPr>
            <a:r>
              <a:rPr lang="en-US" sz="2894" spc="63" strike="noStrike" u="none">
                <a:solidFill>
                  <a:srgbClr val="152540"/>
                </a:solidFill>
                <a:latin typeface="Glacial Indifference"/>
                <a:ea typeface="Glacial Indifference"/>
                <a:cs typeface="Glacial Indifference"/>
                <a:sym typeface="Glacial Indifference"/>
              </a:rPr>
              <a:t>In</a:t>
            </a:r>
            <a:r>
              <a:rPr lang="en-US" sz="2894" spc="63" strike="noStrike" u="none">
                <a:solidFill>
                  <a:srgbClr val="152540"/>
                </a:solidFill>
                <a:latin typeface="Glacial Indifference"/>
                <a:ea typeface="Glacial Indifference"/>
                <a:cs typeface="Glacial Indifference"/>
                <a:sym typeface="Glacial Indifference"/>
              </a:rPr>
              <a:t>correcto:</a:t>
            </a:r>
          </a:p>
          <a:p>
            <a:pPr algn="ctr" marL="624922" indent="-312461" lvl="1">
              <a:lnSpc>
                <a:spcPts val="4052"/>
              </a:lnSpc>
              <a:buFont typeface="Arial"/>
              <a:buChar char="•"/>
            </a:pPr>
            <a:r>
              <a:rPr lang="en-US" sz="2894" spc="63" strike="noStrike" u="none">
                <a:solidFill>
                  <a:srgbClr val="152540"/>
                </a:solidFill>
                <a:latin typeface="Glacial Indifference"/>
                <a:ea typeface="Glacial Indifference"/>
                <a:cs typeface="Glacial Indifference"/>
                <a:sym typeface="Glacial Indifference"/>
              </a:rPr>
              <a:t>Hay una cosa rara en la computadora.</a:t>
            </a:r>
          </a:p>
          <a:p>
            <a:pPr algn="ctr" marL="624922" indent="-312461" lvl="1">
              <a:lnSpc>
                <a:spcPts val="4052"/>
              </a:lnSpc>
              <a:buFont typeface="Arial"/>
              <a:buChar char="•"/>
            </a:pPr>
          </a:p>
          <a:p>
            <a:pPr algn="ctr">
              <a:lnSpc>
                <a:spcPts val="4052"/>
              </a:lnSpc>
            </a:pPr>
            <a:r>
              <a:rPr lang="en-US" sz="2894" spc="63" strike="noStrike" u="none">
                <a:solidFill>
                  <a:srgbClr val="152540"/>
                </a:solidFill>
                <a:latin typeface="Glacial Indifference"/>
                <a:ea typeface="Glacial Indifference"/>
                <a:cs typeface="Glacial Indifference"/>
                <a:sym typeface="Glacial Indifference"/>
              </a:rPr>
              <a:t>Correcto:</a:t>
            </a:r>
          </a:p>
          <a:p>
            <a:pPr algn="ctr">
              <a:lnSpc>
                <a:spcPts val="4052"/>
              </a:lnSpc>
            </a:pPr>
            <a:r>
              <a:rPr lang="en-US" sz="2894" spc="63" strike="noStrike" u="none">
                <a:solidFill>
                  <a:srgbClr val="152540"/>
                </a:solidFill>
                <a:latin typeface="Glacial Indifference"/>
                <a:ea typeface="Glacial Indifference"/>
                <a:cs typeface="Glacial Indifference"/>
                <a:sym typeface="Glacial Indifference"/>
              </a:rPr>
              <a:t>Hay un error raro en la computadora.</a:t>
            </a:r>
          </a:p>
          <a:p>
            <a:pPr algn="ctr">
              <a:lnSpc>
                <a:spcPts val="4052"/>
              </a:lnSpc>
            </a:pPr>
          </a:p>
        </p:txBody>
      </p:sp>
      <p:sp>
        <p:nvSpPr>
          <p:cNvPr name="TextBox 8" id="8"/>
          <p:cNvSpPr txBox="true"/>
          <p:nvPr/>
        </p:nvSpPr>
        <p:spPr>
          <a:xfrm rot="0">
            <a:off x="5643351" y="1354866"/>
            <a:ext cx="7543218" cy="1028008"/>
          </a:xfrm>
          <a:prstGeom prst="rect">
            <a:avLst/>
          </a:prstGeom>
        </p:spPr>
        <p:txBody>
          <a:bodyPr anchor="t" rtlCol="false" tIns="0" lIns="0" bIns="0" rIns="0">
            <a:spAutoFit/>
          </a:bodyPr>
          <a:lstStyle/>
          <a:p>
            <a:pPr algn="ctr">
              <a:lnSpc>
                <a:spcPts val="8438"/>
              </a:lnSpc>
            </a:pPr>
            <a:r>
              <a:rPr lang="en-US" b="true" sz="6027" spc="566">
                <a:solidFill>
                  <a:srgbClr val="152540"/>
                </a:solidFill>
                <a:latin typeface="Glacial Indifference Bold"/>
                <a:ea typeface="Glacial Indifference Bold"/>
                <a:cs typeface="Glacial Indifference Bold"/>
                <a:sym typeface="Glacial Indifference Bold"/>
              </a:rPr>
              <a:t>EJEMPLOS:</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EDE8E4"/>
        </a:solidFill>
      </p:bgPr>
    </p:bg>
    <p:spTree>
      <p:nvGrpSpPr>
        <p:cNvPr id="1" name=""/>
        <p:cNvGrpSpPr/>
        <p:nvPr/>
      </p:nvGrpSpPr>
      <p:grpSpPr>
        <a:xfrm>
          <a:off x="0" y="0"/>
          <a:ext cx="0" cy="0"/>
          <a:chOff x="0" y="0"/>
          <a:chExt cx="0" cy="0"/>
        </a:xfrm>
      </p:grpSpPr>
      <p:sp>
        <p:nvSpPr>
          <p:cNvPr name="Freeform 2" id="2"/>
          <p:cNvSpPr/>
          <p:nvPr/>
        </p:nvSpPr>
        <p:spPr>
          <a:xfrm flipH="false" flipV="false" rot="-445925">
            <a:off x="3142738" y="-769394"/>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8798399">
            <a:off x="8466276" y="-9590538"/>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3283157">
            <a:off x="-1501206" y="7329841"/>
            <a:ext cx="5624862" cy="7545546"/>
          </a:xfrm>
          <a:custGeom>
            <a:avLst/>
            <a:gdLst/>
            <a:ahLst/>
            <a:cxnLst/>
            <a:rect r="r" b="b" t="t" l="l"/>
            <a:pathLst>
              <a:path h="7545546" w="5624862">
                <a:moveTo>
                  <a:pt x="0" y="0"/>
                </a:moveTo>
                <a:lnTo>
                  <a:pt x="5624862" y="0"/>
                </a:lnTo>
                <a:lnTo>
                  <a:pt x="5624862" y="7545546"/>
                </a:lnTo>
                <a:lnTo>
                  <a:pt x="0" y="75455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2770156">
            <a:off x="-2577184" y="-2165857"/>
            <a:ext cx="5154368" cy="4995052"/>
          </a:xfrm>
          <a:custGeom>
            <a:avLst/>
            <a:gdLst/>
            <a:ahLst/>
            <a:cxnLst/>
            <a:rect r="r" b="b" t="t" l="l"/>
            <a:pathLst>
              <a:path h="4995052" w="5154368">
                <a:moveTo>
                  <a:pt x="0" y="0"/>
                </a:moveTo>
                <a:lnTo>
                  <a:pt x="5154368" y="0"/>
                </a:lnTo>
                <a:lnTo>
                  <a:pt x="5154368" y="4995051"/>
                </a:lnTo>
                <a:lnTo>
                  <a:pt x="0" y="49950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2770156">
            <a:off x="15710816" y="8522875"/>
            <a:ext cx="5154368" cy="4995052"/>
          </a:xfrm>
          <a:custGeom>
            <a:avLst/>
            <a:gdLst/>
            <a:ahLst/>
            <a:cxnLst/>
            <a:rect r="r" b="b" t="t" l="l"/>
            <a:pathLst>
              <a:path h="4995052" w="5154368">
                <a:moveTo>
                  <a:pt x="0" y="0"/>
                </a:moveTo>
                <a:lnTo>
                  <a:pt x="5154368" y="0"/>
                </a:lnTo>
                <a:lnTo>
                  <a:pt x="5154368" y="4995052"/>
                </a:lnTo>
                <a:lnTo>
                  <a:pt x="0" y="49950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7" id="7"/>
          <p:cNvSpPr txBox="true"/>
          <p:nvPr/>
        </p:nvSpPr>
        <p:spPr>
          <a:xfrm rot="0">
            <a:off x="2255639" y="4372587"/>
            <a:ext cx="13776722" cy="1526680"/>
          </a:xfrm>
          <a:prstGeom prst="rect">
            <a:avLst/>
          </a:prstGeom>
        </p:spPr>
        <p:txBody>
          <a:bodyPr anchor="t" rtlCol="false" tIns="0" lIns="0" bIns="0" rIns="0">
            <a:spAutoFit/>
          </a:bodyPr>
          <a:lstStyle/>
          <a:p>
            <a:pPr algn="ctr">
              <a:lnSpc>
                <a:spcPts val="4052"/>
              </a:lnSpc>
            </a:pPr>
            <a:r>
              <a:rPr lang="en-US" sz="2894" spc="63">
                <a:solidFill>
                  <a:srgbClr val="152540"/>
                </a:solidFill>
                <a:latin typeface="Glacial Indifference"/>
                <a:ea typeface="Glacial Indifference"/>
                <a:cs typeface="Glacial Indifference"/>
                <a:sym typeface="Glacial Indifference"/>
              </a:rPr>
              <a:t>R</a:t>
            </a:r>
            <a:r>
              <a:rPr lang="en-US" sz="2894" spc="63" strike="noStrike" u="none">
                <a:solidFill>
                  <a:srgbClr val="152540"/>
                </a:solidFill>
                <a:latin typeface="Glacial Indifference"/>
                <a:ea typeface="Glacial Indifference"/>
                <a:cs typeface="Glacial Indifference"/>
                <a:sym typeface="Glacial Indifference"/>
              </a:rPr>
              <a:t>eemplaza la palabra (c</a:t>
            </a:r>
            <a:r>
              <a:rPr lang="en-US" sz="2894" spc="63" strike="noStrike" u="none">
                <a:solidFill>
                  <a:srgbClr val="152540"/>
                </a:solidFill>
                <a:latin typeface="Glacial Indifference"/>
                <a:ea typeface="Glacial Indifference"/>
                <a:cs typeface="Glacial Indifference"/>
                <a:sym typeface="Glacial Indifference"/>
              </a:rPr>
              <a:t>os</a:t>
            </a:r>
            <a:r>
              <a:rPr lang="en-US" sz="2894" spc="63" strike="noStrike" u="none">
                <a:solidFill>
                  <a:srgbClr val="152540"/>
                </a:solidFill>
                <a:latin typeface="Glacial Indifference"/>
                <a:ea typeface="Glacial Indifference"/>
                <a:cs typeface="Glacial Indifference"/>
                <a:sym typeface="Glacial Indifference"/>
              </a:rPr>
              <a:t>a) por un térmi</a:t>
            </a:r>
            <a:r>
              <a:rPr lang="en-US" sz="2894" spc="63" strike="noStrike" u="none">
                <a:solidFill>
                  <a:srgbClr val="152540"/>
                </a:solidFill>
                <a:latin typeface="Glacial Indifference"/>
                <a:ea typeface="Glacial Indifference"/>
                <a:cs typeface="Glacial Indifference"/>
                <a:sym typeface="Glacial Indifference"/>
              </a:rPr>
              <a:t>n</a:t>
            </a:r>
            <a:r>
              <a:rPr lang="en-US" sz="2894" spc="63" strike="noStrike" u="none">
                <a:solidFill>
                  <a:srgbClr val="152540"/>
                </a:solidFill>
                <a:latin typeface="Glacial Indifference"/>
                <a:ea typeface="Glacial Indifference"/>
                <a:cs typeface="Glacial Indifference"/>
                <a:sym typeface="Glacial Indifference"/>
              </a:rPr>
              <a:t>o más preciso.</a:t>
            </a:r>
          </a:p>
          <a:p>
            <a:pPr algn="ctr">
              <a:lnSpc>
                <a:spcPts val="4052"/>
              </a:lnSpc>
            </a:pPr>
            <a:r>
              <a:rPr lang="en-US" sz="2894" spc="63" strike="noStrike" u="none">
                <a:solidFill>
                  <a:srgbClr val="152540"/>
                </a:solidFill>
                <a:latin typeface="Glacial Indifference"/>
                <a:ea typeface="Glacial Indifference"/>
                <a:cs typeface="Glacial Indifference"/>
                <a:sym typeface="Glacial Indifference"/>
              </a:rPr>
              <a:t>Pás</a:t>
            </a:r>
            <a:r>
              <a:rPr lang="en-US" sz="2894" spc="63" strike="noStrike" u="none">
                <a:solidFill>
                  <a:srgbClr val="152540"/>
                </a:solidFill>
                <a:latin typeface="Glacial Indifference"/>
                <a:ea typeface="Glacial Indifference"/>
                <a:cs typeface="Glacial Indifference"/>
                <a:sym typeface="Glacial Indifference"/>
              </a:rPr>
              <a:t>ame esa cosa que sirve para abrir la puerta.</a:t>
            </a:r>
          </a:p>
          <a:p>
            <a:pPr algn="ctr">
              <a:lnSpc>
                <a:spcPts val="4052"/>
              </a:lnSpc>
            </a:pPr>
          </a:p>
        </p:txBody>
      </p:sp>
      <p:sp>
        <p:nvSpPr>
          <p:cNvPr name="TextBox 8" id="8"/>
          <p:cNvSpPr txBox="true"/>
          <p:nvPr/>
        </p:nvSpPr>
        <p:spPr>
          <a:xfrm rot="0">
            <a:off x="5372391" y="1885985"/>
            <a:ext cx="7543218" cy="1819852"/>
          </a:xfrm>
          <a:prstGeom prst="rect">
            <a:avLst/>
          </a:prstGeom>
        </p:spPr>
        <p:txBody>
          <a:bodyPr anchor="t" rtlCol="false" tIns="0" lIns="0" bIns="0" rIns="0">
            <a:spAutoFit/>
          </a:bodyPr>
          <a:lstStyle/>
          <a:p>
            <a:pPr algn="ctr">
              <a:lnSpc>
                <a:spcPts val="7318"/>
              </a:lnSpc>
            </a:pPr>
            <a:r>
              <a:rPr lang="en-US" b="true" sz="5227" spc="491">
                <a:solidFill>
                  <a:srgbClr val="152540"/>
                </a:solidFill>
                <a:latin typeface="Glacial Indifference Bold"/>
                <a:ea typeface="Glacial Indifference Bold"/>
                <a:cs typeface="Glacial Indifference Bold"/>
                <a:sym typeface="Glacial Indifference Bold"/>
              </a:rPr>
              <a:t>EJERCICIO DE APLICACIÓN.</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EDE8E4"/>
        </a:solidFill>
      </p:bgPr>
    </p:bg>
    <p:spTree>
      <p:nvGrpSpPr>
        <p:cNvPr id="1" name=""/>
        <p:cNvGrpSpPr/>
        <p:nvPr/>
      </p:nvGrpSpPr>
      <p:grpSpPr>
        <a:xfrm>
          <a:off x="0" y="0"/>
          <a:ext cx="0" cy="0"/>
          <a:chOff x="0" y="0"/>
          <a:chExt cx="0" cy="0"/>
        </a:xfrm>
      </p:grpSpPr>
      <p:sp>
        <p:nvSpPr>
          <p:cNvPr name="Freeform 2" id="2"/>
          <p:cNvSpPr/>
          <p:nvPr/>
        </p:nvSpPr>
        <p:spPr>
          <a:xfrm flipH="false" flipV="false" rot="-445925">
            <a:off x="3142738" y="-769394"/>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8798399">
            <a:off x="8466276" y="-9590538"/>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3283157">
            <a:off x="-1501206" y="7329841"/>
            <a:ext cx="5624862" cy="7545546"/>
          </a:xfrm>
          <a:custGeom>
            <a:avLst/>
            <a:gdLst/>
            <a:ahLst/>
            <a:cxnLst/>
            <a:rect r="r" b="b" t="t" l="l"/>
            <a:pathLst>
              <a:path h="7545546" w="5624862">
                <a:moveTo>
                  <a:pt x="0" y="0"/>
                </a:moveTo>
                <a:lnTo>
                  <a:pt x="5624862" y="0"/>
                </a:lnTo>
                <a:lnTo>
                  <a:pt x="5624862" y="7545546"/>
                </a:lnTo>
                <a:lnTo>
                  <a:pt x="0" y="75455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2770156">
            <a:off x="-2577184" y="-2165857"/>
            <a:ext cx="5154368" cy="4995052"/>
          </a:xfrm>
          <a:custGeom>
            <a:avLst/>
            <a:gdLst/>
            <a:ahLst/>
            <a:cxnLst/>
            <a:rect r="r" b="b" t="t" l="l"/>
            <a:pathLst>
              <a:path h="4995052" w="5154368">
                <a:moveTo>
                  <a:pt x="0" y="0"/>
                </a:moveTo>
                <a:lnTo>
                  <a:pt x="5154368" y="0"/>
                </a:lnTo>
                <a:lnTo>
                  <a:pt x="5154368" y="4995051"/>
                </a:lnTo>
                <a:lnTo>
                  <a:pt x="0" y="49950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2770156">
            <a:off x="15710816" y="8522875"/>
            <a:ext cx="5154368" cy="4995052"/>
          </a:xfrm>
          <a:custGeom>
            <a:avLst/>
            <a:gdLst/>
            <a:ahLst/>
            <a:cxnLst/>
            <a:rect r="r" b="b" t="t" l="l"/>
            <a:pathLst>
              <a:path h="4995052" w="5154368">
                <a:moveTo>
                  <a:pt x="0" y="0"/>
                </a:moveTo>
                <a:lnTo>
                  <a:pt x="5154368" y="0"/>
                </a:lnTo>
                <a:lnTo>
                  <a:pt x="5154368" y="4995052"/>
                </a:lnTo>
                <a:lnTo>
                  <a:pt x="0" y="49950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7" id="7"/>
          <p:cNvSpPr txBox="true"/>
          <p:nvPr/>
        </p:nvSpPr>
        <p:spPr>
          <a:xfrm rot="0">
            <a:off x="2526598" y="3106080"/>
            <a:ext cx="13776722" cy="3469145"/>
          </a:xfrm>
          <a:prstGeom prst="rect">
            <a:avLst/>
          </a:prstGeom>
        </p:spPr>
        <p:txBody>
          <a:bodyPr anchor="t" rtlCol="false" tIns="0" lIns="0" bIns="0" rIns="0">
            <a:spAutoFit/>
          </a:bodyPr>
          <a:lstStyle/>
          <a:p>
            <a:pPr algn="ctr">
              <a:lnSpc>
                <a:spcPts val="4612"/>
              </a:lnSpc>
            </a:pPr>
            <a:r>
              <a:rPr lang="en-US" sz="3294" spc="72">
                <a:solidFill>
                  <a:srgbClr val="152540"/>
                </a:solidFill>
                <a:latin typeface="Glacial Indifference"/>
                <a:ea typeface="Glacial Indifference"/>
                <a:cs typeface="Glacial Indifference"/>
                <a:sym typeface="Glacial Indifference"/>
              </a:rPr>
              <a:t>El</a:t>
            </a:r>
            <a:r>
              <a:rPr lang="en-US" sz="3294" spc="72" strike="noStrike" u="none">
                <a:solidFill>
                  <a:srgbClr val="152540"/>
                </a:solidFill>
                <a:latin typeface="Glacial Indifference"/>
                <a:ea typeface="Glacial Indifference"/>
                <a:cs typeface="Glacial Indifference"/>
                <a:sym typeface="Glacial Indifference"/>
              </a:rPr>
              <a:t> dequeísmo es un vicio del lenguaje que consiste en usar incorrectamente la expresión “de que” cuando solo debería emplearse “que”.</a:t>
            </a:r>
          </a:p>
          <a:p>
            <a:pPr algn="ctr">
              <a:lnSpc>
                <a:spcPts val="4612"/>
              </a:lnSpc>
            </a:pPr>
            <a:r>
              <a:rPr lang="en-US" sz="3294" spc="72" strike="noStrike" u="none">
                <a:solidFill>
                  <a:srgbClr val="152540"/>
                </a:solidFill>
                <a:latin typeface="Glacial Indifference"/>
                <a:ea typeface="Glacial Indifference"/>
                <a:cs typeface="Glacial Indifference"/>
                <a:sym typeface="Glacial Indifference"/>
              </a:rPr>
              <a:t>Según la Real Academia Española, el dequeísmo ocurre cuando se introduce la preposición delante de la conjunción sin que el verbo lo requiera.</a:t>
            </a:r>
          </a:p>
        </p:txBody>
      </p:sp>
      <p:sp>
        <p:nvSpPr>
          <p:cNvPr name="TextBox 8" id="8"/>
          <p:cNvSpPr txBox="true"/>
          <p:nvPr/>
        </p:nvSpPr>
        <p:spPr>
          <a:xfrm rot="0">
            <a:off x="5643351" y="1425909"/>
            <a:ext cx="7543218" cy="1028008"/>
          </a:xfrm>
          <a:prstGeom prst="rect">
            <a:avLst/>
          </a:prstGeom>
        </p:spPr>
        <p:txBody>
          <a:bodyPr anchor="t" rtlCol="false" tIns="0" lIns="0" bIns="0" rIns="0">
            <a:spAutoFit/>
          </a:bodyPr>
          <a:lstStyle/>
          <a:p>
            <a:pPr algn="ctr">
              <a:lnSpc>
                <a:spcPts val="8438"/>
              </a:lnSpc>
            </a:pPr>
            <a:r>
              <a:rPr lang="en-US" b="true" sz="6027" spc="566">
                <a:solidFill>
                  <a:srgbClr val="152540"/>
                </a:solidFill>
                <a:latin typeface="Glacial Indifference Bold"/>
                <a:ea typeface="Glacial Indifference Bold"/>
                <a:cs typeface="Glacial Indifference Bold"/>
                <a:sym typeface="Glacial Indifference Bold"/>
              </a:rPr>
              <a:t>6. DEQUEÍSMO.</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EDE8E4"/>
        </a:solidFill>
      </p:bgPr>
    </p:bg>
    <p:spTree>
      <p:nvGrpSpPr>
        <p:cNvPr id="1" name=""/>
        <p:cNvGrpSpPr/>
        <p:nvPr/>
      </p:nvGrpSpPr>
      <p:grpSpPr>
        <a:xfrm>
          <a:off x="0" y="0"/>
          <a:ext cx="0" cy="0"/>
          <a:chOff x="0" y="0"/>
          <a:chExt cx="0" cy="0"/>
        </a:xfrm>
      </p:grpSpPr>
      <p:sp>
        <p:nvSpPr>
          <p:cNvPr name="Freeform 2" id="2"/>
          <p:cNvSpPr/>
          <p:nvPr/>
        </p:nvSpPr>
        <p:spPr>
          <a:xfrm flipH="false" flipV="false" rot="-445925">
            <a:off x="3142738" y="-769394"/>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8798399">
            <a:off x="8466276" y="-9590538"/>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3283157">
            <a:off x="-1501206" y="7329841"/>
            <a:ext cx="5624862" cy="7545546"/>
          </a:xfrm>
          <a:custGeom>
            <a:avLst/>
            <a:gdLst/>
            <a:ahLst/>
            <a:cxnLst/>
            <a:rect r="r" b="b" t="t" l="l"/>
            <a:pathLst>
              <a:path h="7545546" w="5624862">
                <a:moveTo>
                  <a:pt x="0" y="0"/>
                </a:moveTo>
                <a:lnTo>
                  <a:pt x="5624862" y="0"/>
                </a:lnTo>
                <a:lnTo>
                  <a:pt x="5624862" y="7545546"/>
                </a:lnTo>
                <a:lnTo>
                  <a:pt x="0" y="75455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2770156">
            <a:off x="-2577184" y="-2165857"/>
            <a:ext cx="5154368" cy="4995052"/>
          </a:xfrm>
          <a:custGeom>
            <a:avLst/>
            <a:gdLst/>
            <a:ahLst/>
            <a:cxnLst/>
            <a:rect r="r" b="b" t="t" l="l"/>
            <a:pathLst>
              <a:path h="4995052" w="5154368">
                <a:moveTo>
                  <a:pt x="0" y="0"/>
                </a:moveTo>
                <a:lnTo>
                  <a:pt x="5154368" y="0"/>
                </a:lnTo>
                <a:lnTo>
                  <a:pt x="5154368" y="4995051"/>
                </a:lnTo>
                <a:lnTo>
                  <a:pt x="0" y="49950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2770156">
            <a:off x="15710816" y="8522875"/>
            <a:ext cx="5154368" cy="4995052"/>
          </a:xfrm>
          <a:custGeom>
            <a:avLst/>
            <a:gdLst/>
            <a:ahLst/>
            <a:cxnLst/>
            <a:rect r="r" b="b" t="t" l="l"/>
            <a:pathLst>
              <a:path h="4995052" w="5154368">
                <a:moveTo>
                  <a:pt x="0" y="0"/>
                </a:moveTo>
                <a:lnTo>
                  <a:pt x="5154368" y="0"/>
                </a:lnTo>
                <a:lnTo>
                  <a:pt x="5154368" y="4995052"/>
                </a:lnTo>
                <a:lnTo>
                  <a:pt x="0" y="49950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7" id="7"/>
          <p:cNvSpPr txBox="true"/>
          <p:nvPr/>
        </p:nvSpPr>
        <p:spPr>
          <a:xfrm rot="0">
            <a:off x="2526598" y="2717765"/>
            <a:ext cx="13776722" cy="6670180"/>
          </a:xfrm>
          <a:prstGeom prst="rect">
            <a:avLst/>
          </a:prstGeom>
        </p:spPr>
        <p:txBody>
          <a:bodyPr anchor="t" rtlCol="false" tIns="0" lIns="0" bIns="0" rIns="0">
            <a:spAutoFit/>
          </a:bodyPr>
          <a:lstStyle/>
          <a:p>
            <a:pPr algn="ctr">
              <a:lnSpc>
                <a:spcPts val="4052"/>
              </a:lnSpc>
            </a:pPr>
            <a:r>
              <a:rPr lang="en-US" sz="2894" spc="63">
                <a:solidFill>
                  <a:srgbClr val="152540"/>
                </a:solidFill>
                <a:latin typeface="Glacial Indifference"/>
                <a:ea typeface="Glacial Indifference"/>
                <a:cs typeface="Glacial Indifference"/>
                <a:sym typeface="Glacial Indifference"/>
              </a:rPr>
              <a:t>Incorrect</a:t>
            </a:r>
            <a:r>
              <a:rPr lang="en-US" sz="2894" spc="63" strike="noStrike" u="none">
                <a:solidFill>
                  <a:srgbClr val="152540"/>
                </a:solidFill>
                <a:latin typeface="Glacial Indifference"/>
                <a:ea typeface="Glacial Indifference"/>
                <a:cs typeface="Glacial Indifference"/>
                <a:sym typeface="Glacial Indifference"/>
              </a:rPr>
              <a:t>o:</a:t>
            </a:r>
          </a:p>
          <a:p>
            <a:pPr algn="ctr" marL="624922" indent="-312461" lvl="1">
              <a:lnSpc>
                <a:spcPts val="4052"/>
              </a:lnSpc>
              <a:buFont typeface="Arial"/>
              <a:buChar char="•"/>
            </a:pPr>
            <a:r>
              <a:rPr lang="en-US" sz="2894" spc="63" strike="noStrike" u="none">
                <a:solidFill>
                  <a:srgbClr val="152540"/>
                </a:solidFill>
                <a:latin typeface="Glacial Indifference"/>
                <a:ea typeface="Glacial Indifference"/>
                <a:cs typeface="Glacial Indifference"/>
                <a:sym typeface="Glacial Indifference"/>
              </a:rPr>
              <a:t>Pienso de que llegará tarde.</a:t>
            </a:r>
          </a:p>
          <a:p>
            <a:pPr algn="ctr" marL="624922" indent="-312461" lvl="1">
              <a:lnSpc>
                <a:spcPts val="4052"/>
              </a:lnSpc>
              <a:buFont typeface="Arial"/>
              <a:buChar char="•"/>
            </a:pPr>
          </a:p>
          <a:p>
            <a:pPr algn="ctr">
              <a:lnSpc>
                <a:spcPts val="4052"/>
              </a:lnSpc>
            </a:pPr>
            <a:r>
              <a:rPr lang="en-US" sz="2894" spc="63" strike="noStrike" u="none">
                <a:solidFill>
                  <a:srgbClr val="152540"/>
                </a:solidFill>
                <a:latin typeface="Glacial Indifference"/>
                <a:ea typeface="Glacial Indifference"/>
                <a:cs typeface="Glacial Indifference"/>
                <a:sym typeface="Glacial Indifference"/>
              </a:rPr>
              <a:t>Correcto:</a:t>
            </a:r>
          </a:p>
          <a:p>
            <a:pPr algn="ctr" marL="624922" indent="-312461" lvl="1">
              <a:lnSpc>
                <a:spcPts val="4052"/>
              </a:lnSpc>
              <a:buFont typeface="Arial"/>
              <a:buChar char="•"/>
            </a:pPr>
            <a:r>
              <a:rPr lang="en-US" sz="2894" spc="63" strike="noStrike" u="none">
                <a:solidFill>
                  <a:srgbClr val="152540"/>
                </a:solidFill>
                <a:latin typeface="Glacial Indifference"/>
                <a:ea typeface="Glacial Indifference"/>
                <a:cs typeface="Glacial Indifference"/>
                <a:sym typeface="Glacial Indifference"/>
              </a:rPr>
              <a:t>Pienso que llegará tarde.</a:t>
            </a:r>
          </a:p>
          <a:p>
            <a:pPr algn="ctr" marL="624922" indent="-312461" lvl="1">
              <a:lnSpc>
                <a:spcPts val="4052"/>
              </a:lnSpc>
              <a:buFont typeface="Arial"/>
              <a:buChar char="•"/>
            </a:pPr>
          </a:p>
          <a:p>
            <a:pPr algn="ctr">
              <a:lnSpc>
                <a:spcPts val="4052"/>
              </a:lnSpc>
            </a:pPr>
            <a:r>
              <a:rPr lang="en-US" sz="2894" spc="63" strike="noStrike" u="none">
                <a:solidFill>
                  <a:srgbClr val="152540"/>
                </a:solidFill>
                <a:latin typeface="Glacial Indifference"/>
                <a:ea typeface="Glacial Indifference"/>
                <a:cs typeface="Glacial Indifference"/>
                <a:sym typeface="Glacial Indifference"/>
              </a:rPr>
              <a:t>Incorrecto:</a:t>
            </a:r>
          </a:p>
          <a:p>
            <a:pPr algn="ctr" marL="624922" indent="-312461" lvl="1">
              <a:lnSpc>
                <a:spcPts val="4052"/>
              </a:lnSpc>
              <a:buFont typeface="Arial"/>
              <a:buChar char="•"/>
            </a:pPr>
            <a:r>
              <a:rPr lang="en-US" sz="2894" spc="63" strike="noStrike" u="none">
                <a:solidFill>
                  <a:srgbClr val="152540"/>
                </a:solidFill>
                <a:latin typeface="Glacial Indifference"/>
                <a:ea typeface="Glacial Indifference"/>
                <a:cs typeface="Glacial Indifference"/>
                <a:sym typeface="Glacial Indifference"/>
              </a:rPr>
              <a:t>Me dijo de que vendría mañana.</a:t>
            </a:r>
          </a:p>
          <a:p>
            <a:pPr algn="ctr" marL="624922" indent="-312461" lvl="1">
              <a:lnSpc>
                <a:spcPts val="4052"/>
              </a:lnSpc>
              <a:buFont typeface="Arial"/>
              <a:buChar char="•"/>
            </a:pPr>
          </a:p>
          <a:p>
            <a:pPr algn="ctr">
              <a:lnSpc>
                <a:spcPts val="4052"/>
              </a:lnSpc>
            </a:pPr>
            <a:r>
              <a:rPr lang="en-US" sz="2894" spc="63" strike="noStrike" u="none">
                <a:solidFill>
                  <a:srgbClr val="152540"/>
                </a:solidFill>
                <a:latin typeface="Glacial Indifference"/>
                <a:ea typeface="Glacial Indifference"/>
                <a:cs typeface="Glacial Indifference"/>
                <a:sym typeface="Glacial Indifference"/>
              </a:rPr>
              <a:t>Co</a:t>
            </a:r>
            <a:r>
              <a:rPr lang="en-US" sz="2894" spc="63" strike="noStrike" u="none">
                <a:solidFill>
                  <a:srgbClr val="152540"/>
                </a:solidFill>
                <a:latin typeface="Glacial Indifference"/>
                <a:ea typeface="Glacial Indifference"/>
                <a:cs typeface="Glacial Indifference"/>
                <a:sym typeface="Glacial Indifference"/>
              </a:rPr>
              <a:t>rrecto:</a:t>
            </a:r>
          </a:p>
          <a:p>
            <a:pPr algn="ctr" marL="624922" indent="-312461" lvl="1">
              <a:lnSpc>
                <a:spcPts val="4052"/>
              </a:lnSpc>
              <a:buFont typeface="Arial"/>
              <a:buChar char="•"/>
            </a:pPr>
            <a:r>
              <a:rPr lang="en-US" sz="2894" spc="63" strike="noStrike" u="none">
                <a:solidFill>
                  <a:srgbClr val="152540"/>
                </a:solidFill>
                <a:latin typeface="Glacial Indifference"/>
                <a:ea typeface="Glacial Indifference"/>
                <a:cs typeface="Glacial Indifference"/>
                <a:sym typeface="Glacial Indifference"/>
              </a:rPr>
              <a:t>Me dijo que vendría mañana.</a:t>
            </a:r>
          </a:p>
          <a:p>
            <a:pPr algn="ctr" marL="624922" indent="-312461" lvl="1">
              <a:lnSpc>
                <a:spcPts val="4052"/>
              </a:lnSpc>
              <a:buFont typeface="Arial"/>
              <a:buChar char="•"/>
            </a:pPr>
          </a:p>
          <a:p>
            <a:pPr algn="ctr">
              <a:lnSpc>
                <a:spcPts val="4052"/>
              </a:lnSpc>
            </a:pPr>
          </a:p>
        </p:txBody>
      </p:sp>
      <p:sp>
        <p:nvSpPr>
          <p:cNvPr name="TextBox 8" id="8"/>
          <p:cNvSpPr txBox="true"/>
          <p:nvPr/>
        </p:nvSpPr>
        <p:spPr>
          <a:xfrm rot="0">
            <a:off x="5643351" y="1369075"/>
            <a:ext cx="7543218" cy="1028008"/>
          </a:xfrm>
          <a:prstGeom prst="rect">
            <a:avLst/>
          </a:prstGeom>
        </p:spPr>
        <p:txBody>
          <a:bodyPr anchor="t" rtlCol="false" tIns="0" lIns="0" bIns="0" rIns="0">
            <a:spAutoFit/>
          </a:bodyPr>
          <a:lstStyle/>
          <a:p>
            <a:pPr algn="ctr">
              <a:lnSpc>
                <a:spcPts val="8438"/>
              </a:lnSpc>
            </a:pPr>
            <a:r>
              <a:rPr lang="en-US" b="true" sz="6027" spc="566">
                <a:solidFill>
                  <a:srgbClr val="152540"/>
                </a:solidFill>
                <a:latin typeface="Glacial Indifference Bold"/>
                <a:ea typeface="Glacial Indifference Bold"/>
                <a:cs typeface="Glacial Indifference Bold"/>
                <a:sym typeface="Glacial Indifference Bold"/>
              </a:rPr>
              <a:t>EJEMPLOS:</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EDE8E4"/>
        </a:solidFill>
      </p:bgPr>
    </p:bg>
    <p:spTree>
      <p:nvGrpSpPr>
        <p:cNvPr id="1" name=""/>
        <p:cNvGrpSpPr/>
        <p:nvPr/>
      </p:nvGrpSpPr>
      <p:grpSpPr>
        <a:xfrm>
          <a:off x="0" y="0"/>
          <a:ext cx="0" cy="0"/>
          <a:chOff x="0" y="0"/>
          <a:chExt cx="0" cy="0"/>
        </a:xfrm>
      </p:grpSpPr>
      <p:sp>
        <p:nvSpPr>
          <p:cNvPr name="Freeform 2" id="2"/>
          <p:cNvSpPr/>
          <p:nvPr/>
        </p:nvSpPr>
        <p:spPr>
          <a:xfrm flipH="false" flipV="false" rot="-445925">
            <a:off x="3142738" y="-769394"/>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8798399">
            <a:off x="8466276" y="-9590538"/>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3283157">
            <a:off x="-1501206" y="7329841"/>
            <a:ext cx="5624862" cy="7545546"/>
          </a:xfrm>
          <a:custGeom>
            <a:avLst/>
            <a:gdLst/>
            <a:ahLst/>
            <a:cxnLst/>
            <a:rect r="r" b="b" t="t" l="l"/>
            <a:pathLst>
              <a:path h="7545546" w="5624862">
                <a:moveTo>
                  <a:pt x="0" y="0"/>
                </a:moveTo>
                <a:lnTo>
                  <a:pt x="5624862" y="0"/>
                </a:lnTo>
                <a:lnTo>
                  <a:pt x="5624862" y="7545546"/>
                </a:lnTo>
                <a:lnTo>
                  <a:pt x="0" y="75455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2770156">
            <a:off x="-2577184" y="-2165857"/>
            <a:ext cx="5154368" cy="4995052"/>
          </a:xfrm>
          <a:custGeom>
            <a:avLst/>
            <a:gdLst/>
            <a:ahLst/>
            <a:cxnLst/>
            <a:rect r="r" b="b" t="t" l="l"/>
            <a:pathLst>
              <a:path h="4995052" w="5154368">
                <a:moveTo>
                  <a:pt x="0" y="0"/>
                </a:moveTo>
                <a:lnTo>
                  <a:pt x="5154368" y="0"/>
                </a:lnTo>
                <a:lnTo>
                  <a:pt x="5154368" y="4995051"/>
                </a:lnTo>
                <a:lnTo>
                  <a:pt x="0" y="49950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2770156">
            <a:off x="15710816" y="8522875"/>
            <a:ext cx="5154368" cy="4995052"/>
          </a:xfrm>
          <a:custGeom>
            <a:avLst/>
            <a:gdLst/>
            <a:ahLst/>
            <a:cxnLst/>
            <a:rect r="r" b="b" t="t" l="l"/>
            <a:pathLst>
              <a:path h="4995052" w="5154368">
                <a:moveTo>
                  <a:pt x="0" y="0"/>
                </a:moveTo>
                <a:lnTo>
                  <a:pt x="5154368" y="0"/>
                </a:lnTo>
                <a:lnTo>
                  <a:pt x="5154368" y="4995052"/>
                </a:lnTo>
                <a:lnTo>
                  <a:pt x="0" y="49950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7" id="7"/>
          <p:cNvSpPr txBox="true"/>
          <p:nvPr/>
        </p:nvSpPr>
        <p:spPr>
          <a:xfrm rot="0">
            <a:off x="2526598" y="4372587"/>
            <a:ext cx="13776722" cy="1526680"/>
          </a:xfrm>
          <a:prstGeom prst="rect">
            <a:avLst/>
          </a:prstGeom>
        </p:spPr>
        <p:txBody>
          <a:bodyPr anchor="t" rtlCol="false" tIns="0" lIns="0" bIns="0" rIns="0">
            <a:spAutoFit/>
          </a:bodyPr>
          <a:lstStyle/>
          <a:p>
            <a:pPr algn="ctr">
              <a:lnSpc>
                <a:spcPts val="4052"/>
              </a:lnSpc>
            </a:pPr>
            <a:r>
              <a:rPr lang="en-US" sz="2894" spc="63">
                <a:solidFill>
                  <a:srgbClr val="152540"/>
                </a:solidFill>
                <a:latin typeface="Glacial Indifference"/>
                <a:ea typeface="Glacial Indifference"/>
                <a:cs typeface="Glacial Indifference"/>
                <a:sym typeface="Glacial Indifference"/>
              </a:rPr>
              <a:t>Corr</a:t>
            </a:r>
            <a:r>
              <a:rPr lang="en-US" sz="2894" spc="63" strike="noStrike" u="none">
                <a:solidFill>
                  <a:srgbClr val="152540"/>
                </a:solidFill>
                <a:latin typeface="Glacial Indifference"/>
                <a:ea typeface="Glacial Indifference"/>
                <a:cs typeface="Glacial Indifference"/>
                <a:sym typeface="Glacial Indifference"/>
              </a:rPr>
              <a:t>ige las siguiente oración:</a:t>
            </a:r>
          </a:p>
          <a:p>
            <a:pPr algn="ctr">
              <a:lnSpc>
                <a:spcPts val="4052"/>
              </a:lnSpc>
            </a:pPr>
            <a:r>
              <a:rPr lang="en-US" sz="2894" spc="63" strike="noStrike" u="none">
                <a:solidFill>
                  <a:srgbClr val="152540"/>
                </a:solidFill>
                <a:latin typeface="Glacial Indifference"/>
                <a:ea typeface="Glacial Indifference"/>
                <a:cs typeface="Glacial Indifference"/>
                <a:sym typeface="Glacial Indifference"/>
              </a:rPr>
              <a:t>Cr</a:t>
            </a:r>
            <a:r>
              <a:rPr lang="en-US" sz="2894" spc="63" strike="noStrike" u="none">
                <a:solidFill>
                  <a:srgbClr val="152540"/>
                </a:solidFill>
                <a:latin typeface="Glacial Indifference"/>
                <a:ea typeface="Glacial Indifference"/>
                <a:cs typeface="Glacial Indifference"/>
                <a:sym typeface="Glacial Indifference"/>
              </a:rPr>
              <a:t>eo de que hoy va a llover.</a:t>
            </a:r>
          </a:p>
          <a:p>
            <a:pPr algn="ctr">
              <a:lnSpc>
                <a:spcPts val="4052"/>
              </a:lnSpc>
            </a:pPr>
          </a:p>
        </p:txBody>
      </p:sp>
      <p:sp>
        <p:nvSpPr>
          <p:cNvPr name="TextBox 8" id="8"/>
          <p:cNvSpPr txBox="true"/>
          <p:nvPr/>
        </p:nvSpPr>
        <p:spPr>
          <a:xfrm rot="0">
            <a:off x="5643351" y="1984375"/>
            <a:ext cx="7543218" cy="1936058"/>
          </a:xfrm>
          <a:prstGeom prst="rect">
            <a:avLst/>
          </a:prstGeom>
        </p:spPr>
        <p:txBody>
          <a:bodyPr anchor="t" rtlCol="false" tIns="0" lIns="0" bIns="0" rIns="0">
            <a:spAutoFit/>
          </a:bodyPr>
          <a:lstStyle/>
          <a:p>
            <a:pPr algn="ctr">
              <a:lnSpc>
                <a:spcPts val="7738"/>
              </a:lnSpc>
            </a:pPr>
            <a:r>
              <a:rPr lang="en-US" b="true" sz="5527" spc="519">
                <a:solidFill>
                  <a:srgbClr val="152540"/>
                </a:solidFill>
                <a:latin typeface="Glacial Indifference Bold"/>
                <a:ea typeface="Glacial Indifference Bold"/>
                <a:cs typeface="Glacial Indifference Bold"/>
                <a:sym typeface="Glacial Indifference Bold"/>
              </a:rPr>
              <a:t>EJERCICIO DE APLICACIÓN.</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EDE8E4"/>
        </a:solidFill>
      </p:bgPr>
    </p:bg>
    <p:spTree>
      <p:nvGrpSpPr>
        <p:cNvPr id="1" name=""/>
        <p:cNvGrpSpPr/>
        <p:nvPr/>
      </p:nvGrpSpPr>
      <p:grpSpPr>
        <a:xfrm>
          <a:off x="0" y="0"/>
          <a:ext cx="0" cy="0"/>
          <a:chOff x="0" y="0"/>
          <a:chExt cx="0" cy="0"/>
        </a:xfrm>
      </p:grpSpPr>
      <p:sp>
        <p:nvSpPr>
          <p:cNvPr name="Freeform 2" id="2"/>
          <p:cNvSpPr/>
          <p:nvPr/>
        </p:nvSpPr>
        <p:spPr>
          <a:xfrm flipH="false" flipV="false" rot="-445925">
            <a:off x="3142738" y="-769394"/>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8798399">
            <a:off x="8466276" y="-9590538"/>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3283157">
            <a:off x="-1501206" y="7329841"/>
            <a:ext cx="5624862" cy="7545546"/>
          </a:xfrm>
          <a:custGeom>
            <a:avLst/>
            <a:gdLst/>
            <a:ahLst/>
            <a:cxnLst/>
            <a:rect r="r" b="b" t="t" l="l"/>
            <a:pathLst>
              <a:path h="7545546" w="5624862">
                <a:moveTo>
                  <a:pt x="0" y="0"/>
                </a:moveTo>
                <a:lnTo>
                  <a:pt x="5624862" y="0"/>
                </a:lnTo>
                <a:lnTo>
                  <a:pt x="5624862" y="7545546"/>
                </a:lnTo>
                <a:lnTo>
                  <a:pt x="0" y="75455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2770156">
            <a:off x="-2577184" y="-2165857"/>
            <a:ext cx="5154368" cy="4995052"/>
          </a:xfrm>
          <a:custGeom>
            <a:avLst/>
            <a:gdLst/>
            <a:ahLst/>
            <a:cxnLst/>
            <a:rect r="r" b="b" t="t" l="l"/>
            <a:pathLst>
              <a:path h="4995052" w="5154368">
                <a:moveTo>
                  <a:pt x="0" y="0"/>
                </a:moveTo>
                <a:lnTo>
                  <a:pt x="5154368" y="0"/>
                </a:lnTo>
                <a:lnTo>
                  <a:pt x="5154368" y="4995051"/>
                </a:lnTo>
                <a:lnTo>
                  <a:pt x="0" y="49950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2770156">
            <a:off x="15710816" y="8522875"/>
            <a:ext cx="5154368" cy="4995052"/>
          </a:xfrm>
          <a:custGeom>
            <a:avLst/>
            <a:gdLst/>
            <a:ahLst/>
            <a:cxnLst/>
            <a:rect r="r" b="b" t="t" l="l"/>
            <a:pathLst>
              <a:path h="4995052" w="5154368">
                <a:moveTo>
                  <a:pt x="0" y="0"/>
                </a:moveTo>
                <a:lnTo>
                  <a:pt x="5154368" y="0"/>
                </a:lnTo>
                <a:lnTo>
                  <a:pt x="5154368" y="4995052"/>
                </a:lnTo>
                <a:lnTo>
                  <a:pt x="0" y="49950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7" id="7"/>
          <p:cNvSpPr txBox="true"/>
          <p:nvPr/>
        </p:nvSpPr>
        <p:spPr>
          <a:xfrm rot="0">
            <a:off x="2526598" y="3408545"/>
            <a:ext cx="13776722" cy="2888120"/>
          </a:xfrm>
          <a:prstGeom prst="rect">
            <a:avLst/>
          </a:prstGeom>
        </p:spPr>
        <p:txBody>
          <a:bodyPr anchor="t" rtlCol="false" tIns="0" lIns="0" bIns="0" rIns="0">
            <a:spAutoFit/>
          </a:bodyPr>
          <a:lstStyle/>
          <a:p>
            <a:pPr algn="ctr">
              <a:lnSpc>
                <a:spcPts val="4612"/>
              </a:lnSpc>
            </a:pPr>
            <a:r>
              <a:rPr lang="en-US" sz="3294" spc="72">
                <a:solidFill>
                  <a:srgbClr val="152540"/>
                </a:solidFill>
                <a:latin typeface="Glacial Indifference"/>
                <a:ea typeface="Glacial Indifference"/>
                <a:cs typeface="Glacial Indifference"/>
                <a:sym typeface="Glacial Indifference"/>
              </a:rPr>
              <a:t>El </a:t>
            </a:r>
            <a:r>
              <a:rPr lang="en-US" sz="3294" spc="72" strike="noStrike" u="none">
                <a:solidFill>
                  <a:srgbClr val="152540"/>
                </a:solidFill>
                <a:latin typeface="Glacial Indifference"/>
                <a:ea typeface="Glacial Indifference"/>
                <a:cs typeface="Glacial Indifference"/>
                <a:sym typeface="Glacial Indifference"/>
              </a:rPr>
              <a:t>esdrujulismo es un vicio del lenguaje que consiste en pronunciar o escribir palabras como esdrújulas cuando en realidad no lo son.</a:t>
            </a:r>
          </a:p>
          <a:p>
            <a:pPr algn="ctr">
              <a:lnSpc>
                <a:spcPts val="4612"/>
              </a:lnSpc>
            </a:pPr>
            <a:r>
              <a:rPr lang="en-US" sz="3294" spc="72" strike="noStrike" u="none">
                <a:solidFill>
                  <a:srgbClr val="152540"/>
                </a:solidFill>
                <a:latin typeface="Glacial Indifference"/>
                <a:ea typeface="Glacial Indifference"/>
                <a:cs typeface="Glacial Indifference"/>
                <a:sym typeface="Glacial Indifference"/>
              </a:rPr>
              <a:t>D</a:t>
            </a:r>
            <a:r>
              <a:rPr lang="en-US" sz="3294" spc="72" strike="noStrike" u="none">
                <a:solidFill>
                  <a:srgbClr val="152540"/>
                </a:solidFill>
                <a:latin typeface="Glacial Indifference"/>
                <a:ea typeface="Glacial Indifference"/>
                <a:cs typeface="Glacial Indifference"/>
                <a:sym typeface="Glacial Indifference"/>
              </a:rPr>
              <a:t>e acuerdo con estudios de fonética del lingüista Fernando Lázaro Carreter, este error se produce por una mala colocación del acento prosódico.</a:t>
            </a:r>
          </a:p>
        </p:txBody>
      </p:sp>
      <p:sp>
        <p:nvSpPr>
          <p:cNvPr name="TextBox 8" id="8"/>
          <p:cNvSpPr txBox="true"/>
          <p:nvPr/>
        </p:nvSpPr>
        <p:spPr>
          <a:xfrm rot="0">
            <a:off x="5553954" y="1582203"/>
            <a:ext cx="7722012" cy="1028008"/>
          </a:xfrm>
          <a:prstGeom prst="rect">
            <a:avLst/>
          </a:prstGeom>
        </p:spPr>
        <p:txBody>
          <a:bodyPr anchor="t" rtlCol="false" tIns="0" lIns="0" bIns="0" rIns="0">
            <a:spAutoFit/>
          </a:bodyPr>
          <a:lstStyle/>
          <a:p>
            <a:pPr algn="ctr">
              <a:lnSpc>
                <a:spcPts val="8438"/>
              </a:lnSpc>
            </a:pPr>
            <a:r>
              <a:rPr lang="en-US" b="true" sz="6027" spc="566">
                <a:solidFill>
                  <a:srgbClr val="152540"/>
                </a:solidFill>
                <a:latin typeface="Glacial Indifference Bold"/>
                <a:ea typeface="Glacial Indifference Bold"/>
                <a:cs typeface="Glacial Indifference Bold"/>
                <a:sym typeface="Glacial Indifference Bold"/>
              </a:rPr>
              <a:t>7. ESDRUJULISMO.</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EDE8E4"/>
        </a:solidFill>
      </p:bgPr>
    </p:bg>
    <p:spTree>
      <p:nvGrpSpPr>
        <p:cNvPr id="1" name=""/>
        <p:cNvGrpSpPr/>
        <p:nvPr/>
      </p:nvGrpSpPr>
      <p:grpSpPr>
        <a:xfrm>
          <a:off x="0" y="0"/>
          <a:ext cx="0" cy="0"/>
          <a:chOff x="0" y="0"/>
          <a:chExt cx="0" cy="0"/>
        </a:xfrm>
      </p:grpSpPr>
      <p:sp>
        <p:nvSpPr>
          <p:cNvPr name="Freeform 2" id="2"/>
          <p:cNvSpPr/>
          <p:nvPr/>
        </p:nvSpPr>
        <p:spPr>
          <a:xfrm flipH="false" flipV="false" rot="-445925">
            <a:off x="3142738" y="-769394"/>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8798399">
            <a:off x="8466276" y="-9590538"/>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3283157">
            <a:off x="-1501206" y="7329841"/>
            <a:ext cx="5624862" cy="7545546"/>
          </a:xfrm>
          <a:custGeom>
            <a:avLst/>
            <a:gdLst/>
            <a:ahLst/>
            <a:cxnLst/>
            <a:rect r="r" b="b" t="t" l="l"/>
            <a:pathLst>
              <a:path h="7545546" w="5624862">
                <a:moveTo>
                  <a:pt x="0" y="0"/>
                </a:moveTo>
                <a:lnTo>
                  <a:pt x="5624862" y="0"/>
                </a:lnTo>
                <a:lnTo>
                  <a:pt x="5624862" y="7545546"/>
                </a:lnTo>
                <a:lnTo>
                  <a:pt x="0" y="75455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2770156">
            <a:off x="-2577184" y="-2165857"/>
            <a:ext cx="5154368" cy="4995052"/>
          </a:xfrm>
          <a:custGeom>
            <a:avLst/>
            <a:gdLst/>
            <a:ahLst/>
            <a:cxnLst/>
            <a:rect r="r" b="b" t="t" l="l"/>
            <a:pathLst>
              <a:path h="4995052" w="5154368">
                <a:moveTo>
                  <a:pt x="0" y="0"/>
                </a:moveTo>
                <a:lnTo>
                  <a:pt x="5154368" y="0"/>
                </a:lnTo>
                <a:lnTo>
                  <a:pt x="5154368" y="4995051"/>
                </a:lnTo>
                <a:lnTo>
                  <a:pt x="0" y="49950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2770156">
            <a:off x="15710816" y="8522875"/>
            <a:ext cx="5154368" cy="4995052"/>
          </a:xfrm>
          <a:custGeom>
            <a:avLst/>
            <a:gdLst/>
            <a:ahLst/>
            <a:cxnLst/>
            <a:rect r="r" b="b" t="t" l="l"/>
            <a:pathLst>
              <a:path h="4995052" w="5154368">
                <a:moveTo>
                  <a:pt x="0" y="0"/>
                </a:moveTo>
                <a:lnTo>
                  <a:pt x="5154368" y="0"/>
                </a:lnTo>
                <a:lnTo>
                  <a:pt x="5154368" y="4995052"/>
                </a:lnTo>
                <a:lnTo>
                  <a:pt x="0" y="49950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7" id="7"/>
          <p:cNvSpPr txBox="true"/>
          <p:nvPr/>
        </p:nvSpPr>
        <p:spPr>
          <a:xfrm rot="0">
            <a:off x="2526598" y="2381442"/>
            <a:ext cx="13776722" cy="6434595"/>
          </a:xfrm>
          <a:prstGeom prst="rect">
            <a:avLst/>
          </a:prstGeom>
        </p:spPr>
        <p:txBody>
          <a:bodyPr anchor="t" rtlCol="false" tIns="0" lIns="0" bIns="0" rIns="0">
            <a:spAutoFit/>
          </a:bodyPr>
          <a:lstStyle/>
          <a:p>
            <a:pPr algn="ctr">
              <a:lnSpc>
                <a:spcPts val="3912"/>
              </a:lnSpc>
            </a:pPr>
            <a:r>
              <a:rPr lang="en-US" sz="2794" spc="61">
                <a:solidFill>
                  <a:srgbClr val="152540"/>
                </a:solidFill>
                <a:latin typeface="Glacial Indifference"/>
                <a:ea typeface="Glacial Indifference"/>
                <a:cs typeface="Glacial Indifference"/>
                <a:sym typeface="Glacial Indifference"/>
              </a:rPr>
              <a:t>I</a:t>
            </a:r>
            <a:r>
              <a:rPr lang="en-US" sz="2794" spc="61" strike="noStrike" u="none">
                <a:solidFill>
                  <a:srgbClr val="152540"/>
                </a:solidFill>
                <a:latin typeface="Glacial Indifference"/>
                <a:ea typeface="Glacial Indifference"/>
                <a:cs typeface="Glacial Indifference"/>
                <a:sym typeface="Glacial Indifference"/>
              </a:rPr>
              <a:t>ncorrecto:</a:t>
            </a:r>
          </a:p>
          <a:p>
            <a:pPr algn="ctr" marL="603333" indent="-301666" lvl="1">
              <a:lnSpc>
                <a:spcPts val="3912"/>
              </a:lnSpc>
              <a:buFont typeface="Arial"/>
              <a:buChar char="•"/>
            </a:pPr>
            <a:r>
              <a:rPr lang="en-US" sz="2794" spc="61" strike="noStrike" u="none">
                <a:solidFill>
                  <a:srgbClr val="152540"/>
                </a:solidFill>
                <a:latin typeface="Glacial Indifference"/>
                <a:ea typeface="Glacial Indifference"/>
                <a:cs typeface="Glacial Indifference"/>
                <a:sym typeface="Glacial Indifference"/>
              </a:rPr>
              <a:t>Cólega</a:t>
            </a:r>
          </a:p>
          <a:p>
            <a:pPr algn="ctr" marL="603333" indent="-301666" lvl="1">
              <a:lnSpc>
                <a:spcPts val="3912"/>
              </a:lnSpc>
              <a:buFont typeface="Arial"/>
              <a:buChar char="•"/>
            </a:pPr>
          </a:p>
          <a:p>
            <a:pPr algn="ctr">
              <a:lnSpc>
                <a:spcPts val="3912"/>
              </a:lnSpc>
            </a:pPr>
            <a:r>
              <a:rPr lang="en-US" sz="2794" spc="61" strike="noStrike" u="none">
                <a:solidFill>
                  <a:srgbClr val="152540"/>
                </a:solidFill>
                <a:latin typeface="Glacial Indifference"/>
                <a:ea typeface="Glacial Indifference"/>
                <a:cs typeface="Glacial Indifference"/>
                <a:sym typeface="Glacial Indifference"/>
              </a:rPr>
              <a:t>Correcto:</a:t>
            </a:r>
          </a:p>
          <a:p>
            <a:pPr algn="ctr" marL="603333" indent="-301666" lvl="1">
              <a:lnSpc>
                <a:spcPts val="3912"/>
              </a:lnSpc>
              <a:buFont typeface="Arial"/>
              <a:buChar char="•"/>
            </a:pPr>
            <a:r>
              <a:rPr lang="en-US" sz="2794" spc="61" strike="noStrike" u="none">
                <a:solidFill>
                  <a:srgbClr val="152540"/>
                </a:solidFill>
                <a:latin typeface="Glacial Indifference"/>
                <a:ea typeface="Glacial Indifference"/>
                <a:cs typeface="Glacial Indifference"/>
                <a:sym typeface="Glacial Indifference"/>
              </a:rPr>
              <a:t>Colega</a:t>
            </a:r>
          </a:p>
          <a:p>
            <a:pPr algn="ctr" marL="603333" indent="-301666" lvl="1">
              <a:lnSpc>
                <a:spcPts val="3912"/>
              </a:lnSpc>
              <a:buFont typeface="Arial"/>
              <a:buChar char="•"/>
            </a:pPr>
          </a:p>
          <a:p>
            <a:pPr algn="ctr">
              <a:lnSpc>
                <a:spcPts val="3912"/>
              </a:lnSpc>
            </a:pPr>
            <a:r>
              <a:rPr lang="en-US" sz="2794" spc="61" strike="noStrike" u="none">
                <a:solidFill>
                  <a:srgbClr val="152540"/>
                </a:solidFill>
                <a:latin typeface="Glacial Indifference"/>
                <a:ea typeface="Glacial Indifference"/>
                <a:cs typeface="Glacial Indifference"/>
                <a:sym typeface="Glacial Indifference"/>
              </a:rPr>
              <a:t>In</a:t>
            </a:r>
            <a:r>
              <a:rPr lang="en-US" sz="2794" spc="61" strike="noStrike" u="none">
                <a:solidFill>
                  <a:srgbClr val="152540"/>
                </a:solidFill>
                <a:latin typeface="Glacial Indifference"/>
                <a:ea typeface="Glacial Indifference"/>
                <a:cs typeface="Glacial Indifference"/>
                <a:sym typeface="Glacial Indifference"/>
              </a:rPr>
              <a:t>correcto:</a:t>
            </a:r>
          </a:p>
          <a:p>
            <a:pPr algn="ctr" marL="603333" indent="-301666" lvl="1">
              <a:lnSpc>
                <a:spcPts val="3912"/>
              </a:lnSpc>
              <a:buFont typeface="Arial"/>
              <a:buChar char="•"/>
            </a:pPr>
            <a:r>
              <a:rPr lang="en-US" sz="2794" spc="61" strike="noStrike" u="none">
                <a:solidFill>
                  <a:srgbClr val="152540"/>
                </a:solidFill>
                <a:latin typeface="Glacial Indifference"/>
                <a:ea typeface="Glacial Indifference"/>
                <a:cs typeface="Glacial Indifference"/>
                <a:sym typeface="Glacial Indifference"/>
              </a:rPr>
              <a:t>Médico pronunciado como médico.</a:t>
            </a:r>
          </a:p>
          <a:p>
            <a:pPr algn="ctr" marL="603333" indent="-301666" lvl="1">
              <a:lnSpc>
                <a:spcPts val="3912"/>
              </a:lnSpc>
              <a:buFont typeface="Arial"/>
              <a:buChar char="•"/>
            </a:pPr>
          </a:p>
          <a:p>
            <a:pPr algn="ctr">
              <a:lnSpc>
                <a:spcPts val="3912"/>
              </a:lnSpc>
            </a:pPr>
            <a:r>
              <a:rPr lang="en-US" sz="2794" spc="61" strike="noStrike" u="none">
                <a:solidFill>
                  <a:srgbClr val="152540"/>
                </a:solidFill>
                <a:latin typeface="Glacial Indifference"/>
                <a:ea typeface="Glacial Indifference"/>
                <a:cs typeface="Glacial Indifference"/>
                <a:sym typeface="Glacial Indifference"/>
              </a:rPr>
              <a:t>Correcto:</a:t>
            </a:r>
          </a:p>
          <a:p>
            <a:pPr algn="ctr" marL="603333" indent="-301666" lvl="1">
              <a:lnSpc>
                <a:spcPts val="3912"/>
              </a:lnSpc>
              <a:buFont typeface="Arial"/>
              <a:buChar char="•"/>
            </a:pPr>
            <a:r>
              <a:rPr lang="en-US" sz="2794" spc="61" strike="noStrike" u="none">
                <a:solidFill>
                  <a:srgbClr val="152540"/>
                </a:solidFill>
                <a:latin typeface="Glacial Indifference"/>
                <a:ea typeface="Glacial Indifference"/>
                <a:cs typeface="Glacial Indifference"/>
                <a:sym typeface="Glacial Indifference"/>
              </a:rPr>
              <a:t>Médico</a:t>
            </a:r>
          </a:p>
          <a:p>
            <a:pPr algn="ctr" marL="603333" indent="-301666" lvl="1">
              <a:lnSpc>
                <a:spcPts val="3912"/>
              </a:lnSpc>
              <a:buFont typeface="Arial"/>
              <a:buChar char="•"/>
            </a:pPr>
          </a:p>
          <a:p>
            <a:pPr algn="ctr">
              <a:lnSpc>
                <a:spcPts val="3912"/>
              </a:lnSpc>
            </a:pPr>
          </a:p>
        </p:txBody>
      </p:sp>
      <p:sp>
        <p:nvSpPr>
          <p:cNvPr name="TextBox 8" id="8"/>
          <p:cNvSpPr txBox="true"/>
          <p:nvPr/>
        </p:nvSpPr>
        <p:spPr>
          <a:xfrm rot="0">
            <a:off x="5643351" y="914400"/>
            <a:ext cx="7543218" cy="1028008"/>
          </a:xfrm>
          <a:prstGeom prst="rect">
            <a:avLst/>
          </a:prstGeom>
        </p:spPr>
        <p:txBody>
          <a:bodyPr anchor="t" rtlCol="false" tIns="0" lIns="0" bIns="0" rIns="0">
            <a:spAutoFit/>
          </a:bodyPr>
          <a:lstStyle/>
          <a:p>
            <a:pPr algn="ctr">
              <a:lnSpc>
                <a:spcPts val="8438"/>
              </a:lnSpc>
            </a:pPr>
            <a:r>
              <a:rPr lang="en-US" b="true" sz="6027" spc="566">
                <a:solidFill>
                  <a:srgbClr val="152540"/>
                </a:solidFill>
                <a:latin typeface="Glacial Indifference Bold"/>
                <a:ea typeface="Glacial Indifference Bold"/>
                <a:cs typeface="Glacial Indifference Bold"/>
                <a:sym typeface="Glacial Indifference Bold"/>
              </a:rPr>
              <a:t>EJEMPLOS:</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EDE8E4"/>
        </a:solidFill>
      </p:bgPr>
    </p:bg>
    <p:spTree>
      <p:nvGrpSpPr>
        <p:cNvPr id="1" name=""/>
        <p:cNvGrpSpPr/>
        <p:nvPr/>
      </p:nvGrpSpPr>
      <p:grpSpPr>
        <a:xfrm>
          <a:off x="0" y="0"/>
          <a:ext cx="0" cy="0"/>
          <a:chOff x="0" y="0"/>
          <a:chExt cx="0" cy="0"/>
        </a:xfrm>
      </p:grpSpPr>
      <p:sp>
        <p:nvSpPr>
          <p:cNvPr name="Freeform 2" id="2"/>
          <p:cNvSpPr/>
          <p:nvPr/>
        </p:nvSpPr>
        <p:spPr>
          <a:xfrm flipH="false" flipV="false" rot="-445925">
            <a:off x="3142738" y="-769394"/>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8798399">
            <a:off x="8466276" y="-9590538"/>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3283157">
            <a:off x="-1501206" y="7329841"/>
            <a:ext cx="5624862" cy="7545546"/>
          </a:xfrm>
          <a:custGeom>
            <a:avLst/>
            <a:gdLst/>
            <a:ahLst/>
            <a:cxnLst/>
            <a:rect r="r" b="b" t="t" l="l"/>
            <a:pathLst>
              <a:path h="7545546" w="5624862">
                <a:moveTo>
                  <a:pt x="0" y="0"/>
                </a:moveTo>
                <a:lnTo>
                  <a:pt x="5624862" y="0"/>
                </a:lnTo>
                <a:lnTo>
                  <a:pt x="5624862" y="7545546"/>
                </a:lnTo>
                <a:lnTo>
                  <a:pt x="0" y="75455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2770156">
            <a:off x="-2577184" y="-2165857"/>
            <a:ext cx="5154368" cy="4995052"/>
          </a:xfrm>
          <a:custGeom>
            <a:avLst/>
            <a:gdLst/>
            <a:ahLst/>
            <a:cxnLst/>
            <a:rect r="r" b="b" t="t" l="l"/>
            <a:pathLst>
              <a:path h="4995052" w="5154368">
                <a:moveTo>
                  <a:pt x="0" y="0"/>
                </a:moveTo>
                <a:lnTo>
                  <a:pt x="5154368" y="0"/>
                </a:lnTo>
                <a:lnTo>
                  <a:pt x="5154368" y="4995051"/>
                </a:lnTo>
                <a:lnTo>
                  <a:pt x="0" y="49950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2770156">
            <a:off x="15710816" y="8522875"/>
            <a:ext cx="5154368" cy="4995052"/>
          </a:xfrm>
          <a:custGeom>
            <a:avLst/>
            <a:gdLst/>
            <a:ahLst/>
            <a:cxnLst/>
            <a:rect r="r" b="b" t="t" l="l"/>
            <a:pathLst>
              <a:path h="4995052" w="5154368">
                <a:moveTo>
                  <a:pt x="0" y="0"/>
                </a:moveTo>
                <a:lnTo>
                  <a:pt x="5154368" y="0"/>
                </a:lnTo>
                <a:lnTo>
                  <a:pt x="5154368" y="4995052"/>
                </a:lnTo>
                <a:lnTo>
                  <a:pt x="0" y="49950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7" id="7"/>
          <p:cNvSpPr txBox="true"/>
          <p:nvPr/>
        </p:nvSpPr>
        <p:spPr>
          <a:xfrm rot="0">
            <a:off x="2526598" y="3790166"/>
            <a:ext cx="13776722" cy="3958095"/>
          </a:xfrm>
          <a:prstGeom prst="rect">
            <a:avLst/>
          </a:prstGeom>
        </p:spPr>
        <p:txBody>
          <a:bodyPr anchor="t" rtlCol="false" tIns="0" lIns="0" bIns="0" rIns="0">
            <a:spAutoFit/>
          </a:bodyPr>
          <a:lstStyle/>
          <a:p>
            <a:pPr algn="ctr">
              <a:lnSpc>
                <a:spcPts val="3912"/>
              </a:lnSpc>
            </a:pPr>
            <a:r>
              <a:rPr lang="en-US" sz="2794" spc="61">
                <a:solidFill>
                  <a:srgbClr val="152540"/>
                </a:solidFill>
                <a:latin typeface="Glacial Indifference"/>
                <a:ea typeface="Glacial Indifference"/>
                <a:cs typeface="Glacial Indifference"/>
                <a:sym typeface="Glacial Indifference"/>
              </a:rPr>
              <a:t>I</a:t>
            </a:r>
            <a:r>
              <a:rPr lang="en-US" sz="2794" spc="61" strike="noStrike" u="none">
                <a:solidFill>
                  <a:srgbClr val="152540"/>
                </a:solidFill>
                <a:latin typeface="Glacial Indifference"/>
                <a:ea typeface="Glacial Indifference"/>
                <a:cs typeface="Glacial Indifference"/>
                <a:sym typeface="Glacial Indifference"/>
              </a:rPr>
              <a:t>ndica si las siguientes palabras están bien o mal acentuadas.</a:t>
            </a:r>
          </a:p>
          <a:p>
            <a:pPr algn="ctr">
              <a:lnSpc>
                <a:spcPts val="3912"/>
              </a:lnSpc>
            </a:pPr>
          </a:p>
          <a:p>
            <a:pPr algn="ctr">
              <a:lnSpc>
                <a:spcPts val="3912"/>
              </a:lnSpc>
            </a:pPr>
            <a:r>
              <a:rPr lang="en-US" sz="2794" spc="61" strike="noStrike" u="none">
                <a:solidFill>
                  <a:srgbClr val="152540"/>
                </a:solidFill>
                <a:latin typeface="Glacial Indifference"/>
                <a:ea typeface="Glacial Indifference"/>
                <a:cs typeface="Glacial Indifference"/>
                <a:sym typeface="Glacial Indifference"/>
              </a:rPr>
              <a:t>Telefóno</a:t>
            </a:r>
          </a:p>
          <a:p>
            <a:pPr algn="ctr">
              <a:lnSpc>
                <a:spcPts val="3912"/>
              </a:lnSpc>
            </a:pPr>
          </a:p>
          <a:p>
            <a:pPr algn="ctr">
              <a:lnSpc>
                <a:spcPts val="3912"/>
              </a:lnSpc>
            </a:pPr>
            <a:r>
              <a:rPr lang="en-US" sz="2794" spc="61" strike="noStrike" u="none">
                <a:solidFill>
                  <a:srgbClr val="152540"/>
                </a:solidFill>
                <a:latin typeface="Glacial Indifference"/>
                <a:ea typeface="Glacial Indifference"/>
                <a:cs typeface="Glacial Indifference"/>
                <a:sym typeface="Glacial Indifference"/>
              </a:rPr>
              <a:t>Cómputo</a:t>
            </a:r>
          </a:p>
          <a:p>
            <a:pPr algn="ctr">
              <a:lnSpc>
                <a:spcPts val="3912"/>
              </a:lnSpc>
            </a:pPr>
          </a:p>
          <a:p>
            <a:pPr algn="ctr">
              <a:lnSpc>
                <a:spcPts val="3912"/>
              </a:lnSpc>
            </a:pPr>
            <a:r>
              <a:rPr lang="en-US" sz="2794" spc="61" strike="noStrike" u="none">
                <a:solidFill>
                  <a:srgbClr val="152540"/>
                </a:solidFill>
                <a:latin typeface="Glacial Indifference"/>
                <a:ea typeface="Glacial Indifference"/>
                <a:cs typeface="Glacial Indifference"/>
                <a:sym typeface="Glacial Indifference"/>
              </a:rPr>
              <a:t>Pájaro</a:t>
            </a:r>
          </a:p>
          <a:p>
            <a:pPr algn="ctr">
              <a:lnSpc>
                <a:spcPts val="3912"/>
              </a:lnSpc>
            </a:pPr>
          </a:p>
        </p:txBody>
      </p:sp>
      <p:sp>
        <p:nvSpPr>
          <p:cNvPr name="TextBox 8" id="8"/>
          <p:cNvSpPr txBox="true"/>
          <p:nvPr/>
        </p:nvSpPr>
        <p:spPr>
          <a:xfrm rot="0">
            <a:off x="5643351" y="1364391"/>
            <a:ext cx="7543218" cy="1962093"/>
          </a:xfrm>
          <a:prstGeom prst="rect">
            <a:avLst/>
          </a:prstGeom>
        </p:spPr>
        <p:txBody>
          <a:bodyPr anchor="t" rtlCol="false" tIns="0" lIns="0" bIns="0" rIns="0">
            <a:spAutoFit/>
          </a:bodyPr>
          <a:lstStyle/>
          <a:p>
            <a:pPr algn="ctr">
              <a:lnSpc>
                <a:spcPts val="7878"/>
              </a:lnSpc>
            </a:pPr>
            <a:r>
              <a:rPr lang="en-US" b="true" sz="5627" spc="528">
                <a:solidFill>
                  <a:srgbClr val="152540"/>
                </a:solidFill>
                <a:latin typeface="Glacial Indifference Bold"/>
                <a:ea typeface="Glacial Indifference Bold"/>
                <a:cs typeface="Glacial Indifference Bold"/>
                <a:sym typeface="Glacial Indifference Bold"/>
              </a:rPr>
              <a:t>EJERCICIO DE APLICACIÓN.</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EDE8E4"/>
        </a:solidFill>
      </p:bgPr>
    </p:bg>
    <p:spTree>
      <p:nvGrpSpPr>
        <p:cNvPr id="1" name=""/>
        <p:cNvGrpSpPr/>
        <p:nvPr/>
      </p:nvGrpSpPr>
      <p:grpSpPr>
        <a:xfrm>
          <a:off x="0" y="0"/>
          <a:ext cx="0" cy="0"/>
          <a:chOff x="0" y="0"/>
          <a:chExt cx="0" cy="0"/>
        </a:xfrm>
      </p:grpSpPr>
      <p:sp>
        <p:nvSpPr>
          <p:cNvPr name="Freeform 2" id="2"/>
          <p:cNvSpPr/>
          <p:nvPr/>
        </p:nvSpPr>
        <p:spPr>
          <a:xfrm flipH="false" flipV="false" rot="-445925">
            <a:off x="3142738" y="-769394"/>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8798399">
            <a:off x="8466276" y="-9590538"/>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3283157">
            <a:off x="-1501206" y="7329841"/>
            <a:ext cx="5624862" cy="7545546"/>
          </a:xfrm>
          <a:custGeom>
            <a:avLst/>
            <a:gdLst/>
            <a:ahLst/>
            <a:cxnLst/>
            <a:rect r="r" b="b" t="t" l="l"/>
            <a:pathLst>
              <a:path h="7545546" w="5624862">
                <a:moveTo>
                  <a:pt x="0" y="0"/>
                </a:moveTo>
                <a:lnTo>
                  <a:pt x="5624862" y="0"/>
                </a:lnTo>
                <a:lnTo>
                  <a:pt x="5624862" y="7545546"/>
                </a:lnTo>
                <a:lnTo>
                  <a:pt x="0" y="75455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2770156">
            <a:off x="-2577184" y="-2165857"/>
            <a:ext cx="5154368" cy="4995052"/>
          </a:xfrm>
          <a:custGeom>
            <a:avLst/>
            <a:gdLst/>
            <a:ahLst/>
            <a:cxnLst/>
            <a:rect r="r" b="b" t="t" l="l"/>
            <a:pathLst>
              <a:path h="4995052" w="5154368">
                <a:moveTo>
                  <a:pt x="0" y="0"/>
                </a:moveTo>
                <a:lnTo>
                  <a:pt x="5154368" y="0"/>
                </a:lnTo>
                <a:lnTo>
                  <a:pt x="5154368" y="4995051"/>
                </a:lnTo>
                <a:lnTo>
                  <a:pt x="0" y="49950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2770156">
            <a:off x="15710816" y="8522875"/>
            <a:ext cx="5154368" cy="4995052"/>
          </a:xfrm>
          <a:custGeom>
            <a:avLst/>
            <a:gdLst/>
            <a:ahLst/>
            <a:cxnLst/>
            <a:rect r="r" b="b" t="t" l="l"/>
            <a:pathLst>
              <a:path h="4995052" w="5154368">
                <a:moveTo>
                  <a:pt x="0" y="0"/>
                </a:moveTo>
                <a:lnTo>
                  <a:pt x="5154368" y="0"/>
                </a:lnTo>
                <a:lnTo>
                  <a:pt x="5154368" y="4995052"/>
                </a:lnTo>
                <a:lnTo>
                  <a:pt x="0" y="49950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7" id="7"/>
          <p:cNvSpPr txBox="true"/>
          <p:nvPr/>
        </p:nvSpPr>
        <p:spPr>
          <a:xfrm rot="0">
            <a:off x="2526598" y="3106080"/>
            <a:ext cx="13776722" cy="4631195"/>
          </a:xfrm>
          <a:prstGeom prst="rect">
            <a:avLst/>
          </a:prstGeom>
        </p:spPr>
        <p:txBody>
          <a:bodyPr anchor="t" rtlCol="false" tIns="0" lIns="0" bIns="0" rIns="0">
            <a:spAutoFit/>
          </a:bodyPr>
          <a:lstStyle/>
          <a:p>
            <a:pPr algn="ctr">
              <a:lnSpc>
                <a:spcPts val="4612"/>
              </a:lnSpc>
            </a:pPr>
            <a:r>
              <a:rPr lang="en-US" sz="3294" spc="72">
                <a:solidFill>
                  <a:srgbClr val="152540"/>
                </a:solidFill>
                <a:latin typeface="Glacial Indifference"/>
                <a:ea typeface="Glacial Indifference"/>
                <a:cs typeface="Glacial Indifference"/>
                <a:sym typeface="Glacial Indifference"/>
              </a:rPr>
              <a:t>El eufemism</a:t>
            </a:r>
            <a:r>
              <a:rPr lang="en-US" sz="3294" spc="72" strike="noStrike" u="none">
                <a:solidFill>
                  <a:srgbClr val="152540"/>
                </a:solidFill>
                <a:latin typeface="Glacial Indifference"/>
                <a:ea typeface="Glacial Indifference"/>
                <a:cs typeface="Glacial Indifference"/>
                <a:sym typeface="Glacial Indifference"/>
              </a:rPr>
              <a:t>o excesivo consiste en utilizar demasiadas expresiones suaves o indirectas para evitar decir una palabra directa, lo que puede hacer que el mensaje sea confuso o innecesariamente largo.</a:t>
            </a:r>
          </a:p>
          <a:p>
            <a:pPr algn="ctr">
              <a:lnSpc>
                <a:spcPts val="4612"/>
              </a:lnSpc>
            </a:pPr>
            <a:r>
              <a:rPr lang="en-US" sz="3294" spc="72" strike="noStrike" u="none">
                <a:solidFill>
                  <a:srgbClr val="152540"/>
                </a:solidFill>
                <a:latin typeface="Glacial Indifference"/>
                <a:ea typeface="Glacial Indifference"/>
                <a:cs typeface="Glacial Indifference"/>
                <a:sym typeface="Glacial Indifference"/>
              </a:rPr>
              <a:t>Según la Real Academia Española, un eufemismo es una palabra o expresión que se usa para sustituir otra considerada dura, ofensiva o desagradable.</a:t>
            </a:r>
          </a:p>
          <a:p>
            <a:pPr algn="ctr">
              <a:lnSpc>
                <a:spcPts val="4612"/>
              </a:lnSpc>
            </a:pPr>
            <a:r>
              <a:rPr lang="en-US" sz="3294" spc="72" strike="noStrike" u="none">
                <a:solidFill>
                  <a:srgbClr val="152540"/>
                </a:solidFill>
                <a:latin typeface="Glacial Indifference"/>
                <a:ea typeface="Glacial Indifference"/>
                <a:cs typeface="Glacial Indifference"/>
                <a:sym typeface="Glacial Indifference"/>
              </a:rPr>
              <a:t>El uso excesivo puede dificultar la claridad del lenguaje.</a:t>
            </a:r>
          </a:p>
          <a:p>
            <a:pPr algn="ctr">
              <a:lnSpc>
                <a:spcPts val="4612"/>
              </a:lnSpc>
            </a:pPr>
          </a:p>
        </p:txBody>
      </p:sp>
      <p:sp>
        <p:nvSpPr>
          <p:cNvPr name="TextBox 8" id="8"/>
          <p:cNvSpPr txBox="true"/>
          <p:nvPr/>
        </p:nvSpPr>
        <p:spPr>
          <a:xfrm rot="0">
            <a:off x="5643351" y="914400"/>
            <a:ext cx="7543218" cy="2094808"/>
          </a:xfrm>
          <a:prstGeom prst="rect">
            <a:avLst/>
          </a:prstGeom>
        </p:spPr>
        <p:txBody>
          <a:bodyPr anchor="t" rtlCol="false" tIns="0" lIns="0" bIns="0" rIns="0">
            <a:spAutoFit/>
          </a:bodyPr>
          <a:lstStyle/>
          <a:p>
            <a:pPr algn="ctr">
              <a:lnSpc>
                <a:spcPts val="8438"/>
              </a:lnSpc>
            </a:pPr>
            <a:r>
              <a:rPr lang="en-US" b="true" sz="6027" spc="566">
                <a:solidFill>
                  <a:srgbClr val="152540"/>
                </a:solidFill>
                <a:latin typeface="Glacial Indifference Bold"/>
                <a:ea typeface="Glacial Indifference Bold"/>
                <a:cs typeface="Glacial Indifference Bold"/>
                <a:sym typeface="Glacial Indifference Bold"/>
              </a:rPr>
              <a:t>8. EUFEMISMO EXCESIVO.</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bg>
      <p:bgPr>
        <a:solidFill>
          <a:srgbClr val="EDE8E4"/>
        </a:solidFill>
      </p:bgPr>
    </p:bg>
    <p:spTree>
      <p:nvGrpSpPr>
        <p:cNvPr id="1" name=""/>
        <p:cNvGrpSpPr/>
        <p:nvPr/>
      </p:nvGrpSpPr>
      <p:grpSpPr>
        <a:xfrm>
          <a:off x="0" y="0"/>
          <a:ext cx="0" cy="0"/>
          <a:chOff x="0" y="0"/>
          <a:chExt cx="0" cy="0"/>
        </a:xfrm>
      </p:grpSpPr>
      <p:sp>
        <p:nvSpPr>
          <p:cNvPr name="Freeform 2" id="2"/>
          <p:cNvSpPr/>
          <p:nvPr/>
        </p:nvSpPr>
        <p:spPr>
          <a:xfrm flipH="false" flipV="false" rot="-445925">
            <a:off x="3142738" y="-769394"/>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8798399">
            <a:off x="8466276" y="-9590538"/>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3283157">
            <a:off x="-1501206" y="7329841"/>
            <a:ext cx="5624862" cy="7545546"/>
          </a:xfrm>
          <a:custGeom>
            <a:avLst/>
            <a:gdLst/>
            <a:ahLst/>
            <a:cxnLst/>
            <a:rect r="r" b="b" t="t" l="l"/>
            <a:pathLst>
              <a:path h="7545546" w="5624862">
                <a:moveTo>
                  <a:pt x="0" y="0"/>
                </a:moveTo>
                <a:lnTo>
                  <a:pt x="5624862" y="0"/>
                </a:lnTo>
                <a:lnTo>
                  <a:pt x="5624862" y="7545546"/>
                </a:lnTo>
                <a:lnTo>
                  <a:pt x="0" y="75455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2770156">
            <a:off x="-2577184" y="-2165857"/>
            <a:ext cx="5154368" cy="4995052"/>
          </a:xfrm>
          <a:custGeom>
            <a:avLst/>
            <a:gdLst/>
            <a:ahLst/>
            <a:cxnLst/>
            <a:rect r="r" b="b" t="t" l="l"/>
            <a:pathLst>
              <a:path h="4995052" w="5154368">
                <a:moveTo>
                  <a:pt x="0" y="0"/>
                </a:moveTo>
                <a:lnTo>
                  <a:pt x="5154368" y="0"/>
                </a:lnTo>
                <a:lnTo>
                  <a:pt x="5154368" y="4995051"/>
                </a:lnTo>
                <a:lnTo>
                  <a:pt x="0" y="49950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2770156">
            <a:off x="15710816" y="8522875"/>
            <a:ext cx="5154368" cy="4995052"/>
          </a:xfrm>
          <a:custGeom>
            <a:avLst/>
            <a:gdLst/>
            <a:ahLst/>
            <a:cxnLst/>
            <a:rect r="r" b="b" t="t" l="l"/>
            <a:pathLst>
              <a:path h="4995052" w="5154368">
                <a:moveTo>
                  <a:pt x="0" y="0"/>
                </a:moveTo>
                <a:lnTo>
                  <a:pt x="5154368" y="0"/>
                </a:lnTo>
                <a:lnTo>
                  <a:pt x="5154368" y="4995052"/>
                </a:lnTo>
                <a:lnTo>
                  <a:pt x="0" y="49950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7" id="7"/>
          <p:cNvSpPr txBox="true"/>
          <p:nvPr/>
        </p:nvSpPr>
        <p:spPr>
          <a:xfrm rot="0">
            <a:off x="2526598" y="2580362"/>
            <a:ext cx="13776722" cy="6459360"/>
          </a:xfrm>
          <a:prstGeom prst="rect">
            <a:avLst/>
          </a:prstGeom>
        </p:spPr>
        <p:txBody>
          <a:bodyPr anchor="t" rtlCol="false" tIns="0" lIns="0" bIns="0" rIns="0">
            <a:spAutoFit/>
          </a:bodyPr>
          <a:lstStyle/>
          <a:p>
            <a:pPr algn="ctr">
              <a:lnSpc>
                <a:spcPts val="4332"/>
              </a:lnSpc>
            </a:pPr>
            <a:r>
              <a:rPr lang="en-US" sz="3094" spc="68">
                <a:solidFill>
                  <a:srgbClr val="152540"/>
                </a:solidFill>
                <a:latin typeface="Glacial Indifference"/>
                <a:ea typeface="Glacial Indifference"/>
                <a:cs typeface="Glacial Indifference"/>
                <a:sym typeface="Glacial Indifference"/>
              </a:rPr>
              <a:t>Direct</a:t>
            </a:r>
            <a:r>
              <a:rPr lang="en-US" sz="3094" spc="68" strike="noStrike" u="none">
                <a:solidFill>
                  <a:srgbClr val="152540"/>
                </a:solidFill>
                <a:latin typeface="Glacial Indifference"/>
                <a:ea typeface="Glacial Indifference"/>
                <a:cs typeface="Glacial Indifference"/>
                <a:sym typeface="Glacial Indifference"/>
              </a:rPr>
              <a:t>o:</a:t>
            </a:r>
          </a:p>
          <a:p>
            <a:pPr algn="ctr">
              <a:lnSpc>
                <a:spcPts val="4332"/>
              </a:lnSpc>
            </a:pPr>
            <a:r>
              <a:rPr lang="en-US" sz="3094" spc="68" strike="noStrike" u="none">
                <a:solidFill>
                  <a:srgbClr val="152540"/>
                </a:solidFill>
                <a:latin typeface="Glacial Indifference"/>
                <a:ea typeface="Glacial Indifference"/>
                <a:cs typeface="Glacial Indifference"/>
                <a:sym typeface="Glacial Indifference"/>
              </a:rPr>
              <a:t>Murió.</a:t>
            </a:r>
          </a:p>
          <a:p>
            <a:pPr algn="ctr" marL="668101" indent="-334050" lvl="1">
              <a:lnSpc>
                <a:spcPts val="4332"/>
              </a:lnSpc>
              <a:buFont typeface="Arial"/>
              <a:buChar char="•"/>
            </a:pPr>
          </a:p>
          <a:p>
            <a:pPr algn="ctr">
              <a:lnSpc>
                <a:spcPts val="4332"/>
              </a:lnSpc>
            </a:pPr>
            <a:r>
              <a:rPr lang="en-US" sz="3094" spc="68" strike="noStrike" u="none">
                <a:solidFill>
                  <a:srgbClr val="152540"/>
                </a:solidFill>
                <a:latin typeface="Glacial Indifference"/>
                <a:ea typeface="Glacial Indifference"/>
                <a:cs typeface="Glacial Indifference"/>
                <a:sym typeface="Glacial Indifference"/>
              </a:rPr>
              <a:t>Eufemismo excesivo:</a:t>
            </a:r>
          </a:p>
          <a:p>
            <a:pPr algn="ctr" marL="668101" indent="-334050" lvl="1">
              <a:lnSpc>
                <a:spcPts val="4332"/>
              </a:lnSpc>
              <a:buFont typeface="Arial"/>
              <a:buChar char="•"/>
            </a:pPr>
            <a:r>
              <a:rPr lang="en-US" sz="3094" spc="68" strike="noStrike" u="none">
                <a:solidFill>
                  <a:srgbClr val="152540"/>
                </a:solidFill>
                <a:latin typeface="Glacial Indifference"/>
                <a:ea typeface="Glacial Indifference"/>
                <a:cs typeface="Glacial Indifference"/>
                <a:sym typeface="Glacial Indifference"/>
              </a:rPr>
              <a:t>Pasó a mejor vida.</a:t>
            </a:r>
          </a:p>
          <a:p>
            <a:pPr algn="ctr" marL="668101" indent="-334050" lvl="1">
              <a:lnSpc>
                <a:spcPts val="4332"/>
              </a:lnSpc>
              <a:buFont typeface="Arial"/>
              <a:buChar char="•"/>
            </a:pPr>
          </a:p>
          <a:p>
            <a:pPr algn="ctr">
              <a:lnSpc>
                <a:spcPts val="4332"/>
              </a:lnSpc>
            </a:pPr>
            <a:r>
              <a:rPr lang="en-US" sz="3094" spc="68" strike="noStrike" u="none">
                <a:solidFill>
                  <a:srgbClr val="152540"/>
                </a:solidFill>
                <a:latin typeface="Glacial Indifference"/>
                <a:ea typeface="Glacial Indifference"/>
                <a:cs typeface="Glacial Indifference"/>
                <a:sym typeface="Glacial Indifference"/>
              </a:rPr>
              <a:t>Directo:</a:t>
            </a:r>
          </a:p>
          <a:p>
            <a:pPr algn="ctr">
              <a:lnSpc>
                <a:spcPts val="4332"/>
              </a:lnSpc>
            </a:pPr>
            <a:r>
              <a:rPr lang="en-US" sz="3094" spc="68" strike="noStrike" u="none">
                <a:solidFill>
                  <a:srgbClr val="152540"/>
                </a:solidFill>
                <a:latin typeface="Glacial Indifference"/>
                <a:ea typeface="Glacial Indifference"/>
                <a:cs typeface="Glacial Indifference"/>
                <a:sym typeface="Glacial Indifference"/>
              </a:rPr>
              <a:t> </a:t>
            </a:r>
            <a:r>
              <a:rPr lang="en-US" sz="3094" spc="68" strike="noStrike" u="none">
                <a:solidFill>
                  <a:srgbClr val="152540"/>
                </a:solidFill>
                <a:latin typeface="Glacial Indifference"/>
                <a:ea typeface="Glacial Indifference"/>
                <a:cs typeface="Glacial Indifference"/>
                <a:sym typeface="Glacial Indifference"/>
              </a:rPr>
              <a:t>Es pobre.</a:t>
            </a:r>
          </a:p>
          <a:p>
            <a:pPr algn="ctr" marL="668101" indent="-334050" lvl="1">
              <a:lnSpc>
                <a:spcPts val="4332"/>
              </a:lnSpc>
              <a:buFont typeface="Arial"/>
              <a:buChar char="•"/>
            </a:pPr>
          </a:p>
          <a:p>
            <a:pPr algn="ctr">
              <a:lnSpc>
                <a:spcPts val="4332"/>
              </a:lnSpc>
            </a:pPr>
            <a:r>
              <a:rPr lang="en-US" sz="3094" spc="68" strike="noStrike" u="none">
                <a:solidFill>
                  <a:srgbClr val="152540"/>
                </a:solidFill>
                <a:latin typeface="Glacial Indifference"/>
                <a:ea typeface="Glacial Indifference"/>
                <a:cs typeface="Glacial Indifference"/>
                <a:sym typeface="Glacial Indifference"/>
              </a:rPr>
              <a:t>Eufemismo excesivo:</a:t>
            </a:r>
          </a:p>
          <a:p>
            <a:pPr algn="ctr" marL="668101" indent="-334050" lvl="1">
              <a:lnSpc>
                <a:spcPts val="4332"/>
              </a:lnSpc>
              <a:buFont typeface="Arial"/>
              <a:buChar char="•"/>
            </a:pPr>
            <a:r>
              <a:rPr lang="en-US" sz="3094" spc="68" strike="noStrike" u="none">
                <a:solidFill>
                  <a:srgbClr val="152540"/>
                </a:solidFill>
                <a:latin typeface="Glacial Indifference"/>
                <a:ea typeface="Glacial Indifference"/>
                <a:cs typeface="Glacial Indifference"/>
                <a:sym typeface="Glacial Indifference"/>
              </a:rPr>
              <a:t>Es</a:t>
            </a:r>
            <a:r>
              <a:rPr lang="en-US" sz="3094" spc="68" strike="noStrike" u="none">
                <a:solidFill>
                  <a:srgbClr val="152540"/>
                </a:solidFill>
                <a:latin typeface="Glacial Indifference"/>
                <a:ea typeface="Glacial Indifference"/>
                <a:cs typeface="Glacial Indifference"/>
                <a:sym typeface="Glacial Indifference"/>
              </a:rPr>
              <a:t> una persona de recursos económicos limitados.</a:t>
            </a:r>
          </a:p>
          <a:p>
            <a:pPr algn="ctr">
              <a:lnSpc>
                <a:spcPts val="3912"/>
              </a:lnSpc>
            </a:pPr>
          </a:p>
        </p:txBody>
      </p:sp>
      <p:sp>
        <p:nvSpPr>
          <p:cNvPr name="TextBox 8" id="8"/>
          <p:cNvSpPr txBox="true"/>
          <p:nvPr/>
        </p:nvSpPr>
        <p:spPr>
          <a:xfrm rot="0">
            <a:off x="5659591" y="1298032"/>
            <a:ext cx="7543218" cy="1028008"/>
          </a:xfrm>
          <a:prstGeom prst="rect">
            <a:avLst/>
          </a:prstGeom>
        </p:spPr>
        <p:txBody>
          <a:bodyPr anchor="t" rtlCol="false" tIns="0" lIns="0" bIns="0" rIns="0">
            <a:spAutoFit/>
          </a:bodyPr>
          <a:lstStyle/>
          <a:p>
            <a:pPr algn="ctr">
              <a:lnSpc>
                <a:spcPts val="8438"/>
              </a:lnSpc>
            </a:pPr>
            <a:r>
              <a:rPr lang="en-US" b="true" sz="6027" spc="566">
                <a:solidFill>
                  <a:srgbClr val="152540"/>
                </a:solidFill>
                <a:latin typeface="Glacial Indifference Bold"/>
                <a:ea typeface="Glacial Indifference Bold"/>
                <a:cs typeface="Glacial Indifference Bold"/>
                <a:sym typeface="Glacial Indifference Bold"/>
              </a:rPr>
              <a:t>EJEMPLOS:</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bg>
      <p:bgPr>
        <a:solidFill>
          <a:srgbClr val="EDE8E4"/>
        </a:solidFill>
      </p:bgPr>
    </p:bg>
    <p:spTree>
      <p:nvGrpSpPr>
        <p:cNvPr id="1" name=""/>
        <p:cNvGrpSpPr/>
        <p:nvPr/>
      </p:nvGrpSpPr>
      <p:grpSpPr>
        <a:xfrm>
          <a:off x="0" y="0"/>
          <a:ext cx="0" cy="0"/>
          <a:chOff x="0" y="0"/>
          <a:chExt cx="0" cy="0"/>
        </a:xfrm>
      </p:grpSpPr>
      <p:sp>
        <p:nvSpPr>
          <p:cNvPr name="Freeform 2" id="2"/>
          <p:cNvSpPr/>
          <p:nvPr/>
        </p:nvSpPr>
        <p:spPr>
          <a:xfrm flipH="false" flipV="false" rot="-445925">
            <a:off x="3142738" y="-769394"/>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8798399">
            <a:off x="8466276" y="-9590538"/>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3283157">
            <a:off x="-1501206" y="7329841"/>
            <a:ext cx="5624862" cy="7545546"/>
          </a:xfrm>
          <a:custGeom>
            <a:avLst/>
            <a:gdLst/>
            <a:ahLst/>
            <a:cxnLst/>
            <a:rect r="r" b="b" t="t" l="l"/>
            <a:pathLst>
              <a:path h="7545546" w="5624862">
                <a:moveTo>
                  <a:pt x="0" y="0"/>
                </a:moveTo>
                <a:lnTo>
                  <a:pt x="5624862" y="0"/>
                </a:lnTo>
                <a:lnTo>
                  <a:pt x="5624862" y="7545546"/>
                </a:lnTo>
                <a:lnTo>
                  <a:pt x="0" y="75455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2770156">
            <a:off x="-2577184" y="-2165857"/>
            <a:ext cx="5154368" cy="4995052"/>
          </a:xfrm>
          <a:custGeom>
            <a:avLst/>
            <a:gdLst/>
            <a:ahLst/>
            <a:cxnLst/>
            <a:rect r="r" b="b" t="t" l="l"/>
            <a:pathLst>
              <a:path h="4995052" w="5154368">
                <a:moveTo>
                  <a:pt x="0" y="0"/>
                </a:moveTo>
                <a:lnTo>
                  <a:pt x="5154368" y="0"/>
                </a:lnTo>
                <a:lnTo>
                  <a:pt x="5154368" y="4995051"/>
                </a:lnTo>
                <a:lnTo>
                  <a:pt x="0" y="49950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2770156">
            <a:off x="15710816" y="8522875"/>
            <a:ext cx="5154368" cy="4995052"/>
          </a:xfrm>
          <a:custGeom>
            <a:avLst/>
            <a:gdLst/>
            <a:ahLst/>
            <a:cxnLst/>
            <a:rect r="r" b="b" t="t" l="l"/>
            <a:pathLst>
              <a:path h="4995052" w="5154368">
                <a:moveTo>
                  <a:pt x="0" y="0"/>
                </a:moveTo>
                <a:lnTo>
                  <a:pt x="5154368" y="0"/>
                </a:lnTo>
                <a:lnTo>
                  <a:pt x="5154368" y="4995052"/>
                </a:lnTo>
                <a:lnTo>
                  <a:pt x="0" y="49950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7" id="7"/>
          <p:cNvSpPr txBox="true"/>
          <p:nvPr/>
        </p:nvSpPr>
        <p:spPr>
          <a:xfrm rot="0">
            <a:off x="2526598" y="3530260"/>
            <a:ext cx="13776722" cy="3201810"/>
          </a:xfrm>
          <a:prstGeom prst="rect">
            <a:avLst/>
          </a:prstGeom>
        </p:spPr>
        <p:txBody>
          <a:bodyPr anchor="t" rtlCol="false" tIns="0" lIns="0" bIns="0" rIns="0">
            <a:spAutoFit/>
          </a:bodyPr>
          <a:lstStyle/>
          <a:p>
            <a:pPr algn="ctr">
              <a:lnSpc>
                <a:spcPts val="4332"/>
              </a:lnSpc>
            </a:pPr>
            <a:r>
              <a:rPr lang="en-US" sz="3094" spc="68">
                <a:solidFill>
                  <a:srgbClr val="152540"/>
                </a:solidFill>
                <a:latin typeface="Glacial Indifference"/>
                <a:ea typeface="Glacial Indifference"/>
                <a:cs typeface="Glacial Indifference"/>
                <a:sym typeface="Glacial Indifference"/>
              </a:rPr>
              <a:t>Transf</a:t>
            </a:r>
            <a:r>
              <a:rPr lang="en-US" sz="3094" spc="68" strike="noStrike" u="none">
                <a:solidFill>
                  <a:srgbClr val="152540"/>
                </a:solidFill>
                <a:latin typeface="Glacial Indifference"/>
                <a:ea typeface="Glacial Indifference"/>
                <a:cs typeface="Glacial Indifference"/>
                <a:sym typeface="Glacial Indifference"/>
              </a:rPr>
              <a:t>orma las siguientes frases en una forma más directa:</a:t>
            </a:r>
          </a:p>
          <a:p>
            <a:pPr algn="ctr">
              <a:lnSpc>
                <a:spcPts val="4332"/>
              </a:lnSpc>
            </a:pPr>
          </a:p>
          <a:p>
            <a:pPr algn="ctr" marL="668101" indent="-334050" lvl="1">
              <a:lnSpc>
                <a:spcPts val="4332"/>
              </a:lnSpc>
              <a:buAutoNum type="arabicPeriod" startAt="1"/>
            </a:pPr>
            <a:r>
              <a:rPr lang="en-US" sz="3094" spc="68" strike="noStrike" u="none">
                <a:solidFill>
                  <a:srgbClr val="152540"/>
                </a:solidFill>
                <a:latin typeface="Glacial Indifference"/>
                <a:ea typeface="Glacial Indifference"/>
                <a:cs typeface="Glacial Indifference"/>
                <a:sym typeface="Glacial Indifference"/>
              </a:rPr>
              <a:t>Per</a:t>
            </a:r>
            <a:r>
              <a:rPr lang="en-US" sz="3094" spc="68" strike="noStrike" u="none">
                <a:solidFill>
                  <a:srgbClr val="152540"/>
                </a:solidFill>
                <a:latin typeface="Glacial Indifference"/>
                <a:ea typeface="Glacial Indifference"/>
                <a:cs typeface="Glacial Indifference"/>
                <a:sym typeface="Glacial Indifference"/>
              </a:rPr>
              <a:t>sona de edad avanzada.</a:t>
            </a:r>
          </a:p>
          <a:p>
            <a:pPr algn="ctr" marL="668101" indent="-334050" lvl="1">
              <a:lnSpc>
                <a:spcPts val="4332"/>
              </a:lnSpc>
              <a:buAutoNum type="arabicPeriod" startAt="1"/>
            </a:pPr>
            <a:r>
              <a:rPr lang="en-US" sz="3094" spc="68" strike="noStrike" u="none">
                <a:solidFill>
                  <a:srgbClr val="152540"/>
                </a:solidFill>
                <a:latin typeface="Glacial Indifference"/>
                <a:ea typeface="Glacial Indifference"/>
                <a:cs typeface="Glacial Indifference"/>
                <a:sym typeface="Glacial Indifference"/>
              </a:rPr>
              <a:t>C</a:t>
            </a:r>
            <a:r>
              <a:rPr lang="en-US" sz="3094" spc="68" strike="noStrike" u="none">
                <a:solidFill>
                  <a:srgbClr val="152540"/>
                </a:solidFill>
                <a:latin typeface="Glacial Indifference"/>
                <a:ea typeface="Glacial Indifference"/>
                <a:cs typeface="Glacial Indifference"/>
                <a:sym typeface="Glacial Indifference"/>
              </a:rPr>
              <a:t>entro de descan</a:t>
            </a:r>
            <a:r>
              <a:rPr lang="en-US" sz="3094" spc="68" strike="noStrike" u="none">
                <a:solidFill>
                  <a:srgbClr val="152540"/>
                </a:solidFill>
                <a:latin typeface="Glacial Indifference"/>
                <a:ea typeface="Glacial Indifference"/>
                <a:cs typeface="Glacial Indifference"/>
                <a:sym typeface="Glacial Indifference"/>
              </a:rPr>
              <a:t>so</a:t>
            </a:r>
            <a:r>
              <a:rPr lang="en-US" sz="3094" spc="68" strike="noStrike" u="none">
                <a:solidFill>
                  <a:srgbClr val="152540"/>
                </a:solidFill>
                <a:latin typeface="Glacial Indifference"/>
                <a:ea typeface="Glacial Indifference"/>
                <a:cs typeface="Glacial Indifference"/>
                <a:sym typeface="Glacial Indifference"/>
              </a:rPr>
              <a:t> eterno.</a:t>
            </a:r>
          </a:p>
          <a:p>
            <a:pPr algn="ctr" marL="668101" indent="-334050" lvl="1">
              <a:lnSpc>
                <a:spcPts val="4332"/>
              </a:lnSpc>
              <a:buAutoNum type="arabicPeriod" startAt="1"/>
            </a:pPr>
            <a:r>
              <a:rPr lang="en-US" sz="3094" spc="68" strike="noStrike" u="none">
                <a:solidFill>
                  <a:srgbClr val="152540"/>
                </a:solidFill>
                <a:latin typeface="Glacial Indifference"/>
                <a:ea typeface="Glacial Indifference"/>
                <a:cs typeface="Glacial Indifference"/>
                <a:sym typeface="Glacial Indifference"/>
              </a:rPr>
              <a:t>Persona con capacidades diferentes.</a:t>
            </a:r>
          </a:p>
          <a:p>
            <a:pPr algn="ctr">
              <a:lnSpc>
                <a:spcPts val="3912"/>
              </a:lnSpc>
            </a:pPr>
          </a:p>
        </p:txBody>
      </p:sp>
      <p:sp>
        <p:nvSpPr>
          <p:cNvPr name="TextBox 8" id="8"/>
          <p:cNvSpPr txBox="true"/>
          <p:nvPr/>
        </p:nvSpPr>
        <p:spPr>
          <a:xfrm rot="0">
            <a:off x="5643351" y="923925"/>
            <a:ext cx="7543218" cy="1962093"/>
          </a:xfrm>
          <a:prstGeom prst="rect">
            <a:avLst/>
          </a:prstGeom>
        </p:spPr>
        <p:txBody>
          <a:bodyPr anchor="t" rtlCol="false" tIns="0" lIns="0" bIns="0" rIns="0">
            <a:spAutoFit/>
          </a:bodyPr>
          <a:lstStyle/>
          <a:p>
            <a:pPr algn="ctr">
              <a:lnSpc>
                <a:spcPts val="7878"/>
              </a:lnSpc>
            </a:pPr>
            <a:r>
              <a:rPr lang="en-US" b="true" sz="5627" spc="528">
                <a:solidFill>
                  <a:srgbClr val="152540"/>
                </a:solidFill>
                <a:latin typeface="Glacial Indifference Bold"/>
                <a:ea typeface="Glacial Indifference Bold"/>
                <a:cs typeface="Glacial Indifference Bold"/>
                <a:sym typeface="Glacial Indifference Bold"/>
              </a:rPr>
              <a:t>EJEMEJERCICIO DE APLICACIÓN.</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bg>
      <p:bgPr>
        <a:solidFill>
          <a:srgbClr val="EDE8E4"/>
        </a:solidFill>
      </p:bgPr>
    </p:bg>
    <p:spTree>
      <p:nvGrpSpPr>
        <p:cNvPr id="1" name=""/>
        <p:cNvGrpSpPr/>
        <p:nvPr/>
      </p:nvGrpSpPr>
      <p:grpSpPr>
        <a:xfrm>
          <a:off x="0" y="0"/>
          <a:ext cx="0" cy="0"/>
          <a:chOff x="0" y="0"/>
          <a:chExt cx="0" cy="0"/>
        </a:xfrm>
      </p:grpSpPr>
      <p:sp>
        <p:nvSpPr>
          <p:cNvPr name="Freeform 2" id="2"/>
          <p:cNvSpPr/>
          <p:nvPr/>
        </p:nvSpPr>
        <p:spPr>
          <a:xfrm flipH="false" flipV="false" rot="-445925">
            <a:off x="3142738" y="-769394"/>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8798399">
            <a:off x="8466276" y="-9590538"/>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3283157">
            <a:off x="-1501206" y="7329841"/>
            <a:ext cx="5624862" cy="7545546"/>
          </a:xfrm>
          <a:custGeom>
            <a:avLst/>
            <a:gdLst/>
            <a:ahLst/>
            <a:cxnLst/>
            <a:rect r="r" b="b" t="t" l="l"/>
            <a:pathLst>
              <a:path h="7545546" w="5624862">
                <a:moveTo>
                  <a:pt x="0" y="0"/>
                </a:moveTo>
                <a:lnTo>
                  <a:pt x="5624862" y="0"/>
                </a:lnTo>
                <a:lnTo>
                  <a:pt x="5624862" y="7545546"/>
                </a:lnTo>
                <a:lnTo>
                  <a:pt x="0" y="75455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2770156">
            <a:off x="-2577184" y="-2165857"/>
            <a:ext cx="5154368" cy="4995052"/>
          </a:xfrm>
          <a:custGeom>
            <a:avLst/>
            <a:gdLst/>
            <a:ahLst/>
            <a:cxnLst/>
            <a:rect r="r" b="b" t="t" l="l"/>
            <a:pathLst>
              <a:path h="4995052" w="5154368">
                <a:moveTo>
                  <a:pt x="0" y="0"/>
                </a:moveTo>
                <a:lnTo>
                  <a:pt x="5154368" y="0"/>
                </a:lnTo>
                <a:lnTo>
                  <a:pt x="5154368" y="4995051"/>
                </a:lnTo>
                <a:lnTo>
                  <a:pt x="0" y="49950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2770156">
            <a:off x="15710816" y="8522875"/>
            <a:ext cx="5154368" cy="4995052"/>
          </a:xfrm>
          <a:custGeom>
            <a:avLst/>
            <a:gdLst/>
            <a:ahLst/>
            <a:cxnLst/>
            <a:rect r="r" b="b" t="t" l="l"/>
            <a:pathLst>
              <a:path h="4995052" w="5154368">
                <a:moveTo>
                  <a:pt x="0" y="0"/>
                </a:moveTo>
                <a:lnTo>
                  <a:pt x="5154368" y="0"/>
                </a:lnTo>
                <a:lnTo>
                  <a:pt x="5154368" y="4995052"/>
                </a:lnTo>
                <a:lnTo>
                  <a:pt x="0" y="49950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7" id="7"/>
          <p:cNvSpPr txBox="true"/>
          <p:nvPr/>
        </p:nvSpPr>
        <p:spPr>
          <a:xfrm rot="0">
            <a:off x="2526598" y="4247127"/>
            <a:ext cx="13776722" cy="2888120"/>
          </a:xfrm>
          <a:prstGeom prst="rect">
            <a:avLst/>
          </a:prstGeom>
        </p:spPr>
        <p:txBody>
          <a:bodyPr anchor="t" rtlCol="false" tIns="0" lIns="0" bIns="0" rIns="0">
            <a:spAutoFit/>
          </a:bodyPr>
          <a:lstStyle/>
          <a:p>
            <a:pPr algn="ctr">
              <a:lnSpc>
                <a:spcPts val="4612"/>
              </a:lnSpc>
            </a:pPr>
            <a:r>
              <a:rPr lang="en-US" sz="3294" spc="72">
                <a:solidFill>
                  <a:srgbClr val="152540"/>
                </a:solidFill>
                <a:latin typeface="Glacial Indifference"/>
                <a:ea typeface="Glacial Indifference"/>
                <a:cs typeface="Glacial Indifference"/>
                <a:sym typeface="Glacial Indifference"/>
              </a:rPr>
              <a:t> Es el uso de</a:t>
            </a:r>
            <a:r>
              <a:rPr lang="en-US" sz="3294" spc="72" strike="noStrike" u="none">
                <a:solidFill>
                  <a:srgbClr val="152540"/>
                </a:solidFill>
                <a:latin typeface="Glacial Indifference"/>
                <a:ea typeface="Glacial Indifference"/>
                <a:cs typeface="Glacial Indifference"/>
                <a:sym typeface="Glacial Indifference"/>
              </a:rPr>
              <a:t> palabras de otro idioma (generalmente del inglés) cuando en español ya existe una palabra equivalente que expresa lo mismo. Esto no es incorrecto en todos los casos, pero se considera un vicio del lenguaje cuando se usa sin necesidad, ya que empobrece el idioma.</a:t>
            </a:r>
          </a:p>
          <a:p>
            <a:pPr algn="ctr">
              <a:lnSpc>
                <a:spcPts val="4612"/>
              </a:lnSpc>
            </a:pPr>
          </a:p>
        </p:txBody>
      </p:sp>
      <p:sp>
        <p:nvSpPr>
          <p:cNvPr name="TextBox 8" id="8"/>
          <p:cNvSpPr txBox="true"/>
          <p:nvPr/>
        </p:nvSpPr>
        <p:spPr>
          <a:xfrm rot="0">
            <a:off x="5361714" y="217368"/>
            <a:ext cx="8106490" cy="2094808"/>
          </a:xfrm>
          <a:prstGeom prst="rect">
            <a:avLst/>
          </a:prstGeom>
        </p:spPr>
        <p:txBody>
          <a:bodyPr anchor="t" rtlCol="false" tIns="0" lIns="0" bIns="0" rIns="0">
            <a:spAutoFit/>
          </a:bodyPr>
          <a:lstStyle/>
          <a:p>
            <a:pPr algn="ctr">
              <a:lnSpc>
                <a:spcPts val="8438"/>
              </a:lnSpc>
            </a:pPr>
            <a:r>
              <a:rPr lang="en-US" b="true" sz="6027" spc="566">
                <a:solidFill>
                  <a:srgbClr val="152540"/>
                </a:solidFill>
                <a:latin typeface="Glacial Indifference Bold"/>
                <a:ea typeface="Glacial Indifference Bold"/>
                <a:cs typeface="Glacial Indifference Bold"/>
                <a:sym typeface="Glacial Indifference Bold"/>
              </a:rPr>
              <a:t>​9. EXTRANJERISMO INNECESARIO</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bg>
      <p:bgPr>
        <a:solidFill>
          <a:srgbClr val="EDE8E4"/>
        </a:solidFill>
      </p:bgPr>
    </p:bg>
    <p:spTree>
      <p:nvGrpSpPr>
        <p:cNvPr id="1" name=""/>
        <p:cNvGrpSpPr/>
        <p:nvPr/>
      </p:nvGrpSpPr>
      <p:grpSpPr>
        <a:xfrm>
          <a:off x="0" y="0"/>
          <a:ext cx="0" cy="0"/>
          <a:chOff x="0" y="0"/>
          <a:chExt cx="0" cy="0"/>
        </a:xfrm>
      </p:grpSpPr>
      <p:sp>
        <p:nvSpPr>
          <p:cNvPr name="Freeform 2" id="2"/>
          <p:cNvSpPr/>
          <p:nvPr/>
        </p:nvSpPr>
        <p:spPr>
          <a:xfrm flipH="false" flipV="false" rot="-445925">
            <a:off x="3142738" y="-769394"/>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8798399">
            <a:off x="8466276" y="-9590538"/>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3283157">
            <a:off x="-1501206" y="7329841"/>
            <a:ext cx="5624862" cy="7545546"/>
          </a:xfrm>
          <a:custGeom>
            <a:avLst/>
            <a:gdLst/>
            <a:ahLst/>
            <a:cxnLst/>
            <a:rect r="r" b="b" t="t" l="l"/>
            <a:pathLst>
              <a:path h="7545546" w="5624862">
                <a:moveTo>
                  <a:pt x="0" y="0"/>
                </a:moveTo>
                <a:lnTo>
                  <a:pt x="5624862" y="0"/>
                </a:lnTo>
                <a:lnTo>
                  <a:pt x="5624862" y="7545546"/>
                </a:lnTo>
                <a:lnTo>
                  <a:pt x="0" y="75455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2770156">
            <a:off x="-2577184" y="-2165857"/>
            <a:ext cx="5154368" cy="4995052"/>
          </a:xfrm>
          <a:custGeom>
            <a:avLst/>
            <a:gdLst/>
            <a:ahLst/>
            <a:cxnLst/>
            <a:rect r="r" b="b" t="t" l="l"/>
            <a:pathLst>
              <a:path h="4995052" w="5154368">
                <a:moveTo>
                  <a:pt x="0" y="0"/>
                </a:moveTo>
                <a:lnTo>
                  <a:pt x="5154368" y="0"/>
                </a:lnTo>
                <a:lnTo>
                  <a:pt x="5154368" y="4995051"/>
                </a:lnTo>
                <a:lnTo>
                  <a:pt x="0" y="49950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2770156">
            <a:off x="15710816" y="8522875"/>
            <a:ext cx="5154368" cy="4995052"/>
          </a:xfrm>
          <a:custGeom>
            <a:avLst/>
            <a:gdLst/>
            <a:ahLst/>
            <a:cxnLst/>
            <a:rect r="r" b="b" t="t" l="l"/>
            <a:pathLst>
              <a:path h="4995052" w="5154368">
                <a:moveTo>
                  <a:pt x="0" y="0"/>
                </a:moveTo>
                <a:lnTo>
                  <a:pt x="5154368" y="0"/>
                </a:lnTo>
                <a:lnTo>
                  <a:pt x="5154368" y="4995052"/>
                </a:lnTo>
                <a:lnTo>
                  <a:pt x="0" y="49950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7" id="7"/>
          <p:cNvSpPr txBox="true"/>
          <p:nvPr/>
        </p:nvSpPr>
        <p:spPr>
          <a:xfrm rot="0">
            <a:off x="2526598" y="3688632"/>
            <a:ext cx="13776722" cy="1145045"/>
          </a:xfrm>
          <a:prstGeom prst="rect">
            <a:avLst/>
          </a:prstGeom>
        </p:spPr>
        <p:txBody>
          <a:bodyPr anchor="t" rtlCol="false" tIns="0" lIns="0" bIns="0" rIns="0">
            <a:spAutoFit/>
          </a:bodyPr>
          <a:lstStyle/>
          <a:p>
            <a:pPr algn="ctr">
              <a:lnSpc>
                <a:spcPts val="4612"/>
              </a:lnSpc>
            </a:pPr>
            <a:r>
              <a:rPr lang="en-US" sz="3294" spc="72">
                <a:solidFill>
                  <a:srgbClr val="152540"/>
                </a:solidFill>
                <a:latin typeface="Glacial Indifference"/>
                <a:ea typeface="Glacial Indifference"/>
                <a:cs typeface="Glacial Indifference"/>
                <a:sym typeface="Glacial Indifference"/>
              </a:rPr>
              <a:t>D</a:t>
            </a:r>
            <a:r>
              <a:rPr lang="en-US" sz="3294" spc="72" strike="noStrike" u="none">
                <a:solidFill>
                  <a:srgbClr val="152540"/>
                </a:solidFill>
                <a:latin typeface="Glacial Indifference"/>
                <a:ea typeface="Glacial Indifference"/>
                <a:cs typeface="Glacial Indifference"/>
                <a:sym typeface="Glacial Indifference"/>
              </a:rPr>
              <a:t>ecir "link" en vez de "enlace".</a:t>
            </a:r>
          </a:p>
          <a:p>
            <a:pPr algn="ctr">
              <a:lnSpc>
                <a:spcPts val="4612"/>
              </a:lnSpc>
            </a:pPr>
            <a:r>
              <a:rPr lang="en-US" sz="3294" spc="72" strike="noStrike" u="none">
                <a:solidFill>
                  <a:srgbClr val="152540"/>
                </a:solidFill>
                <a:latin typeface="Glacial Indifference"/>
                <a:ea typeface="Glacial Indifference"/>
                <a:cs typeface="Glacial Indifference"/>
                <a:sym typeface="Glacial Indifference"/>
              </a:rPr>
              <a:t>Sustituye el error: "Mira el show de luces".</a:t>
            </a:r>
          </a:p>
        </p:txBody>
      </p:sp>
      <p:sp>
        <p:nvSpPr>
          <p:cNvPr name="TextBox 8" id="8"/>
          <p:cNvSpPr txBox="true"/>
          <p:nvPr/>
        </p:nvSpPr>
        <p:spPr>
          <a:xfrm rot="0">
            <a:off x="5643351" y="1752706"/>
            <a:ext cx="7543218" cy="1028008"/>
          </a:xfrm>
          <a:prstGeom prst="rect">
            <a:avLst/>
          </a:prstGeom>
        </p:spPr>
        <p:txBody>
          <a:bodyPr anchor="t" rtlCol="false" tIns="0" lIns="0" bIns="0" rIns="0">
            <a:spAutoFit/>
          </a:bodyPr>
          <a:lstStyle/>
          <a:p>
            <a:pPr algn="ctr">
              <a:lnSpc>
                <a:spcPts val="8438"/>
              </a:lnSpc>
            </a:pPr>
            <a:r>
              <a:rPr lang="en-US" b="true" sz="6027" spc="566">
                <a:solidFill>
                  <a:srgbClr val="152540"/>
                </a:solidFill>
                <a:latin typeface="Glacial Indifference Bold"/>
                <a:ea typeface="Glacial Indifference Bold"/>
                <a:cs typeface="Glacial Indifference Bold"/>
                <a:sym typeface="Glacial Indifference Bold"/>
              </a:rPr>
              <a:t>EJEMPLO:</a:t>
            </a: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bg>
      <p:bgPr>
        <a:solidFill>
          <a:srgbClr val="EDE8E4"/>
        </a:solidFill>
      </p:bgPr>
    </p:bg>
    <p:spTree>
      <p:nvGrpSpPr>
        <p:cNvPr id="1" name=""/>
        <p:cNvGrpSpPr/>
        <p:nvPr/>
      </p:nvGrpSpPr>
      <p:grpSpPr>
        <a:xfrm>
          <a:off x="0" y="0"/>
          <a:ext cx="0" cy="0"/>
          <a:chOff x="0" y="0"/>
          <a:chExt cx="0" cy="0"/>
        </a:xfrm>
      </p:grpSpPr>
      <p:sp>
        <p:nvSpPr>
          <p:cNvPr name="Freeform 2" id="2"/>
          <p:cNvSpPr/>
          <p:nvPr/>
        </p:nvSpPr>
        <p:spPr>
          <a:xfrm flipH="false" flipV="false" rot="-445925">
            <a:off x="3142738" y="-769394"/>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8798399">
            <a:off x="8466276" y="-9590538"/>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3283157">
            <a:off x="-1501206" y="7329841"/>
            <a:ext cx="5624862" cy="7545546"/>
          </a:xfrm>
          <a:custGeom>
            <a:avLst/>
            <a:gdLst/>
            <a:ahLst/>
            <a:cxnLst/>
            <a:rect r="r" b="b" t="t" l="l"/>
            <a:pathLst>
              <a:path h="7545546" w="5624862">
                <a:moveTo>
                  <a:pt x="0" y="0"/>
                </a:moveTo>
                <a:lnTo>
                  <a:pt x="5624862" y="0"/>
                </a:lnTo>
                <a:lnTo>
                  <a:pt x="5624862" y="7545546"/>
                </a:lnTo>
                <a:lnTo>
                  <a:pt x="0" y="75455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2770156">
            <a:off x="-2577184" y="-2165857"/>
            <a:ext cx="5154368" cy="4995052"/>
          </a:xfrm>
          <a:custGeom>
            <a:avLst/>
            <a:gdLst/>
            <a:ahLst/>
            <a:cxnLst/>
            <a:rect r="r" b="b" t="t" l="l"/>
            <a:pathLst>
              <a:path h="4995052" w="5154368">
                <a:moveTo>
                  <a:pt x="0" y="0"/>
                </a:moveTo>
                <a:lnTo>
                  <a:pt x="5154368" y="0"/>
                </a:lnTo>
                <a:lnTo>
                  <a:pt x="5154368" y="4995051"/>
                </a:lnTo>
                <a:lnTo>
                  <a:pt x="0" y="49950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2770156">
            <a:off x="15710816" y="8522875"/>
            <a:ext cx="5154368" cy="4995052"/>
          </a:xfrm>
          <a:custGeom>
            <a:avLst/>
            <a:gdLst/>
            <a:ahLst/>
            <a:cxnLst/>
            <a:rect r="r" b="b" t="t" l="l"/>
            <a:pathLst>
              <a:path h="4995052" w="5154368">
                <a:moveTo>
                  <a:pt x="0" y="0"/>
                </a:moveTo>
                <a:lnTo>
                  <a:pt x="5154368" y="0"/>
                </a:lnTo>
                <a:lnTo>
                  <a:pt x="5154368" y="4995052"/>
                </a:lnTo>
                <a:lnTo>
                  <a:pt x="0" y="49950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7" id="7"/>
          <p:cNvSpPr txBox="true"/>
          <p:nvPr/>
        </p:nvSpPr>
        <p:spPr>
          <a:xfrm rot="0">
            <a:off x="2526598" y="4182425"/>
            <a:ext cx="13776722" cy="1145045"/>
          </a:xfrm>
          <a:prstGeom prst="rect">
            <a:avLst/>
          </a:prstGeom>
        </p:spPr>
        <p:txBody>
          <a:bodyPr anchor="t" rtlCol="false" tIns="0" lIns="0" bIns="0" rIns="0">
            <a:spAutoFit/>
          </a:bodyPr>
          <a:lstStyle/>
          <a:p>
            <a:pPr algn="ctr">
              <a:lnSpc>
                <a:spcPts val="4612"/>
              </a:lnSpc>
            </a:pPr>
            <a:r>
              <a:rPr lang="en-US" sz="3294" spc="72" strike="noStrike" u="none">
                <a:solidFill>
                  <a:srgbClr val="152540"/>
                </a:solidFill>
                <a:latin typeface="Glacial Indifference"/>
                <a:ea typeface="Glacial Indifference"/>
                <a:cs typeface="Glacial Indifference"/>
                <a:sym typeface="Glacial Indifference"/>
              </a:rPr>
              <a:t>Sustituye el error: </a:t>
            </a:r>
          </a:p>
          <a:p>
            <a:pPr algn="ctr">
              <a:lnSpc>
                <a:spcPts val="4612"/>
              </a:lnSpc>
            </a:pPr>
            <a:r>
              <a:rPr lang="en-US" sz="3294" spc="72" strike="noStrike" u="none">
                <a:solidFill>
                  <a:srgbClr val="152540"/>
                </a:solidFill>
                <a:latin typeface="Glacial Indifference"/>
                <a:ea typeface="Glacial Indifference"/>
                <a:cs typeface="Glacial Indifference"/>
                <a:sym typeface="Glacial Indifference"/>
              </a:rPr>
              <a:t>"Mira el show de luces".</a:t>
            </a:r>
          </a:p>
        </p:txBody>
      </p:sp>
      <p:sp>
        <p:nvSpPr>
          <p:cNvPr name="TextBox 8" id="8"/>
          <p:cNvSpPr txBox="true"/>
          <p:nvPr/>
        </p:nvSpPr>
        <p:spPr>
          <a:xfrm rot="0">
            <a:off x="5643351" y="2892425"/>
            <a:ext cx="7543218" cy="1028008"/>
          </a:xfrm>
          <a:prstGeom prst="rect">
            <a:avLst/>
          </a:prstGeom>
        </p:spPr>
        <p:txBody>
          <a:bodyPr anchor="t" rtlCol="false" tIns="0" lIns="0" bIns="0" rIns="0">
            <a:spAutoFit/>
          </a:bodyPr>
          <a:lstStyle/>
          <a:p>
            <a:pPr algn="ctr">
              <a:lnSpc>
                <a:spcPts val="8438"/>
              </a:lnSpc>
            </a:pPr>
            <a:r>
              <a:rPr lang="en-US" b="true" sz="6027" spc="566">
                <a:solidFill>
                  <a:srgbClr val="152540"/>
                </a:solidFill>
                <a:latin typeface="Glacial Indifference Bold"/>
                <a:ea typeface="Glacial Indifference Bold"/>
                <a:cs typeface="Glacial Indifference Bold"/>
                <a:sym typeface="Glacial Indifference Bold"/>
              </a:rPr>
              <a:t>​EJERCICIO.</a:t>
            </a: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bg>
      <p:bgPr>
        <a:solidFill>
          <a:srgbClr val="EDE8E4"/>
        </a:solidFill>
      </p:bgPr>
    </p:bg>
    <p:spTree>
      <p:nvGrpSpPr>
        <p:cNvPr id="1" name=""/>
        <p:cNvGrpSpPr/>
        <p:nvPr/>
      </p:nvGrpSpPr>
      <p:grpSpPr>
        <a:xfrm>
          <a:off x="0" y="0"/>
          <a:ext cx="0" cy="0"/>
          <a:chOff x="0" y="0"/>
          <a:chExt cx="0" cy="0"/>
        </a:xfrm>
      </p:grpSpPr>
      <p:sp>
        <p:nvSpPr>
          <p:cNvPr name="Freeform 2" id="2"/>
          <p:cNvSpPr/>
          <p:nvPr/>
        </p:nvSpPr>
        <p:spPr>
          <a:xfrm flipH="false" flipV="false" rot="-445925">
            <a:off x="3142738" y="-769394"/>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8798399">
            <a:off x="8466276" y="-9590538"/>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3283157">
            <a:off x="-1501206" y="7329841"/>
            <a:ext cx="5624862" cy="7545546"/>
          </a:xfrm>
          <a:custGeom>
            <a:avLst/>
            <a:gdLst/>
            <a:ahLst/>
            <a:cxnLst/>
            <a:rect r="r" b="b" t="t" l="l"/>
            <a:pathLst>
              <a:path h="7545546" w="5624862">
                <a:moveTo>
                  <a:pt x="0" y="0"/>
                </a:moveTo>
                <a:lnTo>
                  <a:pt x="5624862" y="0"/>
                </a:lnTo>
                <a:lnTo>
                  <a:pt x="5624862" y="7545546"/>
                </a:lnTo>
                <a:lnTo>
                  <a:pt x="0" y="75455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2770156">
            <a:off x="-2577184" y="-2165857"/>
            <a:ext cx="5154368" cy="4995052"/>
          </a:xfrm>
          <a:custGeom>
            <a:avLst/>
            <a:gdLst/>
            <a:ahLst/>
            <a:cxnLst/>
            <a:rect r="r" b="b" t="t" l="l"/>
            <a:pathLst>
              <a:path h="4995052" w="5154368">
                <a:moveTo>
                  <a:pt x="0" y="0"/>
                </a:moveTo>
                <a:lnTo>
                  <a:pt x="5154368" y="0"/>
                </a:lnTo>
                <a:lnTo>
                  <a:pt x="5154368" y="4995051"/>
                </a:lnTo>
                <a:lnTo>
                  <a:pt x="0" y="49950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2770156">
            <a:off x="15710816" y="8522875"/>
            <a:ext cx="5154368" cy="4995052"/>
          </a:xfrm>
          <a:custGeom>
            <a:avLst/>
            <a:gdLst/>
            <a:ahLst/>
            <a:cxnLst/>
            <a:rect r="r" b="b" t="t" l="l"/>
            <a:pathLst>
              <a:path h="4995052" w="5154368">
                <a:moveTo>
                  <a:pt x="0" y="0"/>
                </a:moveTo>
                <a:lnTo>
                  <a:pt x="5154368" y="0"/>
                </a:lnTo>
                <a:lnTo>
                  <a:pt x="5154368" y="4995052"/>
                </a:lnTo>
                <a:lnTo>
                  <a:pt x="0" y="49950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7" id="7"/>
          <p:cNvSpPr txBox="true"/>
          <p:nvPr/>
        </p:nvSpPr>
        <p:spPr>
          <a:xfrm rot="0">
            <a:off x="2455556" y="3813304"/>
            <a:ext cx="13776722" cy="2307095"/>
          </a:xfrm>
          <a:prstGeom prst="rect">
            <a:avLst/>
          </a:prstGeom>
        </p:spPr>
        <p:txBody>
          <a:bodyPr anchor="t" rtlCol="false" tIns="0" lIns="0" bIns="0" rIns="0">
            <a:spAutoFit/>
          </a:bodyPr>
          <a:lstStyle/>
          <a:p>
            <a:pPr algn="ctr">
              <a:lnSpc>
                <a:spcPts val="4612"/>
              </a:lnSpc>
            </a:pPr>
            <a:r>
              <a:rPr lang="en-US" sz="3294" spc="72">
                <a:solidFill>
                  <a:srgbClr val="152540"/>
                </a:solidFill>
                <a:latin typeface="Glacial Indifference"/>
                <a:ea typeface="Glacial Indifference"/>
                <a:cs typeface="Glacial Indifference"/>
                <a:sym typeface="Glacial Indifference"/>
              </a:rPr>
              <a:t> Ocu</a:t>
            </a:r>
            <a:r>
              <a:rPr lang="en-US" sz="3294" spc="72" strike="noStrike" u="none">
                <a:solidFill>
                  <a:srgbClr val="152540"/>
                </a:solidFill>
                <a:latin typeface="Glacial Indifference"/>
                <a:ea typeface="Glacial Indifference"/>
                <a:cs typeface="Glacial Indifference"/>
                <a:sym typeface="Glacial Indifference"/>
              </a:rPr>
              <a:t>rre cuando una persona intenta hablar de forma “más correcta” o culta, pero termina equivocándose al modificar palabras o estructuras que ya eran correctas. Es un exceso de corrección.</a:t>
            </a:r>
          </a:p>
          <a:p>
            <a:pPr algn="ctr">
              <a:lnSpc>
                <a:spcPts val="4612"/>
              </a:lnSpc>
            </a:pPr>
          </a:p>
        </p:txBody>
      </p:sp>
      <p:sp>
        <p:nvSpPr>
          <p:cNvPr name="TextBox 8" id="8"/>
          <p:cNvSpPr txBox="true"/>
          <p:nvPr/>
        </p:nvSpPr>
        <p:spPr>
          <a:xfrm rot="0">
            <a:off x="4271226" y="999651"/>
            <a:ext cx="9745548" cy="2094808"/>
          </a:xfrm>
          <a:prstGeom prst="rect">
            <a:avLst/>
          </a:prstGeom>
        </p:spPr>
        <p:txBody>
          <a:bodyPr anchor="t" rtlCol="false" tIns="0" lIns="0" bIns="0" rIns="0">
            <a:spAutoFit/>
          </a:bodyPr>
          <a:lstStyle/>
          <a:p>
            <a:pPr algn="ctr">
              <a:lnSpc>
                <a:spcPts val="8438"/>
              </a:lnSpc>
            </a:pPr>
            <a:r>
              <a:rPr lang="en-US" b="true" sz="6027" spc="566">
                <a:solidFill>
                  <a:srgbClr val="152540"/>
                </a:solidFill>
                <a:latin typeface="Glacial Indifference Bold"/>
                <a:ea typeface="Glacial Indifference Bold"/>
                <a:cs typeface="Glacial Indifference Bold"/>
                <a:sym typeface="Glacial Indifference Bold"/>
              </a:rPr>
              <a:t>​10. HIPERCORRECCIÓN.</a:t>
            </a:r>
          </a:p>
          <a:p>
            <a:pPr algn="ctr">
              <a:lnSpc>
                <a:spcPts val="8438"/>
              </a:lnSpc>
            </a:pPr>
          </a:p>
        </p:txBody>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bg>
      <p:bgPr>
        <a:solidFill>
          <a:srgbClr val="EDE8E4"/>
        </a:solidFill>
      </p:bgPr>
    </p:bg>
    <p:spTree>
      <p:nvGrpSpPr>
        <p:cNvPr id="1" name=""/>
        <p:cNvGrpSpPr/>
        <p:nvPr/>
      </p:nvGrpSpPr>
      <p:grpSpPr>
        <a:xfrm>
          <a:off x="0" y="0"/>
          <a:ext cx="0" cy="0"/>
          <a:chOff x="0" y="0"/>
          <a:chExt cx="0" cy="0"/>
        </a:xfrm>
      </p:grpSpPr>
      <p:sp>
        <p:nvSpPr>
          <p:cNvPr name="Freeform 2" id="2"/>
          <p:cNvSpPr/>
          <p:nvPr/>
        </p:nvSpPr>
        <p:spPr>
          <a:xfrm flipH="false" flipV="false" rot="-445925">
            <a:off x="3142738" y="-769394"/>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8798399">
            <a:off x="8466276" y="-9590538"/>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3283157">
            <a:off x="-1501206" y="7329841"/>
            <a:ext cx="5624862" cy="7545546"/>
          </a:xfrm>
          <a:custGeom>
            <a:avLst/>
            <a:gdLst/>
            <a:ahLst/>
            <a:cxnLst/>
            <a:rect r="r" b="b" t="t" l="l"/>
            <a:pathLst>
              <a:path h="7545546" w="5624862">
                <a:moveTo>
                  <a:pt x="0" y="0"/>
                </a:moveTo>
                <a:lnTo>
                  <a:pt x="5624862" y="0"/>
                </a:lnTo>
                <a:lnTo>
                  <a:pt x="5624862" y="7545546"/>
                </a:lnTo>
                <a:lnTo>
                  <a:pt x="0" y="75455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2770156">
            <a:off x="-2577184" y="-2165857"/>
            <a:ext cx="5154368" cy="4995052"/>
          </a:xfrm>
          <a:custGeom>
            <a:avLst/>
            <a:gdLst/>
            <a:ahLst/>
            <a:cxnLst/>
            <a:rect r="r" b="b" t="t" l="l"/>
            <a:pathLst>
              <a:path h="4995052" w="5154368">
                <a:moveTo>
                  <a:pt x="0" y="0"/>
                </a:moveTo>
                <a:lnTo>
                  <a:pt x="5154368" y="0"/>
                </a:lnTo>
                <a:lnTo>
                  <a:pt x="5154368" y="4995051"/>
                </a:lnTo>
                <a:lnTo>
                  <a:pt x="0" y="49950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2770156">
            <a:off x="15710816" y="8522875"/>
            <a:ext cx="5154368" cy="4995052"/>
          </a:xfrm>
          <a:custGeom>
            <a:avLst/>
            <a:gdLst/>
            <a:ahLst/>
            <a:cxnLst/>
            <a:rect r="r" b="b" t="t" l="l"/>
            <a:pathLst>
              <a:path h="4995052" w="5154368">
                <a:moveTo>
                  <a:pt x="0" y="0"/>
                </a:moveTo>
                <a:lnTo>
                  <a:pt x="5154368" y="0"/>
                </a:lnTo>
                <a:lnTo>
                  <a:pt x="5154368" y="4995052"/>
                </a:lnTo>
                <a:lnTo>
                  <a:pt x="0" y="49950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7" id="7"/>
          <p:cNvSpPr txBox="true"/>
          <p:nvPr/>
        </p:nvSpPr>
        <p:spPr>
          <a:xfrm rot="0">
            <a:off x="2526598" y="3589172"/>
            <a:ext cx="13776722" cy="2307095"/>
          </a:xfrm>
          <a:prstGeom prst="rect">
            <a:avLst/>
          </a:prstGeom>
        </p:spPr>
        <p:txBody>
          <a:bodyPr anchor="t" rtlCol="false" tIns="0" lIns="0" bIns="0" rIns="0">
            <a:spAutoFit/>
          </a:bodyPr>
          <a:lstStyle/>
          <a:p>
            <a:pPr algn="ctr">
              <a:lnSpc>
                <a:spcPts val="4612"/>
              </a:lnSpc>
            </a:pPr>
            <a:r>
              <a:rPr lang="en-US" sz="3294" spc="72">
                <a:solidFill>
                  <a:srgbClr val="152540"/>
                </a:solidFill>
                <a:latin typeface="Glacial Indifference"/>
                <a:ea typeface="Glacial Indifference"/>
                <a:cs typeface="Glacial Indifference"/>
                <a:sym typeface="Glacial Indifference"/>
              </a:rPr>
              <a:t>D</a:t>
            </a:r>
            <a:r>
              <a:rPr lang="en-US" sz="3294" spc="72" strike="noStrike" u="none">
                <a:solidFill>
                  <a:srgbClr val="152540"/>
                </a:solidFill>
                <a:latin typeface="Glacial Indifference"/>
                <a:ea typeface="Glacial Indifference"/>
                <a:cs typeface="Glacial Indifference"/>
                <a:sym typeface="Glacial Indifference"/>
              </a:rPr>
              <a:t>ecir "bacalado" en vez de "bacalao".</a:t>
            </a:r>
          </a:p>
          <a:p>
            <a:pPr algn="ctr">
              <a:lnSpc>
                <a:spcPts val="4612"/>
              </a:lnSpc>
            </a:pPr>
            <a:r>
              <a:rPr lang="en-US" sz="3294" spc="72" strike="noStrike" u="none">
                <a:solidFill>
                  <a:srgbClr val="152540"/>
                </a:solidFill>
                <a:latin typeface="Glacial Indifference"/>
                <a:ea typeface="Glacial Indifference"/>
                <a:cs typeface="Glacial Indifference"/>
                <a:sym typeface="Glacial Indifference"/>
              </a:rPr>
              <a:t>¿Cómo se dice correctamente?: "¿Hubo problemas o hubieron problemas?".</a:t>
            </a:r>
          </a:p>
          <a:p>
            <a:pPr algn="ctr">
              <a:lnSpc>
                <a:spcPts val="4612"/>
              </a:lnSpc>
            </a:pPr>
          </a:p>
        </p:txBody>
      </p:sp>
      <p:sp>
        <p:nvSpPr>
          <p:cNvPr name="TextBox 8" id="8"/>
          <p:cNvSpPr txBox="true"/>
          <p:nvPr/>
        </p:nvSpPr>
        <p:spPr>
          <a:xfrm rot="0">
            <a:off x="5643351" y="914400"/>
            <a:ext cx="7543218" cy="1028008"/>
          </a:xfrm>
          <a:prstGeom prst="rect">
            <a:avLst/>
          </a:prstGeom>
        </p:spPr>
        <p:txBody>
          <a:bodyPr anchor="t" rtlCol="false" tIns="0" lIns="0" bIns="0" rIns="0">
            <a:spAutoFit/>
          </a:bodyPr>
          <a:lstStyle/>
          <a:p>
            <a:pPr algn="ctr">
              <a:lnSpc>
                <a:spcPts val="8438"/>
              </a:lnSpc>
            </a:pPr>
            <a:r>
              <a:rPr lang="en-US" b="true" sz="6027" spc="566">
                <a:solidFill>
                  <a:srgbClr val="152540"/>
                </a:solidFill>
                <a:latin typeface="Glacial Indifference Bold"/>
                <a:ea typeface="Glacial Indifference Bold"/>
                <a:cs typeface="Glacial Indifference Bold"/>
                <a:sym typeface="Glacial Indifference Bold"/>
              </a:rPr>
              <a:t>​EJEMPLO:</a:t>
            </a:r>
          </a:p>
        </p:txBody>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bg>
      <p:bgPr>
        <a:solidFill>
          <a:srgbClr val="EDE8E4"/>
        </a:solidFill>
      </p:bgPr>
    </p:bg>
    <p:spTree>
      <p:nvGrpSpPr>
        <p:cNvPr id="1" name=""/>
        <p:cNvGrpSpPr/>
        <p:nvPr/>
      </p:nvGrpSpPr>
      <p:grpSpPr>
        <a:xfrm>
          <a:off x="0" y="0"/>
          <a:ext cx="0" cy="0"/>
          <a:chOff x="0" y="0"/>
          <a:chExt cx="0" cy="0"/>
        </a:xfrm>
      </p:grpSpPr>
      <p:sp>
        <p:nvSpPr>
          <p:cNvPr name="Freeform 2" id="2"/>
          <p:cNvSpPr/>
          <p:nvPr/>
        </p:nvSpPr>
        <p:spPr>
          <a:xfrm flipH="false" flipV="false" rot="-445925">
            <a:off x="3142738" y="-769394"/>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8798399">
            <a:off x="8466276" y="-9590538"/>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3283157">
            <a:off x="-1501206" y="7329841"/>
            <a:ext cx="5624862" cy="7545546"/>
          </a:xfrm>
          <a:custGeom>
            <a:avLst/>
            <a:gdLst/>
            <a:ahLst/>
            <a:cxnLst/>
            <a:rect r="r" b="b" t="t" l="l"/>
            <a:pathLst>
              <a:path h="7545546" w="5624862">
                <a:moveTo>
                  <a:pt x="0" y="0"/>
                </a:moveTo>
                <a:lnTo>
                  <a:pt x="5624862" y="0"/>
                </a:lnTo>
                <a:lnTo>
                  <a:pt x="5624862" y="7545546"/>
                </a:lnTo>
                <a:lnTo>
                  <a:pt x="0" y="75455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2770156">
            <a:off x="-2577184" y="-2165857"/>
            <a:ext cx="5154368" cy="4995052"/>
          </a:xfrm>
          <a:custGeom>
            <a:avLst/>
            <a:gdLst/>
            <a:ahLst/>
            <a:cxnLst/>
            <a:rect r="r" b="b" t="t" l="l"/>
            <a:pathLst>
              <a:path h="4995052" w="5154368">
                <a:moveTo>
                  <a:pt x="0" y="0"/>
                </a:moveTo>
                <a:lnTo>
                  <a:pt x="5154368" y="0"/>
                </a:lnTo>
                <a:lnTo>
                  <a:pt x="5154368" y="4995051"/>
                </a:lnTo>
                <a:lnTo>
                  <a:pt x="0" y="49950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2770156">
            <a:off x="15710816" y="8522875"/>
            <a:ext cx="5154368" cy="4995052"/>
          </a:xfrm>
          <a:custGeom>
            <a:avLst/>
            <a:gdLst/>
            <a:ahLst/>
            <a:cxnLst/>
            <a:rect r="r" b="b" t="t" l="l"/>
            <a:pathLst>
              <a:path h="4995052" w="5154368">
                <a:moveTo>
                  <a:pt x="0" y="0"/>
                </a:moveTo>
                <a:lnTo>
                  <a:pt x="5154368" y="0"/>
                </a:lnTo>
                <a:lnTo>
                  <a:pt x="5154368" y="4995052"/>
                </a:lnTo>
                <a:lnTo>
                  <a:pt x="0" y="49950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7" id="7"/>
          <p:cNvSpPr txBox="true"/>
          <p:nvPr/>
        </p:nvSpPr>
        <p:spPr>
          <a:xfrm rot="0">
            <a:off x="2526598" y="4382492"/>
            <a:ext cx="13776722" cy="1145045"/>
          </a:xfrm>
          <a:prstGeom prst="rect">
            <a:avLst/>
          </a:prstGeom>
        </p:spPr>
        <p:txBody>
          <a:bodyPr anchor="t" rtlCol="false" tIns="0" lIns="0" bIns="0" rIns="0">
            <a:spAutoFit/>
          </a:bodyPr>
          <a:lstStyle/>
          <a:p>
            <a:pPr algn="ctr">
              <a:lnSpc>
                <a:spcPts val="4612"/>
              </a:lnSpc>
            </a:pPr>
            <a:r>
              <a:rPr lang="en-US" sz="3294" spc="72" strike="noStrike" u="none">
                <a:solidFill>
                  <a:srgbClr val="152540"/>
                </a:solidFill>
                <a:latin typeface="Glacial Indifference"/>
                <a:ea typeface="Glacial Indifference"/>
                <a:cs typeface="Glacial Indifference"/>
                <a:sym typeface="Glacial Indifference"/>
              </a:rPr>
              <a:t>¿Cómo se dice correctamente?: </a:t>
            </a:r>
          </a:p>
          <a:p>
            <a:pPr algn="ctr">
              <a:lnSpc>
                <a:spcPts val="4612"/>
              </a:lnSpc>
            </a:pPr>
            <a:r>
              <a:rPr lang="en-US" sz="3294" spc="72" strike="noStrike" u="none">
                <a:solidFill>
                  <a:srgbClr val="152540"/>
                </a:solidFill>
                <a:latin typeface="Glacial Indifference"/>
                <a:ea typeface="Glacial Indifference"/>
                <a:cs typeface="Glacial Indifference"/>
                <a:sym typeface="Glacial Indifference"/>
              </a:rPr>
              <a:t>"¿Hubo problemas o hubieron problemas?".</a:t>
            </a:r>
          </a:p>
        </p:txBody>
      </p:sp>
      <p:sp>
        <p:nvSpPr>
          <p:cNvPr name="TextBox 8" id="8"/>
          <p:cNvSpPr txBox="true"/>
          <p:nvPr/>
        </p:nvSpPr>
        <p:spPr>
          <a:xfrm rot="0">
            <a:off x="5643351" y="2676264"/>
            <a:ext cx="7543218" cy="1028008"/>
          </a:xfrm>
          <a:prstGeom prst="rect">
            <a:avLst/>
          </a:prstGeom>
        </p:spPr>
        <p:txBody>
          <a:bodyPr anchor="t" rtlCol="false" tIns="0" lIns="0" bIns="0" rIns="0">
            <a:spAutoFit/>
          </a:bodyPr>
          <a:lstStyle/>
          <a:p>
            <a:pPr algn="ctr">
              <a:lnSpc>
                <a:spcPts val="8438"/>
              </a:lnSpc>
            </a:pPr>
            <a:r>
              <a:rPr lang="en-US" b="true" sz="6027" spc="566">
                <a:solidFill>
                  <a:srgbClr val="152540"/>
                </a:solidFill>
                <a:latin typeface="Glacial Indifference Bold"/>
                <a:ea typeface="Glacial Indifference Bold"/>
                <a:cs typeface="Glacial Indifference Bold"/>
                <a:sym typeface="Glacial Indifference Bold"/>
              </a:rPr>
              <a:t>​EJERCICIO.</a:t>
            </a:r>
          </a:p>
        </p:txBody>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bg>
      <p:bgPr>
        <a:solidFill>
          <a:srgbClr val="EDE8E4"/>
        </a:solidFill>
      </p:bgPr>
    </p:bg>
    <p:spTree>
      <p:nvGrpSpPr>
        <p:cNvPr id="1" name=""/>
        <p:cNvGrpSpPr/>
        <p:nvPr/>
      </p:nvGrpSpPr>
      <p:grpSpPr>
        <a:xfrm>
          <a:off x="0" y="0"/>
          <a:ext cx="0" cy="0"/>
          <a:chOff x="0" y="0"/>
          <a:chExt cx="0" cy="0"/>
        </a:xfrm>
      </p:grpSpPr>
      <p:sp>
        <p:nvSpPr>
          <p:cNvPr name="Freeform 2" id="2"/>
          <p:cNvSpPr/>
          <p:nvPr/>
        </p:nvSpPr>
        <p:spPr>
          <a:xfrm flipH="false" flipV="false" rot="-445925">
            <a:off x="3142738" y="-769394"/>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8798399">
            <a:off x="8466276" y="-9590538"/>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3283157">
            <a:off x="-1501206" y="7329841"/>
            <a:ext cx="5624862" cy="7545546"/>
          </a:xfrm>
          <a:custGeom>
            <a:avLst/>
            <a:gdLst/>
            <a:ahLst/>
            <a:cxnLst/>
            <a:rect r="r" b="b" t="t" l="l"/>
            <a:pathLst>
              <a:path h="7545546" w="5624862">
                <a:moveTo>
                  <a:pt x="0" y="0"/>
                </a:moveTo>
                <a:lnTo>
                  <a:pt x="5624862" y="0"/>
                </a:lnTo>
                <a:lnTo>
                  <a:pt x="5624862" y="7545546"/>
                </a:lnTo>
                <a:lnTo>
                  <a:pt x="0" y="75455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2770156">
            <a:off x="-2577184" y="-2165857"/>
            <a:ext cx="5154368" cy="4995052"/>
          </a:xfrm>
          <a:custGeom>
            <a:avLst/>
            <a:gdLst/>
            <a:ahLst/>
            <a:cxnLst/>
            <a:rect r="r" b="b" t="t" l="l"/>
            <a:pathLst>
              <a:path h="4995052" w="5154368">
                <a:moveTo>
                  <a:pt x="0" y="0"/>
                </a:moveTo>
                <a:lnTo>
                  <a:pt x="5154368" y="0"/>
                </a:lnTo>
                <a:lnTo>
                  <a:pt x="5154368" y="4995051"/>
                </a:lnTo>
                <a:lnTo>
                  <a:pt x="0" y="49950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2770156">
            <a:off x="15710816" y="8522875"/>
            <a:ext cx="5154368" cy="4995052"/>
          </a:xfrm>
          <a:custGeom>
            <a:avLst/>
            <a:gdLst/>
            <a:ahLst/>
            <a:cxnLst/>
            <a:rect r="r" b="b" t="t" l="l"/>
            <a:pathLst>
              <a:path h="4995052" w="5154368">
                <a:moveTo>
                  <a:pt x="0" y="0"/>
                </a:moveTo>
                <a:lnTo>
                  <a:pt x="5154368" y="0"/>
                </a:lnTo>
                <a:lnTo>
                  <a:pt x="5154368" y="4995052"/>
                </a:lnTo>
                <a:lnTo>
                  <a:pt x="0" y="49950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7" id="7"/>
          <p:cNvSpPr txBox="true"/>
          <p:nvPr/>
        </p:nvSpPr>
        <p:spPr>
          <a:xfrm rot="0">
            <a:off x="2542839" y="4087155"/>
            <a:ext cx="13776722" cy="2307095"/>
          </a:xfrm>
          <a:prstGeom prst="rect">
            <a:avLst/>
          </a:prstGeom>
        </p:spPr>
        <p:txBody>
          <a:bodyPr anchor="t" rtlCol="false" tIns="0" lIns="0" bIns="0" rIns="0">
            <a:spAutoFit/>
          </a:bodyPr>
          <a:lstStyle/>
          <a:p>
            <a:pPr algn="ctr">
              <a:lnSpc>
                <a:spcPts val="4612"/>
              </a:lnSpc>
            </a:pPr>
            <a:r>
              <a:rPr lang="en-US" sz="3294" spc="72">
                <a:solidFill>
                  <a:srgbClr val="152540"/>
                </a:solidFill>
                <a:latin typeface="Glacial Indifference"/>
                <a:ea typeface="Glacial Indifference"/>
                <a:cs typeface="Glacial Indifference"/>
                <a:sym typeface="Glacial Indifference"/>
              </a:rPr>
              <a:t>Consiste en u</a:t>
            </a:r>
            <a:r>
              <a:rPr lang="en-US" sz="3294" spc="72" strike="noStrike" u="none">
                <a:solidFill>
                  <a:srgbClr val="152540"/>
                </a:solidFill>
                <a:latin typeface="Glacial Indifference"/>
                <a:ea typeface="Glacial Indifference"/>
                <a:cs typeface="Glacial Indifference"/>
                <a:sym typeface="Glacial Indifference"/>
              </a:rPr>
              <a:t>sar una palabra con un significado incorrecto, generalmente por confusión con otra parecida. A diferencia de otros errores, aquí la palabra existe, pero se usa mal.</a:t>
            </a:r>
          </a:p>
          <a:p>
            <a:pPr algn="ctr">
              <a:lnSpc>
                <a:spcPts val="4612"/>
              </a:lnSpc>
            </a:pPr>
          </a:p>
        </p:txBody>
      </p:sp>
      <p:sp>
        <p:nvSpPr>
          <p:cNvPr name="TextBox 8" id="8"/>
          <p:cNvSpPr txBox="true"/>
          <p:nvPr/>
        </p:nvSpPr>
        <p:spPr>
          <a:xfrm rot="0">
            <a:off x="5659591" y="47676"/>
            <a:ext cx="7543218" cy="2094808"/>
          </a:xfrm>
          <a:prstGeom prst="rect">
            <a:avLst/>
          </a:prstGeom>
        </p:spPr>
        <p:txBody>
          <a:bodyPr anchor="t" rtlCol="false" tIns="0" lIns="0" bIns="0" rIns="0">
            <a:spAutoFit/>
          </a:bodyPr>
          <a:lstStyle/>
          <a:p>
            <a:pPr algn="ctr">
              <a:lnSpc>
                <a:spcPts val="8438"/>
              </a:lnSpc>
            </a:pPr>
            <a:r>
              <a:rPr lang="en-US" b="true" sz="6027" spc="566">
                <a:solidFill>
                  <a:srgbClr val="152540"/>
                </a:solidFill>
                <a:latin typeface="Glacial Indifference Bold"/>
                <a:ea typeface="Glacial Indifference Bold"/>
                <a:cs typeface="Glacial Indifference Bold"/>
                <a:sym typeface="Glacial Indifference Bold"/>
              </a:rPr>
              <a:t>​11. IMPROPIEDAD LÉXICA.</a:t>
            </a:r>
          </a:p>
        </p:txBody>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bg>
      <p:bgPr>
        <a:solidFill>
          <a:srgbClr val="EDE8E4"/>
        </a:solidFill>
      </p:bgPr>
    </p:bg>
    <p:spTree>
      <p:nvGrpSpPr>
        <p:cNvPr id="1" name=""/>
        <p:cNvGrpSpPr/>
        <p:nvPr/>
      </p:nvGrpSpPr>
      <p:grpSpPr>
        <a:xfrm>
          <a:off x="0" y="0"/>
          <a:ext cx="0" cy="0"/>
          <a:chOff x="0" y="0"/>
          <a:chExt cx="0" cy="0"/>
        </a:xfrm>
      </p:grpSpPr>
      <p:sp>
        <p:nvSpPr>
          <p:cNvPr name="Freeform 2" id="2"/>
          <p:cNvSpPr/>
          <p:nvPr/>
        </p:nvSpPr>
        <p:spPr>
          <a:xfrm flipH="false" flipV="false" rot="-445925">
            <a:off x="3142738" y="-769394"/>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8798399">
            <a:off x="8466276" y="-9590538"/>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3283157">
            <a:off x="-1501206" y="7329841"/>
            <a:ext cx="5624862" cy="7545546"/>
          </a:xfrm>
          <a:custGeom>
            <a:avLst/>
            <a:gdLst/>
            <a:ahLst/>
            <a:cxnLst/>
            <a:rect r="r" b="b" t="t" l="l"/>
            <a:pathLst>
              <a:path h="7545546" w="5624862">
                <a:moveTo>
                  <a:pt x="0" y="0"/>
                </a:moveTo>
                <a:lnTo>
                  <a:pt x="5624862" y="0"/>
                </a:lnTo>
                <a:lnTo>
                  <a:pt x="5624862" y="7545546"/>
                </a:lnTo>
                <a:lnTo>
                  <a:pt x="0" y="75455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2770156">
            <a:off x="-2577184" y="-2165857"/>
            <a:ext cx="5154368" cy="4995052"/>
          </a:xfrm>
          <a:custGeom>
            <a:avLst/>
            <a:gdLst/>
            <a:ahLst/>
            <a:cxnLst/>
            <a:rect r="r" b="b" t="t" l="l"/>
            <a:pathLst>
              <a:path h="4995052" w="5154368">
                <a:moveTo>
                  <a:pt x="0" y="0"/>
                </a:moveTo>
                <a:lnTo>
                  <a:pt x="5154368" y="0"/>
                </a:lnTo>
                <a:lnTo>
                  <a:pt x="5154368" y="4995051"/>
                </a:lnTo>
                <a:lnTo>
                  <a:pt x="0" y="49950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2770156">
            <a:off x="15710816" y="8522875"/>
            <a:ext cx="5154368" cy="4995052"/>
          </a:xfrm>
          <a:custGeom>
            <a:avLst/>
            <a:gdLst/>
            <a:ahLst/>
            <a:cxnLst/>
            <a:rect r="r" b="b" t="t" l="l"/>
            <a:pathLst>
              <a:path h="4995052" w="5154368">
                <a:moveTo>
                  <a:pt x="0" y="0"/>
                </a:moveTo>
                <a:lnTo>
                  <a:pt x="5154368" y="0"/>
                </a:lnTo>
                <a:lnTo>
                  <a:pt x="5154368" y="4995052"/>
                </a:lnTo>
                <a:lnTo>
                  <a:pt x="0" y="49950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7" id="7"/>
          <p:cNvSpPr txBox="true"/>
          <p:nvPr/>
        </p:nvSpPr>
        <p:spPr>
          <a:xfrm rot="0">
            <a:off x="2526598" y="3853758"/>
            <a:ext cx="13776722" cy="1726070"/>
          </a:xfrm>
          <a:prstGeom prst="rect">
            <a:avLst/>
          </a:prstGeom>
        </p:spPr>
        <p:txBody>
          <a:bodyPr anchor="t" rtlCol="false" tIns="0" lIns="0" bIns="0" rIns="0">
            <a:spAutoFit/>
          </a:bodyPr>
          <a:lstStyle/>
          <a:p>
            <a:pPr algn="ctr">
              <a:lnSpc>
                <a:spcPts val="4612"/>
              </a:lnSpc>
            </a:pPr>
            <a:r>
              <a:rPr lang="en-US" sz="3294" spc="72">
                <a:solidFill>
                  <a:srgbClr val="152540"/>
                </a:solidFill>
                <a:latin typeface="Glacial Indifference"/>
                <a:ea typeface="Glacial Indifference"/>
                <a:cs typeface="Glacial Indifference"/>
                <a:sym typeface="Glacial Indifference"/>
              </a:rPr>
              <a:t> D</a:t>
            </a:r>
            <a:r>
              <a:rPr lang="en-US" sz="3294" spc="72" strike="noStrike" u="none">
                <a:solidFill>
                  <a:srgbClr val="152540"/>
                </a:solidFill>
                <a:latin typeface="Glacial Indifference"/>
                <a:ea typeface="Glacial Indifference"/>
                <a:cs typeface="Glacial Indifference"/>
                <a:sym typeface="Glacial Indifference"/>
              </a:rPr>
              <a:t>ecir "detentar" (poseer ilegalmente) por "detener" (arrestar).</a:t>
            </a:r>
          </a:p>
          <a:p>
            <a:pPr algn="ctr">
              <a:lnSpc>
                <a:spcPts val="4612"/>
              </a:lnSpc>
            </a:pPr>
            <a:r>
              <a:rPr lang="en-US" sz="3294" spc="72" strike="noStrike" u="none">
                <a:solidFill>
                  <a:srgbClr val="152540"/>
                </a:solidFill>
                <a:latin typeface="Glacial Indifference"/>
                <a:ea typeface="Glacial Indifference"/>
                <a:cs typeface="Glacial Indifference"/>
                <a:sym typeface="Glacial Indifference"/>
              </a:rPr>
              <a:t>¿Es correcto decir que un precio es "accesible" (lugar) o "asequible" (dinero)?</a:t>
            </a:r>
          </a:p>
        </p:txBody>
      </p:sp>
      <p:sp>
        <p:nvSpPr>
          <p:cNvPr name="TextBox 8" id="8"/>
          <p:cNvSpPr txBox="true"/>
          <p:nvPr/>
        </p:nvSpPr>
        <p:spPr>
          <a:xfrm rot="0">
            <a:off x="5643351" y="914400"/>
            <a:ext cx="7543218" cy="1028008"/>
          </a:xfrm>
          <a:prstGeom prst="rect">
            <a:avLst/>
          </a:prstGeom>
        </p:spPr>
        <p:txBody>
          <a:bodyPr anchor="t" rtlCol="false" tIns="0" lIns="0" bIns="0" rIns="0">
            <a:spAutoFit/>
          </a:bodyPr>
          <a:lstStyle/>
          <a:p>
            <a:pPr algn="ctr">
              <a:lnSpc>
                <a:spcPts val="8438"/>
              </a:lnSpc>
            </a:pPr>
            <a:r>
              <a:rPr lang="en-US" b="true" sz="6027" spc="566">
                <a:solidFill>
                  <a:srgbClr val="152540"/>
                </a:solidFill>
                <a:latin typeface="Glacial Indifference Bold"/>
                <a:ea typeface="Glacial Indifference Bold"/>
                <a:cs typeface="Glacial Indifference Bold"/>
                <a:sym typeface="Glacial Indifference Bold"/>
              </a:rPr>
              <a:t>​EJEMPLO:</a:t>
            </a:r>
          </a:p>
        </p:txBody>
      </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bg>
      <p:bgPr>
        <a:solidFill>
          <a:srgbClr val="EDE8E4"/>
        </a:solidFill>
      </p:bgPr>
    </p:bg>
    <p:spTree>
      <p:nvGrpSpPr>
        <p:cNvPr id="1" name=""/>
        <p:cNvGrpSpPr/>
        <p:nvPr/>
      </p:nvGrpSpPr>
      <p:grpSpPr>
        <a:xfrm>
          <a:off x="0" y="0"/>
          <a:ext cx="0" cy="0"/>
          <a:chOff x="0" y="0"/>
          <a:chExt cx="0" cy="0"/>
        </a:xfrm>
      </p:grpSpPr>
      <p:sp>
        <p:nvSpPr>
          <p:cNvPr name="Freeform 2" id="2"/>
          <p:cNvSpPr/>
          <p:nvPr/>
        </p:nvSpPr>
        <p:spPr>
          <a:xfrm flipH="false" flipV="false" rot="-445925">
            <a:off x="3142738" y="-769394"/>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8798399">
            <a:off x="8466276" y="-9590538"/>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3283157">
            <a:off x="-1501206" y="7329841"/>
            <a:ext cx="5624862" cy="7545546"/>
          </a:xfrm>
          <a:custGeom>
            <a:avLst/>
            <a:gdLst/>
            <a:ahLst/>
            <a:cxnLst/>
            <a:rect r="r" b="b" t="t" l="l"/>
            <a:pathLst>
              <a:path h="7545546" w="5624862">
                <a:moveTo>
                  <a:pt x="0" y="0"/>
                </a:moveTo>
                <a:lnTo>
                  <a:pt x="5624862" y="0"/>
                </a:lnTo>
                <a:lnTo>
                  <a:pt x="5624862" y="7545546"/>
                </a:lnTo>
                <a:lnTo>
                  <a:pt x="0" y="75455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2770156">
            <a:off x="-2577184" y="-2165857"/>
            <a:ext cx="5154368" cy="4995052"/>
          </a:xfrm>
          <a:custGeom>
            <a:avLst/>
            <a:gdLst/>
            <a:ahLst/>
            <a:cxnLst/>
            <a:rect r="r" b="b" t="t" l="l"/>
            <a:pathLst>
              <a:path h="4995052" w="5154368">
                <a:moveTo>
                  <a:pt x="0" y="0"/>
                </a:moveTo>
                <a:lnTo>
                  <a:pt x="5154368" y="0"/>
                </a:lnTo>
                <a:lnTo>
                  <a:pt x="5154368" y="4995051"/>
                </a:lnTo>
                <a:lnTo>
                  <a:pt x="0" y="49950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2770156">
            <a:off x="15710816" y="8522875"/>
            <a:ext cx="5154368" cy="4995052"/>
          </a:xfrm>
          <a:custGeom>
            <a:avLst/>
            <a:gdLst/>
            <a:ahLst/>
            <a:cxnLst/>
            <a:rect r="r" b="b" t="t" l="l"/>
            <a:pathLst>
              <a:path h="4995052" w="5154368">
                <a:moveTo>
                  <a:pt x="0" y="0"/>
                </a:moveTo>
                <a:lnTo>
                  <a:pt x="5154368" y="0"/>
                </a:lnTo>
                <a:lnTo>
                  <a:pt x="5154368" y="4995052"/>
                </a:lnTo>
                <a:lnTo>
                  <a:pt x="0" y="49950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7" id="7"/>
          <p:cNvSpPr txBox="true"/>
          <p:nvPr/>
        </p:nvSpPr>
        <p:spPr>
          <a:xfrm rot="0">
            <a:off x="2526598" y="4600482"/>
            <a:ext cx="13776722" cy="564020"/>
          </a:xfrm>
          <a:prstGeom prst="rect">
            <a:avLst/>
          </a:prstGeom>
        </p:spPr>
        <p:txBody>
          <a:bodyPr anchor="t" rtlCol="false" tIns="0" lIns="0" bIns="0" rIns="0">
            <a:spAutoFit/>
          </a:bodyPr>
          <a:lstStyle/>
          <a:p>
            <a:pPr algn="ctr">
              <a:lnSpc>
                <a:spcPts val="4612"/>
              </a:lnSpc>
            </a:pPr>
            <a:r>
              <a:rPr lang="en-US" sz="3294" spc="72" strike="noStrike" u="none">
                <a:solidFill>
                  <a:srgbClr val="152540"/>
                </a:solidFill>
                <a:latin typeface="Glacial Indifference"/>
                <a:ea typeface="Glacial Indifference"/>
                <a:cs typeface="Glacial Indifference"/>
                <a:sym typeface="Glacial Indifference"/>
              </a:rPr>
              <a:t>¿Es correcto decir que un precio es "accesible" o "asequible"?</a:t>
            </a:r>
          </a:p>
        </p:txBody>
      </p:sp>
      <p:sp>
        <p:nvSpPr>
          <p:cNvPr name="TextBox 8" id="8"/>
          <p:cNvSpPr txBox="true"/>
          <p:nvPr/>
        </p:nvSpPr>
        <p:spPr>
          <a:xfrm rot="0">
            <a:off x="5643351" y="3187773"/>
            <a:ext cx="7543218" cy="1028008"/>
          </a:xfrm>
          <a:prstGeom prst="rect">
            <a:avLst/>
          </a:prstGeom>
        </p:spPr>
        <p:txBody>
          <a:bodyPr anchor="t" rtlCol="false" tIns="0" lIns="0" bIns="0" rIns="0">
            <a:spAutoFit/>
          </a:bodyPr>
          <a:lstStyle/>
          <a:p>
            <a:pPr algn="ctr">
              <a:lnSpc>
                <a:spcPts val="8438"/>
              </a:lnSpc>
            </a:pPr>
            <a:r>
              <a:rPr lang="en-US" b="true" sz="6027" spc="566">
                <a:solidFill>
                  <a:srgbClr val="152540"/>
                </a:solidFill>
                <a:latin typeface="Glacial Indifference Bold"/>
                <a:ea typeface="Glacial Indifference Bold"/>
                <a:cs typeface="Glacial Indifference Bold"/>
                <a:sym typeface="Glacial Indifference Bold"/>
              </a:rPr>
              <a:t>​EJERCICIO.</a:t>
            </a:r>
          </a:p>
        </p:txBody>
      </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bg>
      <p:bgPr>
        <a:solidFill>
          <a:srgbClr val="EDE8E4"/>
        </a:solidFill>
      </p:bgPr>
    </p:bg>
    <p:spTree>
      <p:nvGrpSpPr>
        <p:cNvPr id="1" name=""/>
        <p:cNvGrpSpPr/>
        <p:nvPr/>
      </p:nvGrpSpPr>
      <p:grpSpPr>
        <a:xfrm>
          <a:off x="0" y="0"/>
          <a:ext cx="0" cy="0"/>
          <a:chOff x="0" y="0"/>
          <a:chExt cx="0" cy="0"/>
        </a:xfrm>
      </p:grpSpPr>
      <p:sp>
        <p:nvSpPr>
          <p:cNvPr name="Freeform 2" id="2"/>
          <p:cNvSpPr/>
          <p:nvPr/>
        </p:nvSpPr>
        <p:spPr>
          <a:xfrm flipH="false" flipV="false" rot="-445925">
            <a:off x="3142738" y="-769394"/>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8798399">
            <a:off x="8466276" y="-9590538"/>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3283157">
            <a:off x="-1501206" y="7329841"/>
            <a:ext cx="5624862" cy="7545546"/>
          </a:xfrm>
          <a:custGeom>
            <a:avLst/>
            <a:gdLst/>
            <a:ahLst/>
            <a:cxnLst/>
            <a:rect r="r" b="b" t="t" l="l"/>
            <a:pathLst>
              <a:path h="7545546" w="5624862">
                <a:moveTo>
                  <a:pt x="0" y="0"/>
                </a:moveTo>
                <a:lnTo>
                  <a:pt x="5624862" y="0"/>
                </a:lnTo>
                <a:lnTo>
                  <a:pt x="5624862" y="7545546"/>
                </a:lnTo>
                <a:lnTo>
                  <a:pt x="0" y="75455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2770156">
            <a:off x="-2577184" y="-2165857"/>
            <a:ext cx="5154368" cy="4995052"/>
          </a:xfrm>
          <a:custGeom>
            <a:avLst/>
            <a:gdLst/>
            <a:ahLst/>
            <a:cxnLst/>
            <a:rect r="r" b="b" t="t" l="l"/>
            <a:pathLst>
              <a:path h="4995052" w="5154368">
                <a:moveTo>
                  <a:pt x="0" y="0"/>
                </a:moveTo>
                <a:lnTo>
                  <a:pt x="5154368" y="0"/>
                </a:lnTo>
                <a:lnTo>
                  <a:pt x="5154368" y="4995051"/>
                </a:lnTo>
                <a:lnTo>
                  <a:pt x="0" y="49950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2770156">
            <a:off x="15710816" y="8522875"/>
            <a:ext cx="5154368" cy="4995052"/>
          </a:xfrm>
          <a:custGeom>
            <a:avLst/>
            <a:gdLst/>
            <a:ahLst/>
            <a:cxnLst/>
            <a:rect r="r" b="b" t="t" l="l"/>
            <a:pathLst>
              <a:path h="4995052" w="5154368">
                <a:moveTo>
                  <a:pt x="0" y="0"/>
                </a:moveTo>
                <a:lnTo>
                  <a:pt x="5154368" y="0"/>
                </a:lnTo>
                <a:lnTo>
                  <a:pt x="5154368" y="4995052"/>
                </a:lnTo>
                <a:lnTo>
                  <a:pt x="0" y="49950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7" id="7"/>
          <p:cNvSpPr txBox="true"/>
          <p:nvPr/>
        </p:nvSpPr>
        <p:spPr>
          <a:xfrm rot="0">
            <a:off x="2526598" y="3853758"/>
            <a:ext cx="13776722" cy="1145045"/>
          </a:xfrm>
          <a:prstGeom prst="rect">
            <a:avLst/>
          </a:prstGeom>
        </p:spPr>
        <p:txBody>
          <a:bodyPr anchor="t" rtlCol="false" tIns="0" lIns="0" bIns="0" rIns="0">
            <a:spAutoFit/>
          </a:bodyPr>
          <a:lstStyle/>
          <a:p>
            <a:pPr algn="ctr">
              <a:lnSpc>
                <a:spcPts val="4612"/>
              </a:lnSpc>
            </a:pPr>
            <a:r>
              <a:rPr lang="en-US" sz="3294" spc="72">
                <a:solidFill>
                  <a:srgbClr val="152540"/>
                </a:solidFill>
                <a:latin typeface="Glacial Indifference"/>
                <a:ea typeface="Glacial Indifference"/>
                <a:cs typeface="Glacial Indifference"/>
                <a:sym typeface="Glacial Indifference"/>
              </a:rPr>
              <a:t>Us</a:t>
            </a:r>
            <a:r>
              <a:rPr lang="en-US" sz="3294" spc="72" strike="noStrike" u="none">
                <a:solidFill>
                  <a:srgbClr val="152540"/>
                </a:solidFill>
                <a:latin typeface="Glacial Indifference"/>
                <a:ea typeface="Glacial Indifference"/>
                <a:cs typeface="Glacial Indifference"/>
                <a:sym typeface="Glacial Indifference"/>
              </a:rPr>
              <a:t>ar mal los pronombres "le" y "lo". El leísmo es usar "le" para objetos; el loísmo es usar "lo" para personas (indirecto).</a:t>
            </a:r>
          </a:p>
        </p:txBody>
      </p:sp>
      <p:sp>
        <p:nvSpPr>
          <p:cNvPr name="TextBox 8" id="8"/>
          <p:cNvSpPr txBox="true"/>
          <p:nvPr/>
        </p:nvSpPr>
        <p:spPr>
          <a:xfrm rot="0">
            <a:off x="5643351" y="76094"/>
            <a:ext cx="7543218" cy="2094808"/>
          </a:xfrm>
          <a:prstGeom prst="rect">
            <a:avLst/>
          </a:prstGeom>
        </p:spPr>
        <p:txBody>
          <a:bodyPr anchor="t" rtlCol="false" tIns="0" lIns="0" bIns="0" rIns="0">
            <a:spAutoFit/>
          </a:bodyPr>
          <a:lstStyle/>
          <a:p>
            <a:pPr algn="ctr">
              <a:lnSpc>
                <a:spcPts val="8438"/>
              </a:lnSpc>
            </a:pPr>
            <a:r>
              <a:rPr lang="en-US" b="true" sz="6027" spc="566">
                <a:solidFill>
                  <a:srgbClr val="152540"/>
                </a:solidFill>
                <a:latin typeface="Glacial Indifference Bold"/>
                <a:ea typeface="Glacial Indifference Bold"/>
                <a:cs typeface="Glacial Indifference Bold"/>
                <a:sym typeface="Glacial Indifference Bold"/>
              </a:rPr>
              <a:t>​12. LEÍSMO Y LOÍSMO.</a:t>
            </a:r>
          </a:p>
        </p:txBody>
      </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bg>
      <p:bgPr>
        <a:solidFill>
          <a:srgbClr val="EDE8E4"/>
        </a:solidFill>
      </p:bgPr>
    </p:bg>
    <p:spTree>
      <p:nvGrpSpPr>
        <p:cNvPr id="1" name=""/>
        <p:cNvGrpSpPr/>
        <p:nvPr/>
      </p:nvGrpSpPr>
      <p:grpSpPr>
        <a:xfrm>
          <a:off x="0" y="0"/>
          <a:ext cx="0" cy="0"/>
          <a:chOff x="0" y="0"/>
          <a:chExt cx="0" cy="0"/>
        </a:xfrm>
      </p:grpSpPr>
      <p:sp>
        <p:nvSpPr>
          <p:cNvPr name="Freeform 2" id="2"/>
          <p:cNvSpPr/>
          <p:nvPr/>
        </p:nvSpPr>
        <p:spPr>
          <a:xfrm flipH="false" flipV="false" rot="-445925">
            <a:off x="3142738" y="-769394"/>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8798399">
            <a:off x="8466276" y="-9590538"/>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3283157">
            <a:off x="-1501206" y="7329841"/>
            <a:ext cx="5624862" cy="7545546"/>
          </a:xfrm>
          <a:custGeom>
            <a:avLst/>
            <a:gdLst/>
            <a:ahLst/>
            <a:cxnLst/>
            <a:rect r="r" b="b" t="t" l="l"/>
            <a:pathLst>
              <a:path h="7545546" w="5624862">
                <a:moveTo>
                  <a:pt x="0" y="0"/>
                </a:moveTo>
                <a:lnTo>
                  <a:pt x="5624862" y="0"/>
                </a:lnTo>
                <a:lnTo>
                  <a:pt x="5624862" y="7545546"/>
                </a:lnTo>
                <a:lnTo>
                  <a:pt x="0" y="75455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2770156">
            <a:off x="-2577184" y="-2165857"/>
            <a:ext cx="5154368" cy="4995052"/>
          </a:xfrm>
          <a:custGeom>
            <a:avLst/>
            <a:gdLst/>
            <a:ahLst/>
            <a:cxnLst/>
            <a:rect r="r" b="b" t="t" l="l"/>
            <a:pathLst>
              <a:path h="4995052" w="5154368">
                <a:moveTo>
                  <a:pt x="0" y="0"/>
                </a:moveTo>
                <a:lnTo>
                  <a:pt x="5154368" y="0"/>
                </a:lnTo>
                <a:lnTo>
                  <a:pt x="5154368" y="4995051"/>
                </a:lnTo>
                <a:lnTo>
                  <a:pt x="0" y="49950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2770156">
            <a:off x="15710816" y="8522875"/>
            <a:ext cx="5154368" cy="4995052"/>
          </a:xfrm>
          <a:custGeom>
            <a:avLst/>
            <a:gdLst/>
            <a:ahLst/>
            <a:cxnLst/>
            <a:rect r="r" b="b" t="t" l="l"/>
            <a:pathLst>
              <a:path h="4995052" w="5154368">
                <a:moveTo>
                  <a:pt x="0" y="0"/>
                </a:moveTo>
                <a:lnTo>
                  <a:pt x="5154368" y="0"/>
                </a:lnTo>
                <a:lnTo>
                  <a:pt x="5154368" y="4995052"/>
                </a:lnTo>
                <a:lnTo>
                  <a:pt x="0" y="49950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7" id="7"/>
          <p:cNvSpPr txBox="true"/>
          <p:nvPr/>
        </p:nvSpPr>
        <p:spPr>
          <a:xfrm rot="0">
            <a:off x="2526598" y="3450741"/>
            <a:ext cx="13776722" cy="1145045"/>
          </a:xfrm>
          <a:prstGeom prst="rect">
            <a:avLst/>
          </a:prstGeom>
        </p:spPr>
        <p:txBody>
          <a:bodyPr anchor="t" rtlCol="false" tIns="0" lIns="0" bIns="0" rIns="0">
            <a:spAutoFit/>
          </a:bodyPr>
          <a:lstStyle/>
          <a:p>
            <a:pPr algn="ctr">
              <a:lnSpc>
                <a:spcPts val="4612"/>
              </a:lnSpc>
            </a:pPr>
            <a:r>
              <a:rPr lang="en-US" sz="3294" spc="72">
                <a:solidFill>
                  <a:srgbClr val="152540"/>
                </a:solidFill>
                <a:latin typeface="Glacial Indifference"/>
                <a:ea typeface="Glacial Indifference"/>
                <a:cs typeface="Glacial Indifference"/>
                <a:sym typeface="Glacial Indifference"/>
              </a:rPr>
              <a:t>"L</a:t>
            </a:r>
            <a:r>
              <a:rPr lang="en-US" sz="3294" spc="72" strike="noStrike" u="none">
                <a:solidFill>
                  <a:srgbClr val="152540"/>
                </a:solidFill>
                <a:latin typeface="Glacial Indifference"/>
                <a:ea typeface="Glacial Indifference"/>
                <a:cs typeface="Glacial Indifference"/>
                <a:sym typeface="Glacial Indifference"/>
              </a:rPr>
              <a:t>e" vi (al libro) [Mal] → "Lo" vi (al libro) [Bien].</a:t>
            </a:r>
          </a:p>
          <a:p>
            <a:pPr algn="ctr">
              <a:lnSpc>
                <a:spcPts val="4612"/>
              </a:lnSpc>
            </a:pPr>
            <a:r>
              <a:rPr lang="en-US" sz="3294" spc="72" strike="noStrike" u="none">
                <a:solidFill>
                  <a:srgbClr val="152540"/>
                </a:solidFill>
                <a:latin typeface="Glacial Indifference"/>
                <a:ea typeface="Glacial Indifference"/>
                <a:cs typeface="Glacial Indifference"/>
                <a:sym typeface="Glacial Indifference"/>
              </a:rPr>
              <a:t>Corrige la frase: "A Juan lo di un regalo".</a:t>
            </a:r>
          </a:p>
        </p:txBody>
      </p:sp>
      <p:sp>
        <p:nvSpPr>
          <p:cNvPr name="TextBox 8" id="8"/>
          <p:cNvSpPr txBox="true"/>
          <p:nvPr/>
        </p:nvSpPr>
        <p:spPr>
          <a:xfrm rot="0">
            <a:off x="5643351" y="457546"/>
            <a:ext cx="7543218" cy="1028008"/>
          </a:xfrm>
          <a:prstGeom prst="rect">
            <a:avLst/>
          </a:prstGeom>
        </p:spPr>
        <p:txBody>
          <a:bodyPr anchor="t" rtlCol="false" tIns="0" lIns="0" bIns="0" rIns="0">
            <a:spAutoFit/>
          </a:bodyPr>
          <a:lstStyle/>
          <a:p>
            <a:pPr algn="ctr">
              <a:lnSpc>
                <a:spcPts val="8438"/>
              </a:lnSpc>
            </a:pPr>
            <a:r>
              <a:rPr lang="en-US" b="true" sz="6027" spc="566">
                <a:solidFill>
                  <a:srgbClr val="152540"/>
                </a:solidFill>
                <a:latin typeface="Glacial Indifference Bold"/>
                <a:ea typeface="Glacial Indifference Bold"/>
                <a:cs typeface="Glacial Indifference Bold"/>
                <a:sym typeface="Glacial Indifference Bold"/>
              </a:rPr>
              <a:t>​EJEMPLO:</a:t>
            </a:r>
          </a:p>
        </p:txBody>
      </p:sp>
    </p:spTree>
  </p:cSld>
  <p:clrMapOvr>
    <a:masterClrMapping/>
  </p:clrMapOvr>
</p:sld>
</file>

<file path=ppt/slides/slide46.xml><?xml version="1.0" encoding="utf-8"?>
<p:sld xmlns:p="http://schemas.openxmlformats.org/presentationml/2006/main" xmlns:a="http://schemas.openxmlformats.org/drawingml/2006/main" xmlns:r="http://schemas.openxmlformats.org/officeDocument/2006/relationships">
  <p:cSld>
    <p:bg>
      <p:bgPr>
        <a:solidFill>
          <a:srgbClr val="EDE8E4"/>
        </a:solidFill>
      </p:bgPr>
    </p:bg>
    <p:spTree>
      <p:nvGrpSpPr>
        <p:cNvPr id="1" name=""/>
        <p:cNvGrpSpPr/>
        <p:nvPr/>
      </p:nvGrpSpPr>
      <p:grpSpPr>
        <a:xfrm>
          <a:off x="0" y="0"/>
          <a:ext cx="0" cy="0"/>
          <a:chOff x="0" y="0"/>
          <a:chExt cx="0" cy="0"/>
        </a:xfrm>
      </p:grpSpPr>
      <p:sp>
        <p:nvSpPr>
          <p:cNvPr name="Freeform 2" id="2"/>
          <p:cNvSpPr/>
          <p:nvPr/>
        </p:nvSpPr>
        <p:spPr>
          <a:xfrm flipH="false" flipV="false" rot="-445925">
            <a:off x="3142738" y="-769394"/>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8798399">
            <a:off x="8466276" y="-9590538"/>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3283157">
            <a:off x="-1501206" y="7329841"/>
            <a:ext cx="5624862" cy="7545546"/>
          </a:xfrm>
          <a:custGeom>
            <a:avLst/>
            <a:gdLst/>
            <a:ahLst/>
            <a:cxnLst/>
            <a:rect r="r" b="b" t="t" l="l"/>
            <a:pathLst>
              <a:path h="7545546" w="5624862">
                <a:moveTo>
                  <a:pt x="0" y="0"/>
                </a:moveTo>
                <a:lnTo>
                  <a:pt x="5624862" y="0"/>
                </a:lnTo>
                <a:lnTo>
                  <a:pt x="5624862" y="7545546"/>
                </a:lnTo>
                <a:lnTo>
                  <a:pt x="0" y="75455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2770156">
            <a:off x="-2577184" y="-2165857"/>
            <a:ext cx="5154368" cy="4995052"/>
          </a:xfrm>
          <a:custGeom>
            <a:avLst/>
            <a:gdLst/>
            <a:ahLst/>
            <a:cxnLst/>
            <a:rect r="r" b="b" t="t" l="l"/>
            <a:pathLst>
              <a:path h="4995052" w="5154368">
                <a:moveTo>
                  <a:pt x="0" y="0"/>
                </a:moveTo>
                <a:lnTo>
                  <a:pt x="5154368" y="0"/>
                </a:lnTo>
                <a:lnTo>
                  <a:pt x="5154368" y="4995051"/>
                </a:lnTo>
                <a:lnTo>
                  <a:pt x="0" y="49950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2770156">
            <a:off x="15710816" y="8522875"/>
            <a:ext cx="5154368" cy="4995052"/>
          </a:xfrm>
          <a:custGeom>
            <a:avLst/>
            <a:gdLst/>
            <a:ahLst/>
            <a:cxnLst/>
            <a:rect r="r" b="b" t="t" l="l"/>
            <a:pathLst>
              <a:path h="4995052" w="5154368">
                <a:moveTo>
                  <a:pt x="0" y="0"/>
                </a:moveTo>
                <a:lnTo>
                  <a:pt x="5154368" y="0"/>
                </a:lnTo>
                <a:lnTo>
                  <a:pt x="5154368" y="4995052"/>
                </a:lnTo>
                <a:lnTo>
                  <a:pt x="0" y="49950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7" id="7"/>
          <p:cNvSpPr txBox="true"/>
          <p:nvPr/>
        </p:nvSpPr>
        <p:spPr>
          <a:xfrm rot="0">
            <a:off x="2526598" y="4686887"/>
            <a:ext cx="13776722" cy="564020"/>
          </a:xfrm>
          <a:prstGeom prst="rect">
            <a:avLst/>
          </a:prstGeom>
        </p:spPr>
        <p:txBody>
          <a:bodyPr anchor="t" rtlCol="false" tIns="0" lIns="0" bIns="0" rIns="0">
            <a:spAutoFit/>
          </a:bodyPr>
          <a:lstStyle/>
          <a:p>
            <a:pPr algn="ctr">
              <a:lnSpc>
                <a:spcPts val="4612"/>
              </a:lnSpc>
            </a:pPr>
            <a:r>
              <a:rPr lang="en-US" sz="3294" spc="72" strike="noStrike" u="none">
                <a:solidFill>
                  <a:srgbClr val="152540"/>
                </a:solidFill>
                <a:latin typeface="Glacial Indifference"/>
                <a:ea typeface="Glacial Indifference"/>
                <a:cs typeface="Glacial Indifference"/>
                <a:sym typeface="Glacial Indifference"/>
              </a:rPr>
              <a:t>Corrige la frase: "A Juan lo di un regalo".</a:t>
            </a:r>
          </a:p>
        </p:txBody>
      </p:sp>
      <p:sp>
        <p:nvSpPr>
          <p:cNvPr name="TextBox 8" id="8"/>
          <p:cNvSpPr txBox="true"/>
          <p:nvPr/>
        </p:nvSpPr>
        <p:spPr>
          <a:xfrm rot="0">
            <a:off x="5643351" y="3455557"/>
            <a:ext cx="7543218" cy="1028008"/>
          </a:xfrm>
          <a:prstGeom prst="rect">
            <a:avLst/>
          </a:prstGeom>
        </p:spPr>
        <p:txBody>
          <a:bodyPr anchor="t" rtlCol="false" tIns="0" lIns="0" bIns="0" rIns="0">
            <a:spAutoFit/>
          </a:bodyPr>
          <a:lstStyle/>
          <a:p>
            <a:pPr algn="ctr">
              <a:lnSpc>
                <a:spcPts val="8438"/>
              </a:lnSpc>
            </a:pPr>
            <a:r>
              <a:rPr lang="en-US" b="true" sz="6027" spc="566">
                <a:solidFill>
                  <a:srgbClr val="152540"/>
                </a:solidFill>
                <a:latin typeface="Glacial Indifference Bold"/>
                <a:ea typeface="Glacial Indifference Bold"/>
                <a:cs typeface="Glacial Indifference Bold"/>
                <a:sym typeface="Glacial Indifference Bold"/>
              </a:rPr>
              <a:t>EJERCICIO.</a:t>
            </a:r>
          </a:p>
        </p:txBody>
      </p:sp>
    </p:spTree>
  </p:cSld>
  <p:clrMapOvr>
    <a:masterClrMapping/>
  </p:clrMapOvr>
</p:sld>
</file>

<file path=ppt/slides/slide47.xml><?xml version="1.0" encoding="utf-8"?>
<p:sld xmlns:p="http://schemas.openxmlformats.org/presentationml/2006/main" xmlns:a="http://schemas.openxmlformats.org/drawingml/2006/main" xmlns:r="http://schemas.openxmlformats.org/officeDocument/2006/relationships">
  <p:cSld>
    <p:bg>
      <p:bgPr>
        <a:solidFill>
          <a:srgbClr val="EDE8E4"/>
        </a:solidFill>
      </p:bgPr>
    </p:bg>
    <p:spTree>
      <p:nvGrpSpPr>
        <p:cNvPr id="1" name=""/>
        <p:cNvGrpSpPr/>
        <p:nvPr/>
      </p:nvGrpSpPr>
      <p:grpSpPr>
        <a:xfrm>
          <a:off x="0" y="0"/>
          <a:ext cx="0" cy="0"/>
          <a:chOff x="0" y="0"/>
          <a:chExt cx="0" cy="0"/>
        </a:xfrm>
      </p:grpSpPr>
      <p:sp>
        <p:nvSpPr>
          <p:cNvPr name="Freeform 2" id="2"/>
          <p:cNvSpPr/>
          <p:nvPr/>
        </p:nvSpPr>
        <p:spPr>
          <a:xfrm flipH="false" flipV="false" rot="-445925">
            <a:off x="3142738" y="-769394"/>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8798399">
            <a:off x="8466276" y="-9590538"/>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3283157">
            <a:off x="-1501206" y="7329841"/>
            <a:ext cx="5624862" cy="7545546"/>
          </a:xfrm>
          <a:custGeom>
            <a:avLst/>
            <a:gdLst/>
            <a:ahLst/>
            <a:cxnLst/>
            <a:rect r="r" b="b" t="t" l="l"/>
            <a:pathLst>
              <a:path h="7545546" w="5624862">
                <a:moveTo>
                  <a:pt x="0" y="0"/>
                </a:moveTo>
                <a:lnTo>
                  <a:pt x="5624862" y="0"/>
                </a:lnTo>
                <a:lnTo>
                  <a:pt x="5624862" y="7545546"/>
                </a:lnTo>
                <a:lnTo>
                  <a:pt x="0" y="75455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2770156">
            <a:off x="-2577184" y="-2165857"/>
            <a:ext cx="5154368" cy="4995052"/>
          </a:xfrm>
          <a:custGeom>
            <a:avLst/>
            <a:gdLst/>
            <a:ahLst/>
            <a:cxnLst/>
            <a:rect r="r" b="b" t="t" l="l"/>
            <a:pathLst>
              <a:path h="4995052" w="5154368">
                <a:moveTo>
                  <a:pt x="0" y="0"/>
                </a:moveTo>
                <a:lnTo>
                  <a:pt x="5154368" y="0"/>
                </a:lnTo>
                <a:lnTo>
                  <a:pt x="5154368" y="4995051"/>
                </a:lnTo>
                <a:lnTo>
                  <a:pt x="0" y="49950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2770156">
            <a:off x="15710816" y="8522875"/>
            <a:ext cx="5154368" cy="4995052"/>
          </a:xfrm>
          <a:custGeom>
            <a:avLst/>
            <a:gdLst/>
            <a:ahLst/>
            <a:cxnLst/>
            <a:rect r="r" b="b" t="t" l="l"/>
            <a:pathLst>
              <a:path h="4995052" w="5154368">
                <a:moveTo>
                  <a:pt x="0" y="0"/>
                </a:moveTo>
                <a:lnTo>
                  <a:pt x="5154368" y="0"/>
                </a:lnTo>
                <a:lnTo>
                  <a:pt x="5154368" y="4995052"/>
                </a:lnTo>
                <a:lnTo>
                  <a:pt x="0" y="49950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7" id="7"/>
          <p:cNvSpPr txBox="true"/>
          <p:nvPr/>
        </p:nvSpPr>
        <p:spPr>
          <a:xfrm rot="0">
            <a:off x="2255639" y="3853758"/>
            <a:ext cx="13776722" cy="2307095"/>
          </a:xfrm>
          <a:prstGeom prst="rect">
            <a:avLst/>
          </a:prstGeom>
        </p:spPr>
        <p:txBody>
          <a:bodyPr anchor="t" rtlCol="false" tIns="0" lIns="0" bIns="0" rIns="0">
            <a:spAutoFit/>
          </a:bodyPr>
          <a:lstStyle/>
          <a:p>
            <a:pPr algn="ctr">
              <a:lnSpc>
                <a:spcPts val="4612"/>
              </a:lnSpc>
            </a:pPr>
            <a:r>
              <a:rPr lang="en-US" sz="3294" spc="72">
                <a:solidFill>
                  <a:srgbClr val="152540"/>
                </a:solidFill>
                <a:latin typeface="Glacial Indifference"/>
                <a:ea typeface="Glacial Indifference"/>
                <a:cs typeface="Glacial Indifference"/>
                <a:sym typeface="Glacial Indifference"/>
              </a:rPr>
              <a:t>V</a:t>
            </a:r>
            <a:r>
              <a:rPr lang="en-US" sz="3294" spc="72" strike="noStrike" u="none">
                <a:solidFill>
                  <a:srgbClr val="152540"/>
                </a:solidFill>
                <a:latin typeface="Glacial Indifference"/>
                <a:ea typeface="Glacial Indifference"/>
                <a:cs typeface="Glacial Indifference"/>
                <a:sym typeface="Glacial Indifference"/>
              </a:rPr>
              <a:t>icio que consiste en el uso reiterado y abusivo de las mismas palabras o construcciones para expresar ideas diferentes, debido a la falta de vocabulario. Frecuentemente se abusa de verbos "comodín" como hacer, decir, tener o poner.</a:t>
            </a:r>
          </a:p>
        </p:txBody>
      </p:sp>
      <p:sp>
        <p:nvSpPr>
          <p:cNvPr name="TextBox 8" id="8"/>
          <p:cNvSpPr txBox="true"/>
          <p:nvPr/>
        </p:nvSpPr>
        <p:spPr>
          <a:xfrm rot="0">
            <a:off x="4114932" y="1077947"/>
            <a:ext cx="10058137" cy="2094808"/>
          </a:xfrm>
          <a:prstGeom prst="rect">
            <a:avLst/>
          </a:prstGeom>
        </p:spPr>
        <p:txBody>
          <a:bodyPr anchor="t" rtlCol="false" tIns="0" lIns="0" bIns="0" rIns="0">
            <a:spAutoFit/>
          </a:bodyPr>
          <a:lstStyle/>
          <a:p>
            <a:pPr algn="ctr">
              <a:lnSpc>
                <a:spcPts val="8438"/>
              </a:lnSpc>
            </a:pPr>
            <a:r>
              <a:rPr lang="en-US" b="true" sz="6027" spc="566">
                <a:solidFill>
                  <a:srgbClr val="152540"/>
                </a:solidFill>
                <a:latin typeface="Glacial Indifference Bold"/>
                <a:ea typeface="Glacial Indifference Bold"/>
                <a:cs typeface="Glacial Indifference Bold"/>
                <a:sym typeface="Glacial Indifference Bold"/>
              </a:rPr>
              <a:t>13. MONOTONÍA (POBREZA LÉXICA).</a:t>
            </a:r>
          </a:p>
        </p:txBody>
      </p:sp>
    </p:spTree>
  </p:cSld>
  <p:clrMapOvr>
    <a:masterClrMapping/>
  </p:clrMapOvr>
</p:sld>
</file>

<file path=ppt/slides/slide48.xml><?xml version="1.0" encoding="utf-8"?>
<p:sld xmlns:p="http://schemas.openxmlformats.org/presentationml/2006/main" xmlns:a="http://schemas.openxmlformats.org/drawingml/2006/main" xmlns:r="http://schemas.openxmlformats.org/officeDocument/2006/relationships">
  <p:cSld>
    <p:bg>
      <p:bgPr>
        <a:solidFill>
          <a:srgbClr val="EDE8E4"/>
        </a:solidFill>
      </p:bgPr>
    </p:bg>
    <p:spTree>
      <p:nvGrpSpPr>
        <p:cNvPr id="1" name=""/>
        <p:cNvGrpSpPr/>
        <p:nvPr/>
      </p:nvGrpSpPr>
      <p:grpSpPr>
        <a:xfrm>
          <a:off x="0" y="0"/>
          <a:ext cx="0" cy="0"/>
          <a:chOff x="0" y="0"/>
          <a:chExt cx="0" cy="0"/>
        </a:xfrm>
      </p:grpSpPr>
      <p:sp>
        <p:nvSpPr>
          <p:cNvPr name="Freeform 2" id="2"/>
          <p:cNvSpPr/>
          <p:nvPr/>
        </p:nvSpPr>
        <p:spPr>
          <a:xfrm flipH="false" flipV="false" rot="-445925">
            <a:off x="3142738" y="-769394"/>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8798399">
            <a:off x="8466276" y="-9590538"/>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3283157">
            <a:off x="-1501206" y="7329841"/>
            <a:ext cx="5624862" cy="7545546"/>
          </a:xfrm>
          <a:custGeom>
            <a:avLst/>
            <a:gdLst/>
            <a:ahLst/>
            <a:cxnLst/>
            <a:rect r="r" b="b" t="t" l="l"/>
            <a:pathLst>
              <a:path h="7545546" w="5624862">
                <a:moveTo>
                  <a:pt x="0" y="0"/>
                </a:moveTo>
                <a:lnTo>
                  <a:pt x="5624862" y="0"/>
                </a:lnTo>
                <a:lnTo>
                  <a:pt x="5624862" y="7545546"/>
                </a:lnTo>
                <a:lnTo>
                  <a:pt x="0" y="75455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2770156">
            <a:off x="-2577184" y="-2165857"/>
            <a:ext cx="5154368" cy="4995052"/>
          </a:xfrm>
          <a:custGeom>
            <a:avLst/>
            <a:gdLst/>
            <a:ahLst/>
            <a:cxnLst/>
            <a:rect r="r" b="b" t="t" l="l"/>
            <a:pathLst>
              <a:path h="4995052" w="5154368">
                <a:moveTo>
                  <a:pt x="0" y="0"/>
                </a:moveTo>
                <a:lnTo>
                  <a:pt x="5154368" y="0"/>
                </a:lnTo>
                <a:lnTo>
                  <a:pt x="5154368" y="4995051"/>
                </a:lnTo>
                <a:lnTo>
                  <a:pt x="0" y="49950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2770156">
            <a:off x="15710816" y="8522875"/>
            <a:ext cx="5154368" cy="4995052"/>
          </a:xfrm>
          <a:custGeom>
            <a:avLst/>
            <a:gdLst/>
            <a:ahLst/>
            <a:cxnLst/>
            <a:rect r="r" b="b" t="t" l="l"/>
            <a:pathLst>
              <a:path h="4995052" w="5154368">
                <a:moveTo>
                  <a:pt x="0" y="0"/>
                </a:moveTo>
                <a:lnTo>
                  <a:pt x="5154368" y="0"/>
                </a:lnTo>
                <a:lnTo>
                  <a:pt x="5154368" y="4995052"/>
                </a:lnTo>
                <a:lnTo>
                  <a:pt x="0" y="49950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7" id="7"/>
          <p:cNvSpPr txBox="true"/>
          <p:nvPr/>
        </p:nvSpPr>
        <p:spPr>
          <a:xfrm rot="0">
            <a:off x="2526598" y="4406600"/>
            <a:ext cx="13776722" cy="2472195"/>
          </a:xfrm>
          <a:prstGeom prst="rect">
            <a:avLst/>
          </a:prstGeom>
        </p:spPr>
        <p:txBody>
          <a:bodyPr anchor="t" rtlCol="false" tIns="0" lIns="0" bIns="0" rIns="0">
            <a:spAutoFit/>
          </a:bodyPr>
          <a:lstStyle/>
          <a:p>
            <a:pPr algn="ctr">
              <a:lnSpc>
                <a:spcPts val="3912"/>
              </a:lnSpc>
            </a:pPr>
            <a:r>
              <a:rPr lang="en-US" sz="2794" spc="61">
                <a:solidFill>
                  <a:srgbClr val="152540"/>
                </a:solidFill>
                <a:latin typeface="Glacial Indifference"/>
                <a:ea typeface="Glacial Indifference"/>
                <a:cs typeface="Glacial Indifference"/>
                <a:sym typeface="Glacial Indifference"/>
              </a:rPr>
              <a:t>Incorr</a:t>
            </a:r>
            <a:r>
              <a:rPr lang="en-US" sz="2794" spc="61" strike="noStrike" u="none">
                <a:solidFill>
                  <a:srgbClr val="152540"/>
                </a:solidFill>
                <a:latin typeface="Glacial Indifference"/>
                <a:ea typeface="Glacial Indifference"/>
                <a:cs typeface="Glacial Indifference"/>
                <a:sym typeface="Glacial Indifference"/>
              </a:rPr>
              <a:t>ecto: Hizo una casa. / Correcto: Construyó una casa.</a:t>
            </a:r>
          </a:p>
          <a:p>
            <a:pPr algn="ctr">
              <a:lnSpc>
                <a:spcPts val="3912"/>
              </a:lnSpc>
            </a:pPr>
          </a:p>
          <a:p>
            <a:pPr algn="ctr">
              <a:lnSpc>
                <a:spcPts val="3912"/>
              </a:lnSpc>
            </a:pPr>
            <a:r>
              <a:rPr lang="en-US" sz="2794" spc="61" strike="noStrike" u="none">
                <a:solidFill>
                  <a:srgbClr val="152540"/>
                </a:solidFill>
                <a:latin typeface="Glacial Indifference"/>
                <a:ea typeface="Glacial Indifference"/>
                <a:cs typeface="Glacial Indifference"/>
                <a:sym typeface="Glacial Indifference"/>
              </a:rPr>
              <a:t>Incorrecto: Tiene el primer lugar. / Correcto: Ocupa el primer lugar.</a:t>
            </a:r>
          </a:p>
          <a:p>
            <a:pPr algn="ctr">
              <a:lnSpc>
                <a:spcPts val="3912"/>
              </a:lnSpc>
            </a:pPr>
          </a:p>
          <a:p>
            <a:pPr algn="ctr">
              <a:lnSpc>
                <a:spcPts val="3912"/>
              </a:lnSpc>
            </a:pPr>
          </a:p>
        </p:txBody>
      </p:sp>
      <p:sp>
        <p:nvSpPr>
          <p:cNvPr name="TextBox 8" id="8"/>
          <p:cNvSpPr txBox="true"/>
          <p:nvPr/>
        </p:nvSpPr>
        <p:spPr>
          <a:xfrm rot="0">
            <a:off x="5643351" y="2718890"/>
            <a:ext cx="7543218" cy="1028008"/>
          </a:xfrm>
          <a:prstGeom prst="rect">
            <a:avLst/>
          </a:prstGeom>
        </p:spPr>
        <p:txBody>
          <a:bodyPr anchor="t" rtlCol="false" tIns="0" lIns="0" bIns="0" rIns="0">
            <a:spAutoFit/>
          </a:bodyPr>
          <a:lstStyle/>
          <a:p>
            <a:pPr algn="ctr">
              <a:lnSpc>
                <a:spcPts val="8438"/>
              </a:lnSpc>
            </a:pPr>
            <a:r>
              <a:rPr lang="en-US" b="true" sz="6027" spc="566">
                <a:solidFill>
                  <a:srgbClr val="152540"/>
                </a:solidFill>
                <a:latin typeface="Glacial Indifference Bold"/>
                <a:ea typeface="Glacial Indifference Bold"/>
                <a:cs typeface="Glacial Indifference Bold"/>
                <a:sym typeface="Glacial Indifference Bold"/>
              </a:rPr>
              <a:t>EJEMPLOS:</a:t>
            </a:r>
          </a:p>
        </p:txBody>
      </p:sp>
    </p:spTree>
  </p:cSld>
  <p:clrMapOvr>
    <a:masterClrMapping/>
  </p:clrMapOvr>
</p:sld>
</file>

<file path=ppt/slides/slide49.xml><?xml version="1.0" encoding="utf-8"?>
<p:sld xmlns:p="http://schemas.openxmlformats.org/presentationml/2006/main" xmlns:a="http://schemas.openxmlformats.org/drawingml/2006/main" xmlns:r="http://schemas.openxmlformats.org/officeDocument/2006/relationships">
  <p:cSld>
    <p:bg>
      <p:bgPr>
        <a:solidFill>
          <a:srgbClr val="EDE8E4"/>
        </a:solidFill>
      </p:bgPr>
    </p:bg>
    <p:spTree>
      <p:nvGrpSpPr>
        <p:cNvPr id="1" name=""/>
        <p:cNvGrpSpPr/>
        <p:nvPr/>
      </p:nvGrpSpPr>
      <p:grpSpPr>
        <a:xfrm>
          <a:off x="0" y="0"/>
          <a:ext cx="0" cy="0"/>
          <a:chOff x="0" y="0"/>
          <a:chExt cx="0" cy="0"/>
        </a:xfrm>
      </p:grpSpPr>
      <p:sp>
        <p:nvSpPr>
          <p:cNvPr name="Freeform 2" id="2"/>
          <p:cNvSpPr/>
          <p:nvPr/>
        </p:nvSpPr>
        <p:spPr>
          <a:xfrm flipH="false" flipV="false" rot="-445925">
            <a:off x="3142738" y="-769394"/>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8798399">
            <a:off x="8466276" y="-9590538"/>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3283157">
            <a:off x="-1501206" y="7329841"/>
            <a:ext cx="5624862" cy="7545546"/>
          </a:xfrm>
          <a:custGeom>
            <a:avLst/>
            <a:gdLst/>
            <a:ahLst/>
            <a:cxnLst/>
            <a:rect r="r" b="b" t="t" l="l"/>
            <a:pathLst>
              <a:path h="7545546" w="5624862">
                <a:moveTo>
                  <a:pt x="0" y="0"/>
                </a:moveTo>
                <a:lnTo>
                  <a:pt x="5624862" y="0"/>
                </a:lnTo>
                <a:lnTo>
                  <a:pt x="5624862" y="7545546"/>
                </a:lnTo>
                <a:lnTo>
                  <a:pt x="0" y="75455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2770156">
            <a:off x="-2577184" y="-2165857"/>
            <a:ext cx="5154368" cy="4995052"/>
          </a:xfrm>
          <a:custGeom>
            <a:avLst/>
            <a:gdLst/>
            <a:ahLst/>
            <a:cxnLst/>
            <a:rect r="r" b="b" t="t" l="l"/>
            <a:pathLst>
              <a:path h="4995052" w="5154368">
                <a:moveTo>
                  <a:pt x="0" y="0"/>
                </a:moveTo>
                <a:lnTo>
                  <a:pt x="5154368" y="0"/>
                </a:lnTo>
                <a:lnTo>
                  <a:pt x="5154368" y="4995051"/>
                </a:lnTo>
                <a:lnTo>
                  <a:pt x="0" y="49950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2770156">
            <a:off x="15710816" y="8522875"/>
            <a:ext cx="5154368" cy="4995052"/>
          </a:xfrm>
          <a:custGeom>
            <a:avLst/>
            <a:gdLst/>
            <a:ahLst/>
            <a:cxnLst/>
            <a:rect r="r" b="b" t="t" l="l"/>
            <a:pathLst>
              <a:path h="4995052" w="5154368">
                <a:moveTo>
                  <a:pt x="0" y="0"/>
                </a:moveTo>
                <a:lnTo>
                  <a:pt x="5154368" y="0"/>
                </a:lnTo>
                <a:lnTo>
                  <a:pt x="5154368" y="4995052"/>
                </a:lnTo>
                <a:lnTo>
                  <a:pt x="0" y="49950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7" id="7"/>
          <p:cNvSpPr txBox="true"/>
          <p:nvPr/>
        </p:nvSpPr>
        <p:spPr>
          <a:xfrm rot="0">
            <a:off x="2526598" y="2978242"/>
            <a:ext cx="13776722" cy="4453395"/>
          </a:xfrm>
          <a:prstGeom prst="rect">
            <a:avLst/>
          </a:prstGeom>
        </p:spPr>
        <p:txBody>
          <a:bodyPr anchor="t" rtlCol="false" tIns="0" lIns="0" bIns="0" rIns="0">
            <a:spAutoFit/>
          </a:bodyPr>
          <a:lstStyle/>
          <a:p>
            <a:pPr algn="ctr">
              <a:lnSpc>
                <a:spcPts val="3912"/>
              </a:lnSpc>
            </a:pPr>
            <a:r>
              <a:rPr lang="en-US" sz="2794" spc="61" strike="noStrike" u="none">
                <a:solidFill>
                  <a:srgbClr val="152540"/>
                </a:solidFill>
                <a:latin typeface="Glacial Indifference"/>
                <a:ea typeface="Glacial Indifference"/>
                <a:cs typeface="Glacial Indifference"/>
                <a:sym typeface="Glacial Indifference"/>
              </a:rPr>
              <a:t>Sustituye el verbo "poner" por uno más preciso y adecuado en las siguientes oraciones:</a:t>
            </a:r>
          </a:p>
          <a:p>
            <a:pPr algn="ctr">
              <a:lnSpc>
                <a:spcPts val="3912"/>
              </a:lnSpc>
            </a:pPr>
          </a:p>
          <a:p>
            <a:pPr algn="ctr">
              <a:lnSpc>
                <a:spcPts val="3912"/>
              </a:lnSpc>
            </a:pPr>
            <a:r>
              <a:rPr lang="en-US" sz="2794" spc="61" strike="noStrike" u="none">
                <a:solidFill>
                  <a:srgbClr val="152540"/>
                </a:solidFill>
                <a:latin typeface="Glacial Indifference"/>
                <a:ea typeface="Glacial Indifference"/>
                <a:cs typeface="Glacial Indifference"/>
                <a:sym typeface="Glacial Indifference"/>
              </a:rPr>
              <a:t>Él puso su firma en el contrato.</a:t>
            </a:r>
          </a:p>
          <a:p>
            <a:pPr algn="ctr">
              <a:lnSpc>
                <a:spcPts val="3912"/>
              </a:lnSpc>
            </a:pPr>
          </a:p>
          <a:p>
            <a:pPr algn="ctr">
              <a:lnSpc>
                <a:spcPts val="3912"/>
              </a:lnSpc>
            </a:pPr>
            <a:r>
              <a:rPr lang="en-US" sz="2794" spc="61" strike="noStrike" u="none">
                <a:solidFill>
                  <a:srgbClr val="152540"/>
                </a:solidFill>
                <a:latin typeface="Glacial Indifference"/>
                <a:ea typeface="Glacial Indifference"/>
                <a:cs typeface="Glacial Indifference"/>
                <a:sym typeface="Glacial Indifference"/>
              </a:rPr>
              <a:t>La gallina puso un huevo.</a:t>
            </a:r>
          </a:p>
          <a:p>
            <a:pPr algn="ctr">
              <a:lnSpc>
                <a:spcPts val="3912"/>
              </a:lnSpc>
            </a:pPr>
          </a:p>
          <a:p>
            <a:pPr algn="ctr">
              <a:lnSpc>
                <a:spcPts val="3912"/>
              </a:lnSpc>
            </a:pPr>
            <a:r>
              <a:rPr lang="en-US" sz="2794" spc="61" strike="noStrike" u="none">
                <a:solidFill>
                  <a:srgbClr val="152540"/>
                </a:solidFill>
                <a:latin typeface="Glacial Indifference"/>
                <a:ea typeface="Glacial Indifference"/>
                <a:cs typeface="Glacial Indifference"/>
                <a:sym typeface="Glacial Indifference"/>
              </a:rPr>
              <a:t>Me pusieron una multa de tránsito.</a:t>
            </a:r>
          </a:p>
          <a:p>
            <a:pPr algn="ctr">
              <a:lnSpc>
                <a:spcPts val="3912"/>
              </a:lnSpc>
            </a:pPr>
          </a:p>
        </p:txBody>
      </p:sp>
      <p:sp>
        <p:nvSpPr>
          <p:cNvPr name="TextBox 8" id="8"/>
          <p:cNvSpPr txBox="true"/>
          <p:nvPr/>
        </p:nvSpPr>
        <p:spPr>
          <a:xfrm rot="0">
            <a:off x="5643351" y="1411700"/>
            <a:ext cx="7543218" cy="1028008"/>
          </a:xfrm>
          <a:prstGeom prst="rect">
            <a:avLst/>
          </a:prstGeom>
        </p:spPr>
        <p:txBody>
          <a:bodyPr anchor="t" rtlCol="false" tIns="0" lIns="0" bIns="0" rIns="0">
            <a:spAutoFit/>
          </a:bodyPr>
          <a:lstStyle/>
          <a:p>
            <a:pPr algn="ctr">
              <a:lnSpc>
                <a:spcPts val="8438"/>
              </a:lnSpc>
            </a:pPr>
            <a:r>
              <a:rPr lang="en-US" b="true" sz="6027" spc="566">
                <a:solidFill>
                  <a:srgbClr val="152540"/>
                </a:solidFill>
                <a:latin typeface="Glacial Indifference Bold"/>
                <a:ea typeface="Glacial Indifference Bold"/>
                <a:cs typeface="Glacial Indifference Bold"/>
                <a:sym typeface="Glacial Indifference Bold"/>
              </a:rPr>
              <a:t>EJERCICIO.</a:t>
            </a:r>
          </a:p>
        </p:txBody>
      </p:sp>
    </p:spTree>
  </p:cSld>
  <p:clrMapOvr>
    <a:masterClrMapping/>
  </p:clrMapOvr>
</p:sld>
</file>

<file path=ppt/slides/slide50.xml><?xml version="1.0" encoding="utf-8"?>
<p:sld xmlns:p="http://schemas.openxmlformats.org/presentationml/2006/main" xmlns:a="http://schemas.openxmlformats.org/drawingml/2006/main" xmlns:r="http://schemas.openxmlformats.org/officeDocument/2006/relationships">
  <p:cSld>
    <p:bg>
      <p:bgPr>
        <a:solidFill>
          <a:srgbClr val="EDE8E4"/>
        </a:solidFill>
      </p:bgPr>
    </p:bg>
    <p:spTree>
      <p:nvGrpSpPr>
        <p:cNvPr id="1" name=""/>
        <p:cNvGrpSpPr/>
        <p:nvPr/>
      </p:nvGrpSpPr>
      <p:grpSpPr>
        <a:xfrm>
          <a:off x="0" y="0"/>
          <a:ext cx="0" cy="0"/>
          <a:chOff x="0" y="0"/>
          <a:chExt cx="0" cy="0"/>
        </a:xfrm>
      </p:grpSpPr>
      <p:sp>
        <p:nvSpPr>
          <p:cNvPr name="Freeform 2" id="2"/>
          <p:cNvSpPr/>
          <p:nvPr/>
        </p:nvSpPr>
        <p:spPr>
          <a:xfrm flipH="false" flipV="false" rot="-445925">
            <a:off x="3142738" y="-769394"/>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8798399">
            <a:off x="8466276" y="-9590538"/>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3283157">
            <a:off x="-1501206" y="7329841"/>
            <a:ext cx="5624862" cy="7545546"/>
          </a:xfrm>
          <a:custGeom>
            <a:avLst/>
            <a:gdLst/>
            <a:ahLst/>
            <a:cxnLst/>
            <a:rect r="r" b="b" t="t" l="l"/>
            <a:pathLst>
              <a:path h="7545546" w="5624862">
                <a:moveTo>
                  <a:pt x="0" y="0"/>
                </a:moveTo>
                <a:lnTo>
                  <a:pt x="5624862" y="0"/>
                </a:lnTo>
                <a:lnTo>
                  <a:pt x="5624862" y="7545546"/>
                </a:lnTo>
                <a:lnTo>
                  <a:pt x="0" y="75455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2770156">
            <a:off x="-2577184" y="-2165857"/>
            <a:ext cx="5154368" cy="4995052"/>
          </a:xfrm>
          <a:custGeom>
            <a:avLst/>
            <a:gdLst/>
            <a:ahLst/>
            <a:cxnLst/>
            <a:rect r="r" b="b" t="t" l="l"/>
            <a:pathLst>
              <a:path h="4995052" w="5154368">
                <a:moveTo>
                  <a:pt x="0" y="0"/>
                </a:moveTo>
                <a:lnTo>
                  <a:pt x="5154368" y="0"/>
                </a:lnTo>
                <a:lnTo>
                  <a:pt x="5154368" y="4995051"/>
                </a:lnTo>
                <a:lnTo>
                  <a:pt x="0" y="49950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2770156">
            <a:off x="15710816" y="8522875"/>
            <a:ext cx="5154368" cy="4995052"/>
          </a:xfrm>
          <a:custGeom>
            <a:avLst/>
            <a:gdLst/>
            <a:ahLst/>
            <a:cxnLst/>
            <a:rect r="r" b="b" t="t" l="l"/>
            <a:pathLst>
              <a:path h="4995052" w="5154368">
                <a:moveTo>
                  <a:pt x="0" y="0"/>
                </a:moveTo>
                <a:lnTo>
                  <a:pt x="5154368" y="0"/>
                </a:lnTo>
                <a:lnTo>
                  <a:pt x="5154368" y="4995052"/>
                </a:lnTo>
                <a:lnTo>
                  <a:pt x="0" y="49950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7" id="7"/>
          <p:cNvSpPr txBox="true"/>
          <p:nvPr/>
        </p:nvSpPr>
        <p:spPr>
          <a:xfrm rot="0">
            <a:off x="2526598" y="4087155"/>
            <a:ext cx="13776722" cy="2307095"/>
          </a:xfrm>
          <a:prstGeom prst="rect">
            <a:avLst/>
          </a:prstGeom>
        </p:spPr>
        <p:txBody>
          <a:bodyPr anchor="t" rtlCol="false" tIns="0" lIns="0" bIns="0" rIns="0">
            <a:spAutoFit/>
          </a:bodyPr>
          <a:lstStyle/>
          <a:p>
            <a:pPr algn="ctr">
              <a:lnSpc>
                <a:spcPts val="4612"/>
              </a:lnSpc>
            </a:pPr>
            <a:r>
              <a:rPr lang="en-US" sz="3294" spc="72">
                <a:solidFill>
                  <a:srgbClr val="152540"/>
                </a:solidFill>
                <a:latin typeface="Glacial Indifference"/>
                <a:ea typeface="Glacial Indifference"/>
                <a:cs typeface="Glacial Indifference"/>
                <a:sym typeface="Glacial Indifference"/>
              </a:rPr>
              <a:t>Definic</a:t>
            </a:r>
            <a:r>
              <a:rPr lang="en-US" sz="3294" spc="72" strike="noStrike" u="none">
                <a:solidFill>
                  <a:srgbClr val="152540"/>
                </a:solidFill>
                <a:latin typeface="Glacial Indifference"/>
                <a:ea typeface="Glacial Indifference"/>
                <a:cs typeface="Glacial Indifference"/>
                <a:sym typeface="Glacial Indifference"/>
              </a:rPr>
              <a:t>ión: Palabras, frases o sonidos que se repiten por hábito al hablar o escribir. Funcionan como "apoyos" innecesarios que no aportan ningún significado real al mensaje y solo evidencian inseguridad o falta de fluidez.</a:t>
            </a:r>
          </a:p>
        </p:txBody>
      </p:sp>
      <p:sp>
        <p:nvSpPr>
          <p:cNvPr name="TextBox 8" id="8"/>
          <p:cNvSpPr txBox="true"/>
          <p:nvPr/>
        </p:nvSpPr>
        <p:spPr>
          <a:xfrm rot="0">
            <a:off x="5643351" y="1809541"/>
            <a:ext cx="7543218" cy="1028008"/>
          </a:xfrm>
          <a:prstGeom prst="rect">
            <a:avLst/>
          </a:prstGeom>
        </p:spPr>
        <p:txBody>
          <a:bodyPr anchor="t" rtlCol="false" tIns="0" lIns="0" bIns="0" rIns="0">
            <a:spAutoFit/>
          </a:bodyPr>
          <a:lstStyle/>
          <a:p>
            <a:pPr algn="ctr">
              <a:lnSpc>
                <a:spcPts val="8438"/>
              </a:lnSpc>
            </a:pPr>
            <a:r>
              <a:rPr lang="en-US" b="true" sz="6027" spc="566">
                <a:solidFill>
                  <a:srgbClr val="152540"/>
                </a:solidFill>
                <a:latin typeface="Glacial Indifference Bold"/>
                <a:ea typeface="Glacial Indifference Bold"/>
                <a:cs typeface="Glacial Indifference Bold"/>
                <a:sym typeface="Glacial Indifference Bold"/>
              </a:rPr>
              <a:t>14. MULETILLAS.</a:t>
            </a:r>
          </a:p>
        </p:txBody>
      </p:sp>
    </p:spTree>
  </p:cSld>
  <p:clrMapOvr>
    <a:masterClrMapping/>
  </p:clrMapOvr>
</p:sld>
</file>

<file path=ppt/slides/slide51.xml><?xml version="1.0" encoding="utf-8"?>
<p:sld xmlns:p="http://schemas.openxmlformats.org/presentationml/2006/main" xmlns:a="http://schemas.openxmlformats.org/drawingml/2006/main" xmlns:r="http://schemas.openxmlformats.org/officeDocument/2006/relationships">
  <p:cSld>
    <p:bg>
      <p:bgPr>
        <a:solidFill>
          <a:srgbClr val="EDE8E4"/>
        </a:solidFill>
      </p:bgPr>
    </p:bg>
    <p:spTree>
      <p:nvGrpSpPr>
        <p:cNvPr id="1" name=""/>
        <p:cNvGrpSpPr/>
        <p:nvPr/>
      </p:nvGrpSpPr>
      <p:grpSpPr>
        <a:xfrm>
          <a:off x="0" y="0"/>
          <a:ext cx="0" cy="0"/>
          <a:chOff x="0" y="0"/>
          <a:chExt cx="0" cy="0"/>
        </a:xfrm>
      </p:grpSpPr>
      <p:sp>
        <p:nvSpPr>
          <p:cNvPr name="Freeform 2" id="2"/>
          <p:cNvSpPr/>
          <p:nvPr/>
        </p:nvSpPr>
        <p:spPr>
          <a:xfrm flipH="false" flipV="false" rot="-445925">
            <a:off x="3142738" y="-769394"/>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8798399">
            <a:off x="8466276" y="-9590538"/>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3283157">
            <a:off x="-1501206" y="7329841"/>
            <a:ext cx="5624862" cy="7545546"/>
          </a:xfrm>
          <a:custGeom>
            <a:avLst/>
            <a:gdLst/>
            <a:ahLst/>
            <a:cxnLst/>
            <a:rect r="r" b="b" t="t" l="l"/>
            <a:pathLst>
              <a:path h="7545546" w="5624862">
                <a:moveTo>
                  <a:pt x="0" y="0"/>
                </a:moveTo>
                <a:lnTo>
                  <a:pt x="5624862" y="0"/>
                </a:lnTo>
                <a:lnTo>
                  <a:pt x="5624862" y="7545546"/>
                </a:lnTo>
                <a:lnTo>
                  <a:pt x="0" y="75455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2770156">
            <a:off x="-2577184" y="-2165857"/>
            <a:ext cx="5154368" cy="4995052"/>
          </a:xfrm>
          <a:custGeom>
            <a:avLst/>
            <a:gdLst/>
            <a:ahLst/>
            <a:cxnLst/>
            <a:rect r="r" b="b" t="t" l="l"/>
            <a:pathLst>
              <a:path h="4995052" w="5154368">
                <a:moveTo>
                  <a:pt x="0" y="0"/>
                </a:moveTo>
                <a:lnTo>
                  <a:pt x="5154368" y="0"/>
                </a:lnTo>
                <a:lnTo>
                  <a:pt x="5154368" y="4995051"/>
                </a:lnTo>
                <a:lnTo>
                  <a:pt x="0" y="49950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2770156">
            <a:off x="15710816" y="8522875"/>
            <a:ext cx="5154368" cy="4995052"/>
          </a:xfrm>
          <a:custGeom>
            <a:avLst/>
            <a:gdLst/>
            <a:ahLst/>
            <a:cxnLst/>
            <a:rect r="r" b="b" t="t" l="l"/>
            <a:pathLst>
              <a:path h="4995052" w="5154368">
                <a:moveTo>
                  <a:pt x="0" y="0"/>
                </a:moveTo>
                <a:lnTo>
                  <a:pt x="5154368" y="0"/>
                </a:lnTo>
                <a:lnTo>
                  <a:pt x="5154368" y="4995052"/>
                </a:lnTo>
                <a:lnTo>
                  <a:pt x="0" y="49950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7" id="7"/>
          <p:cNvSpPr txBox="true"/>
          <p:nvPr/>
        </p:nvSpPr>
        <p:spPr>
          <a:xfrm rot="0">
            <a:off x="2526598" y="3532337"/>
            <a:ext cx="13776722" cy="3469145"/>
          </a:xfrm>
          <a:prstGeom prst="rect">
            <a:avLst/>
          </a:prstGeom>
        </p:spPr>
        <p:txBody>
          <a:bodyPr anchor="t" rtlCol="false" tIns="0" lIns="0" bIns="0" rIns="0">
            <a:spAutoFit/>
          </a:bodyPr>
          <a:lstStyle/>
          <a:p>
            <a:pPr algn="ctr">
              <a:lnSpc>
                <a:spcPts val="4612"/>
              </a:lnSpc>
            </a:pPr>
            <a:r>
              <a:rPr lang="en-US" sz="3294" spc="72">
                <a:solidFill>
                  <a:srgbClr val="152540"/>
                </a:solidFill>
                <a:latin typeface="Glacial Indifference"/>
                <a:ea typeface="Glacial Indifference"/>
                <a:cs typeface="Glacial Indifference"/>
                <a:sym typeface="Glacial Indifference"/>
              </a:rPr>
              <a:t>Inc</a:t>
            </a:r>
            <a:r>
              <a:rPr lang="en-US" sz="3294" spc="72" strike="noStrike" u="none">
                <a:solidFill>
                  <a:srgbClr val="152540"/>
                </a:solidFill>
                <a:latin typeface="Glacial Indifference"/>
                <a:ea typeface="Glacial Indifference"/>
                <a:cs typeface="Glacial Indifference"/>
                <a:sym typeface="Glacial Indifference"/>
              </a:rPr>
              <a:t>orrecto: Estábamos ahí, ¿o sea?, no sabíamos qué hacer, ¿verdad?, entonces, estee... decidimos irnos.</a:t>
            </a:r>
          </a:p>
          <a:p>
            <a:pPr algn="ctr">
              <a:lnSpc>
                <a:spcPts val="4612"/>
              </a:lnSpc>
            </a:pPr>
          </a:p>
          <a:p>
            <a:pPr algn="ctr">
              <a:lnSpc>
                <a:spcPts val="4612"/>
              </a:lnSpc>
            </a:pPr>
            <a:r>
              <a:rPr lang="en-US" sz="3294" spc="72" strike="noStrike" u="none">
                <a:solidFill>
                  <a:srgbClr val="152540"/>
                </a:solidFill>
                <a:latin typeface="Glacial Indifference"/>
                <a:ea typeface="Glacial Indifference"/>
                <a:cs typeface="Glacial Indifference"/>
                <a:sym typeface="Glacial Indifference"/>
              </a:rPr>
              <a:t>Correcto: Estábamos ahí y no sabíamos qué hacer; por eso decidimos irnos.</a:t>
            </a:r>
          </a:p>
          <a:p>
            <a:pPr algn="ctr">
              <a:lnSpc>
                <a:spcPts val="4612"/>
              </a:lnSpc>
            </a:pPr>
          </a:p>
        </p:txBody>
      </p:sp>
      <p:sp>
        <p:nvSpPr>
          <p:cNvPr name="TextBox 8" id="8"/>
          <p:cNvSpPr txBox="true"/>
          <p:nvPr/>
        </p:nvSpPr>
        <p:spPr>
          <a:xfrm rot="0">
            <a:off x="5643351" y="1681663"/>
            <a:ext cx="7543218" cy="1028008"/>
          </a:xfrm>
          <a:prstGeom prst="rect">
            <a:avLst/>
          </a:prstGeom>
        </p:spPr>
        <p:txBody>
          <a:bodyPr anchor="t" rtlCol="false" tIns="0" lIns="0" bIns="0" rIns="0">
            <a:spAutoFit/>
          </a:bodyPr>
          <a:lstStyle/>
          <a:p>
            <a:pPr algn="ctr">
              <a:lnSpc>
                <a:spcPts val="8438"/>
              </a:lnSpc>
            </a:pPr>
            <a:r>
              <a:rPr lang="en-US" b="true" sz="6027" spc="566">
                <a:solidFill>
                  <a:srgbClr val="152540"/>
                </a:solidFill>
                <a:latin typeface="Glacial Indifference Bold"/>
                <a:ea typeface="Glacial Indifference Bold"/>
                <a:cs typeface="Glacial Indifference Bold"/>
                <a:sym typeface="Glacial Indifference Bold"/>
              </a:rPr>
              <a:t>EJEMPLOS:</a:t>
            </a:r>
          </a:p>
        </p:txBody>
      </p:sp>
    </p:spTree>
  </p:cSld>
  <p:clrMapOvr>
    <a:masterClrMapping/>
  </p:clrMapOvr>
</p:sld>
</file>

<file path=ppt/slides/slide52.xml><?xml version="1.0" encoding="utf-8"?>
<p:sld xmlns:p="http://schemas.openxmlformats.org/presentationml/2006/main" xmlns:a="http://schemas.openxmlformats.org/drawingml/2006/main" xmlns:r="http://schemas.openxmlformats.org/officeDocument/2006/relationships">
  <p:cSld>
    <p:bg>
      <p:bgPr>
        <a:solidFill>
          <a:srgbClr val="EDE8E4"/>
        </a:solidFill>
      </p:bgPr>
    </p:bg>
    <p:spTree>
      <p:nvGrpSpPr>
        <p:cNvPr id="1" name=""/>
        <p:cNvGrpSpPr/>
        <p:nvPr/>
      </p:nvGrpSpPr>
      <p:grpSpPr>
        <a:xfrm>
          <a:off x="0" y="0"/>
          <a:ext cx="0" cy="0"/>
          <a:chOff x="0" y="0"/>
          <a:chExt cx="0" cy="0"/>
        </a:xfrm>
      </p:grpSpPr>
      <p:sp>
        <p:nvSpPr>
          <p:cNvPr name="Freeform 2" id="2"/>
          <p:cNvSpPr/>
          <p:nvPr/>
        </p:nvSpPr>
        <p:spPr>
          <a:xfrm flipH="false" flipV="false" rot="-445925">
            <a:off x="3142738" y="-769394"/>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8798399">
            <a:off x="8466276" y="-9590538"/>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3283157">
            <a:off x="-1501206" y="7329841"/>
            <a:ext cx="5624862" cy="7545546"/>
          </a:xfrm>
          <a:custGeom>
            <a:avLst/>
            <a:gdLst/>
            <a:ahLst/>
            <a:cxnLst/>
            <a:rect r="r" b="b" t="t" l="l"/>
            <a:pathLst>
              <a:path h="7545546" w="5624862">
                <a:moveTo>
                  <a:pt x="0" y="0"/>
                </a:moveTo>
                <a:lnTo>
                  <a:pt x="5624862" y="0"/>
                </a:lnTo>
                <a:lnTo>
                  <a:pt x="5624862" y="7545546"/>
                </a:lnTo>
                <a:lnTo>
                  <a:pt x="0" y="75455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2770156">
            <a:off x="-2577184" y="-2165857"/>
            <a:ext cx="5154368" cy="4995052"/>
          </a:xfrm>
          <a:custGeom>
            <a:avLst/>
            <a:gdLst/>
            <a:ahLst/>
            <a:cxnLst/>
            <a:rect r="r" b="b" t="t" l="l"/>
            <a:pathLst>
              <a:path h="4995052" w="5154368">
                <a:moveTo>
                  <a:pt x="0" y="0"/>
                </a:moveTo>
                <a:lnTo>
                  <a:pt x="5154368" y="0"/>
                </a:lnTo>
                <a:lnTo>
                  <a:pt x="5154368" y="4995051"/>
                </a:lnTo>
                <a:lnTo>
                  <a:pt x="0" y="49950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2770156">
            <a:off x="15710816" y="8522875"/>
            <a:ext cx="5154368" cy="4995052"/>
          </a:xfrm>
          <a:custGeom>
            <a:avLst/>
            <a:gdLst/>
            <a:ahLst/>
            <a:cxnLst/>
            <a:rect r="r" b="b" t="t" l="l"/>
            <a:pathLst>
              <a:path h="4995052" w="5154368">
                <a:moveTo>
                  <a:pt x="0" y="0"/>
                </a:moveTo>
                <a:lnTo>
                  <a:pt x="5154368" y="0"/>
                </a:lnTo>
                <a:lnTo>
                  <a:pt x="5154368" y="4995052"/>
                </a:lnTo>
                <a:lnTo>
                  <a:pt x="0" y="49950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7" id="7"/>
          <p:cNvSpPr txBox="true"/>
          <p:nvPr/>
        </p:nvSpPr>
        <p:spPr>
          <a:xfrm rot="0">
            <a:off x="2526598" y="3532337"/>
            <a:ext cx="13776722" cy="4050170"/>
          </a:xfrm>
          <a:prstGeom prst="rect">
            <a:avLst/>
          </a:prstGeom>
        </p:spPr>
        <p:txBody>
          <a:bodyPr anchor="t" rtlCol="false" tIns="0" lIns="0" bIns="0" rIns="0">
            <a:spAutoFit/>
          </a:bodyPr>
          <a:lstStyle/>
          <a:p>
            <a:pPr algn="ctr">
              <a:lnSpc>
                <a:spcPts val="4612"/>
              </a:lnSpc>
            </a:pPr>
            <a:r>
              <a:rPr lang="en-US" sz="3294" spc="72">
                <a:solidFill>
                  <a:srgbClr val="152540"/>
                </a:solidFill>
                <a:latin typeface="Glacial Indifference"/>
                <a:ea typeface="Glacial Indifference"/>
                <a:cs typeface="Glacial Indifference"/>
                <a:sym typeface="Glacial Indifference"/>
              </a:rPr>
              <a:t> Identifica y </a:t>
            </a:r>
            <a:r>
              <a:rPr lang="en-US" sz="3294" spc="72" strike="noStrike" u="none">
                <a:solidFill>
                  <a:srgbClr val="152540"/>
                </a:solidFill>
                <a:latin typeface="Glacial Indifference"/>
                <a:ea typeface="Glacial Indifference"/>
                <a:cs typeface="Glacial Indifference"/>
                <a:sym typeface="Glacial Indifference"/>
              </a:rPr>
              <a:t>tacha las muletillas en el siguiente párrafo para limpiar el mensaje:</a:t>
            </a:r>
          </a:p>
          <a:p>
            <a:pPr algn="ctr">
              <a:lnSpc>
                <a:spcPts val="4612"/>
              </a:lnSpc>
            </a:pPr>
          </a:p>
          <a:p>
            <a:pPr algn="ctr">
              <a:lnSpc>
                <a:spcPts val="4612"/>
              </a:lnSpc>
            </a:pPr>
            <a:r>
              <a:rPr lang="en-US" sz="3294" spc="72" strike="noStrike" u="none">
                <a:solidFill>
                  <a:srgbClr val="152540"/>
                </a:solidFill>
                <a:latin typeface="Glacial Indifference"/>
                <a:ea typeface="Glacial Indifference"/>
                <a:cs typeface="Glacial Indifference"/>
                <a:sym typeface="Glacial Indifference"/>
              </a:rPr>
              <a:t>"Bueno, la verdad es que, este, yo creo que el proyecto está, digamos, bastante bien, ¿no?, pero, o sea, podríamos mejorarlo un poco más, digo yo."</a:t>
            </a:r>
          </a:p>
          <a:p>
            <a:pPr algn="ctr">
              <a:lnSpc>
                <a:spcPts val="4612"/>
              </a:lnSpc>
            </a:pPr>
          </a:p>
        </p:txBody>
      </p:sp>
      <p:sp>
        <p:nvSpPr>
          <p:cNvPr name="TextBox 8" id="8"/>
          <p:cNvSpPr txBox="true"/>
          <p:nvPr/>
        </p:nvSpPr>
        <p:spPr>
          <a:xfrm rot="0">
            <a:off x="5643351" y="1681663"/>
            <a:ext cx="7543218" cy="1028008"/>
          </a:xfrm>
          <a:prstGeom prst="rect">
            <a:avLst/>
          </a:prstGeom>
        </p:spPr>
        <p:txBody>
          <a:bodyPr anchor="t" rtlCol="false" tIns="0" lIns="0" bIns="0" rIns="0">
            <a:spAutoFit/>
          </a:bodyPr>
          <a:lstStyle/>
          <a:p>
            <a:pPr algn="ctr">
              <a:lnSpc>
                <a:spcPts val="8438"/>
              </a:lnSpc>
            </a:pPr>
            <a:r>
              <a:rPr lang="en-US" b="true" sz="6027" spc="566">
                <a:solidFill>
                  <a:srgbClr val="152540"/>
                </a:solidFill>
                <a:latin typeface="Glacial Indifference Bold"/>
                <a:ea typeface="Glacial Indifference Bold"/>
                <a:cs typeface="Glacial Indifference Bold"/>
                <a:sym typeface="Glacial Indifference Bold"/>
              </a:rPr>
              <a:t>EJERCICIO.</a:t>
            </a:r>
          </a:p>
        </p:txBody>
      </p:sp>
    </p:spTree>
  </p:cSld>
  <p:clrMapOvr>
    <a:masterClrMapping/>
  </p:clrMapOvr>
</p:sld>
</file>

<file path=ppt/slides/slide53.xml><?xml version="1.0" encoding="utf-8"?>
<p:sld xmlns:p="http://schemas.openxmlformats.org/presentationml/2006/main" xmlns:a="http://schemas.openxmlformats.org/drawingml/2006/main" xmlns:r="http://schemas.openxmlformats.org/officeDocument/2006/relationships">
  <p:cSld>
    <p:bg>
      <p:bgPr>
        <a:solidFill>
          <a:srgbClr val="EDE8E4"/>
        </a:solidFill>
      </p:bgPr>
    </p:bg>
    <p:spTree>
      <p:nvGrpSpPr>
        <p:cNvPr id="1" name=""/>
        <p:cNvGrpSpPr/>
        <p:nvPr/>
      </p:nvGrpSpPr>
      <p:grpSpPr>
        <a:xfrm>
          <a:off x="0" y="0"/>
          <a:ext cx="0" cy="0"/>
          <a:chOff x="0" y="0"/>
          <a:chExt cx="0" cy="0"/>
        </a:xfrm>
      </p:grpSpPr>
      <p:sp>
        <p:nvSpPr>
          <p:cNvPr name="Freeform 2" id="2"/>
          <p:cNvSpPr/>
          <p:nvPr/>
        </p:nvSpPr>
        <p:spPr>
          <a:xfrm flipH="false" flipV="false" rot="-445925">
            <a:off x="3142738" y="-769394"/>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8798399">
            <a:off x="8466276" y="-9590538"/>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3283157">
            <a:off x="-1501206" y="7329841"/>
            <a:ext cx="5624862" cy="7545546"/>
          </a:xfrm>
          <a:custGeom>
            <a:avLst/>
            <a:gdLst/>
            <a:ahLst/>
            <a:cxnLst/>
            <a:rect r="r" b="b" t="t" l="l"/>
            <a:pathLst>
              <a:path h="7545546" w="5624862">
                <a:moveTo>
                  <a:pt x="0" y="0"/>
                </a:moveTo>
                <a:lnTo>
                  <a:pt x="5624862" y="0"/>
                </a:lnTo>
                <a:lnTo>
                  <a:pt x="5624862" y="7545546"/>
                </a:lnTo>
                <a:lnTo>
                  <a:pt x="0" y="75455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2770156">
            <a:off x="-2577184" y="-2165857"/>
            <a:ext cx="5154368" cy="4995052"/>
          </a:xfrm>
          <a:custGeom>
            <a:avLst/>
            <a:gdLst/>
            <a:ahLst/>
            <a:cxnLst/>
            <a:rect r="r" b="b" t="t" l="l"/>
            <a:pathLst>
              <a:path h="4995052" w="5154368">
                <a:moveTo>
                  <a:pt x="0" y="0"/>
                </a:moveTo>
                <a:lnTo>
                  <a:pt x="5154368" y="0"/>
                </a:lnTo>
                <a:lnTo>
                  <a:pt x="5154368" y="4995051"/>
                </a:lnTo>
                <a:lnTo>
                  <a:pt x="0" y="49950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2770156">
            <a:off x="15710816" y="8522875"/>
            <a:ext cx="5154368" cy="4995052"/>
          </a:xfrm>
          <a:custGeom>
            <a:avLst/>
            <a:gdLst/>
            <a:ahLst/>
            <a:cxnLst/>
            <a:rect r="r" b="b" t="t" l="l"/>
            <a:pathLst>
              <a:path h="4995052" w="5154368">
                <a:moveTo>
                  <a:pt x="0" y="0"/>
                </a:moveTo>
                <a:lnTo>
                  <a:pt x="5154368" y="0"/>
                </a:lnTo>
                <a:lnTo>
                  <a:pt x="5154368" y="4995052"/>
                </a:lnTo>
                <a:lnTo>
                  <a:pt x="0" y="49950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7" id="7"/>
          <p:cNvSpPr txBox="true"/>
          <p:nvPr/>
        </p:nvSpPr>
        <p:spPr>
          <a:xfrm rot="0">
            <a:off x="2255639" y="3918804"/>
            <a:ext cx="13776722" cy="1726070"/>
          </a:xfrm>
          <a:prstGeom prst="rect">
            <a:avLst/>
          </a:prstGeom>
        </p:spPr>
        <p:txBody>
          <a:bodyPr anchor="t" rtlCol="false" tIns="0" lIns="0" bIns="0" rIns="0">
            <a:spAutoFit/>
          </a:bodyPr>
          <a:lstStyle/>
          <a:p>
            <a:pPr algn="ctr">
              <a:lnSpc>
                <a:spcPts val="4612"/>
              </a:lnSpc>
            </a:pPr>
            <a:r>
              <a:rPr lang="en-US" sz="3294" spc="72">
                <a:solidFill>
                  <a:srgbClr val="152540"/>
                </a:solidFill>
                <a:latin typeface="Glacial Indifference"/>
                <a:ea typeface="Glacial Indifference"/>
                <a:cs typeface="Glacial Indifference"/>
                <a:sym typeface="Glacial Indifference"/>
              </a:rPr>
              <a:t>Us</a:t>
            </a:r>
            <a:r>
              <a:rPr lang="en-US" sz="3294" spc="72" strike="noStrike" u="none">
                <a:solidFill>
                  <a:srgbClr val="152540"/>
                </a:solidFill>
                <a:latin typeface="Glacial Indifference"/>
                <a:ea typeface="Glacial Indifference"/>
                <a:cs typeface="Glacial Indifference"/>
                <a:sym typeface="Glacial Indifference"/>
              </a:rPr>
              <a:t>o de palabras nuevas creadas sin necesidad, o la adopción de préstamos de otros idiomas (anglicismos, galicismos) cuando ya existe un término en español perfectamente válido y con el mismo significado.</a:t>
            </a:r>
          </a:p>
        </p:txBody>
      </p:sp>
      <p:sp>
        <p:nvSpPr>
          <p:cNvPr name="TextBox 8" id="8"/>
          <p:cNvSpPr txBox="true"/>
          <p:nvPr/>
        </p:nvSpPr>
        <p:spPr>
          <a:xfrm rot="0">
            <a:off x="2821675" y="1014579"/>
            <a:ext cx="12644649" cy="1988128"/>
          </a:xfrm>
          <a:prstGeom prst="rect">
            <a:avLst/>
          </a:prstGeom>
        </p:spPr>
        <p:txBody>
          <a:bodyPr anchor="t" rtlCol="false" tIns="0" lIns="0" bIns="0" rIns="0">
            <a:spAutoFit/>
          </a:bodyPr>
          <a:lstStyle/>
          <a:p>
            <a:pPr algn="ctr">
              <a:lnSpc>
                <a:spcPts val="8018"/>
              </a:lnSpc>
            </a:pPr>
            <a:r>
              <a:rPr lang="en-US" b="true" sz="5727" spc="538">
                <a:solidFill>
                  <a:srgbClr val="152540"/>
                </a:solidFill>
                <a:latin typeface="Glacial Indifference Bold"/>
                <a:ea typeface="Glacial Indifference Bold"/>
                <a:cs typeface="Glacial Indifference Bold"/>
                <a:sym typeface="Glacial Indifference Bold"/>
              </a:rPr>
              <a:t>15. NEOLOGISMO INNECESARIO (Y EXTRANJERISMO).</a:t>
            </a:r>
          </a:p>
        </p:txBody>
      </p:sp>
    </p:spTree>
  </p:cSld>
  <p:clrMapOvr>
    <a:masterClrMapping/>
  </p:clrMapOvr>
</p:sld>
</file>

<file path=ppt/slides/slide54.xml><?xml version="1.0" encoding="utf-8"?>
<p:sld xmlns:p="http://schemas.openxmlformats.org/presentationml/2006/main" xmlns:a="http://schemas.openxmlformats.org/drawingml/2006/main" xmlns:r="http://schemas.openxmlformats.org/officeDocument/2006/relationships">
  <p:cSld>
    <p:bg>
      <p:bgPr>
        <a:solidFill>
          <a:srgbClr val="EDE8E4"/>
        </a:solidFill>
      </p:bgPr>
    </p:bg>
    <p:spTree>
      <p:nvGrpSpPr>
        <p:cNvPr id="1" name=""/>
        <p:cNvGrpSpPr/>
        <p:nvPr/>
      </p:nvGrpSpPr>
      <p:grpSpPr>
        <a:xfrm>
          <a:off x="0" y="0"/>
          <a:ext cx="0" cy="0"/>
          <a:chOff x="0" y="0"/>
          <a:chExt cx="0" cy="0"/>
        </a:xfrm>
      </p:grpSpPr>
      <p:sp>
        <p:nvSpPr>
          <p:cNvPr name="Freeform 2" id="2"/>
          <p:cNvSpPr/>
          <p:nvPr/>
        </p:nvSpPr>
        <p:spPr>
          <a:xfrm flipH="false" flipV="false" rot="-445925">
            <a:off x="3142738" y="-769394"/>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8798399">
            <a:off x="8466276" y="-9590538"/>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3283157">
            <a:off x="-1501206" y="7329841"/>
            <a:ext cx="5624862" cy="7545546"/>
          </a:xfrm>
          <a:custGeom>
            <a:avLst/>
            <a:gdLst/>
            <a:ahLst/>
            <a:cxnLst/>
            <a:rect r="r" b="b" t="t" l="l"/>
            <a:pathLst>
              <a:path h="7545546" w="5624862">
                <a:moveTo>
                  <a:pt x="0" y="0"/>
                </a:moveTo>
                <a:lnTo>
                  <a:pt x="5624862" y="0"/>
                </a:lnTo>
                <a:lnTo>
                  <a:pt x="5624862" y="7545546"/>
                </a:lnTo>
                <a:lnTo>
                  <a:pt x="0" y="75455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2770156">
            <a:off x="-2577184" y="-2165857"/>
            <a:ext cx="5154368" cy="4995052"/>
          </a:xfrm>
          <a:custGeom>
            <a:avLst/>
            <a:gdLst/>
            <a:ahLst/>
            <a:cxnLst/>
            <a:rect r="r" b="b" t="t" l="l"/>
            <a:pathLst>
              <a:path h="4995052" w="5154368">
                <a:moveTo>
                  <a:pt x="0" y="0"/>
                </a:moveTo>
                <a:lnTo>
                  <a:pt x="5154368" y="0"/>
                </a:lnTo>
                <a:lnTo>
                  <a:pt x="5154368" y="4995051"/>
                </a:lnTo>
                <a:lnTo>
                  <a:pt x="0" y="49950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2770156">
            <a:off x="15710816" y="8522875"/>
            <a:ext cx="5154368" cy="4995052"/>
          </a:xfrm>
          <a:custGeom>
            <a:avLst/>
            <a:gdLst/>
            <a:ahLst/>
            <a:cxnLst/>
            <a:rect r="r" b="b" t="t" l="l"/>
            <a:pathLst>
              <a:path h="4995052" w="5154368">
                <a:moveTo>
                  <a:pt x="0" y="0"/>
                </a:moveTo>
                <a:lnTo>
                  <a:pt x="5154368" y="0"/>
                </a:lnTo>
                <a:lnTo>
                  <a:pt x="5154368" y="4995052"/>
                </a:lnTo>
                <a:lnTo>
                  <a:pt x="0" y="49950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7" id="7"/>
          <p:cNvSpPr txBox="true"/>
          <p:nvPr/>
        </p:nvSpPr>
        <p:spPr>
          <a:xfrm rot="0">
            <a:off x="2255639" y="3967775"/>
            <a:ext cx="13776722" cy="2555380"/>
          </a:xfrm>
          <a:prstGeom prst="rect">
            <a:avLst/>
          </a:prstGeom>
        </p:spPr>
        <p:txBody>
          <a:bodyPr anchor="t" rtlCol="false" tIns="0" lIns="0" bIns="0" rIns="0">
            <a:spAutoFit/>
          </a:bodyPr>
          <a:lstStyle/>
          <a:p>
            <a:pPr algn="ctr">
              <a:lnSpc>
                <a:spcPts val="4052"/>
              </a:lnSpc>
            </a:pPr>
            <a:r>
              <a:rPr lang="en-US" sz="2894" spc="63">
                <a:solidFill>
                  <a:srgbClr val="152540"/>
                </a:solidFill>
                <a:latin typeface="Glacial Indifference"/>
                <a:ea typeface="Glacial Indifference"/>
                <a:cs typeface="Glacial Indifference"/>
                <a:sym typeface="Glacial Indifference"/>
              </a:rPr>
              <a:t>Incorrect</a:t>
            </a:r>
            <a:r>
              <a:rPr lang="en-US" sz="2894" spc="63" strike="noStrike" u="none">
                <a:solidFill>
                  <a:srgbClr val="152540"/>
                </a:solidFill>
                <a:latin typeface="Glacial Indifference"/>
                <a:ea typeface="Glacial Indifference"/>
                <a:cs typeface="Glacial Indifference"/>
                <a:sym typeface="Glacial Indifference"/>
              </a:rPr>
              <a:t>o: Voy a linkear mi cuenta. / Correcto: Voy a enlazar mi cuenta.</a:t>
            </a:r>
          </a:p>
          <a:p>
            <a:pPr algn="ctr">
              <a:lnSpc>
                <a:spcPts val="4052"/>
              </a:lnSpc>
            </a:pPr>
          </a:p>
          <a:p>
            <a:pPr algn="ctr">
              <a:lnSpc>
                <a:spcPts val="4052"/>
              </a:lnSpc>
            </a:pPr>
            <a:r>
              <a:rPr lang="en-US" sz="2894" spc="63" strike="noStrike" u="none">
                <a:solidFill>
                  <a:srgbClr val="152540"/>
                </a:solidFill>
                <a:latin typeface="Glacial Indifference"/>
                <a:ea typeface="Glacial Indifference"/>
                <a:cs typeface="Glacial Indifference"/>
                <a:sym typeface="Glacial Indifference"/>
              </a:rPr>
              <a:t>Incorrecto: Dame tu feedback. / Correcto: Dame tus comentarios (o retroalimentación).</a:t>
            </a:r>
          </a:p>
          <a:p>
            <a:pPr algn="ctr">
              <a:lnSpc>
                <a:spcPts val="4052"/>
              </a:lnSpc>
            </a:pPr>
          </a:p>
        </p:txBody>
      </p:sp>
      <p:sp>
        <p:nvSpPr>
          <p:cNvPr name="TextBox 8" id="8"/>
          <p:cNvSpPr txBox="true"/>
          <p:nvPr/>
        </p:nvSpPr>
        <p:spPr>
          <a:xfrm rot="0">
            <a:off x="5372391" y="2321050"/>
            <a:ext cx="7543218" cy="1028008"/>
          </a:xfrm>
          <a:prstGeom prst="rect">
            <a:avLst/>
          </a:prstGeom>
        </p:spPr>
        <p:txBody>
          <a:bodyPr anchor="t" rtlCol="false" tIns="0" lIns="0" bIns="0" rIns="0">
            <a:spAutoFit/>
          </a:bodyPr>
          <a:lstStyle/>
          <a:p>
            <a:pPr algn="ctr">
              <a:lnSpc>
                <a:spcPts val="8438"/>
              </a:lnSpc>
            </a:pPr>
            <a:r>
              <a:rPr lang="en-US" b="true" sz="6027" spc="566">
                <a:solidFill>
                  <a:srgbClr val="152540"/>
                </a:solidFill>
                <a:latin typeface="Glacial Indifference Bold"/>
                <a:ea typeface="Glacial Indifference Bold"/>
                <a:cs typeface="Glacial Indifference Bold"/>
                <a:sym typeface="Glacial Indifference Bold"/>
              </a:rPr>
              <a:t>EJEMPLOS:</a:t>
            </a:r>
          </a:p>
        </p:txBody>
      </p:sp>
    </p:spTree>
  </p:cSld>
  <p:clrMapOvr>
    <a:masterClrMapping/>
  </p:clrMapOvr>
</p:sld>
</file>

<file path=ppt/slides/slide55.xml><?xml version="1.0" encoding="utf-8"?>
<p:sld xmlns:p="http://schemas.openxmlformats.org/presentationml/2006/main" xmlns:a="http://schemas.openxmlformats.org/drawingml/2006/main" xmlns:r="http://schemas.openxmlformats.org/officeDocument/2006/relationships">
  <p:cSld>
    <p:bg>
      <p:bgPr>
        <a:solidFill>
          <a:srgbClr val="EDE8E4"/>
        </a:solidFill>
      </p:bgPr>
    </p:bg>
    <p:spTree>
      <p:nvGrpSpPr>
        <p:cNvPr id="1" name=""/>
        <p:cNvGrpSpPr/>
        <p:nvPr/>
      </p:nvGrpSpPr>
      <p:grpSpPr>
        <a:xfrm>
          <a:off x="0" y="0"/>
          <a:ext cx="0" cy="0"/>
          <a:chOff x="0" y="0"/>
          <a:chExt cx="0" cy="0"/>
        </a:xfrm>
      </p:grpSpPr>
      <p:sp>
        <p:nvSpPr>
          <p:cNvPr name="Freeform 2" id="2"/>
          <p:cNvSpPr/>
          <p:nvPr/>
        </p:nvSpPr>
        <p:spPr>
          <a:xfrm flipH="false" flipV="false" rot="-445925">
            <a:off x="3142738" y="-769394"/>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8798399">
            <a:off x="8466276" y="-9590538"/>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3283157">
            <a:off x="-1501206" y="7329841"/>
            <a:ext cx="5624862" cy="7545546"/>
          </a:xfrm>
          <a:custGeom>
            <a:avLst/>
            <a:gdLst/>
            <a:ahLst/>
            <a:cxnLst/>
            <a:rect r="r" b="b" t="t" l="l"/>
            <a:pathLst>
              <a:path h="7545546" w="5624862">
                <a:moveTo>
                  <a:pt x="0" y="0"/>
                </a:moveTo>
                <a:lnTo>
                  <a:pt x="5624862" y="0"/>
                </a:lnTo>
                <a:lnTo>
                  <a:pt x="5624862" y="7545546"/>
                </a:lnTo>
                <a:lnTo>
                  <a:pt x="0" y="75455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2770156">
            <a:off x="-2577184" y="-2165857"/>
            <a:ext cx="5154368" cy="4995052"/>
          </a:xfrm>
          <a:custGeom>
            <a:avLst/>
            <a:gdLst/>
            <a:ahLst/>
            <a:cxnLst/>
            <a:rect r="r" b="b" t="t" l="l"/>
            <a:pathLst>
              <a:path h="4995052" w="5154368">
                <a:moveTo>
                  <a:pt x="0" y="0"/>
                </a:moveTo>
                <a:lnTo>
                  <a:pt x="5154368" y="0"/>
                </a:lnTo>
                <a:lnTo>
                  <a:pt x="5154368" y="4995051"/>
                </a:lnTo>
                <a:lnTo>
                  <a:pt x="0" y="49950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2770156">
            <a:off x="15710816" y="8522875"/>
            <a:ext cx="5154368" cy="4995052"/>
          </a:xfrm>
          <a:custGeom>
            <a:avLst/>
            <a:gdLst/>
            <a:ahLst/>
            <a:cxnLst/>
            <a:rect r="r" b="b" t="t" l="l"/>
            <a:pathLst>
              <a:path h="4995052" w="5154368">
                <a:moveTo>
                  <a:pt x="0" y="0"/>
                </a:moveTo>
                <a:lnTo>
                  <a:pt x="5154368" y="0"/>
                </a:lnTo>
                <a:lnTo>
                  <a:pt x="5154368" y="4995052"/>
                </a:lnTo>
                <a:lnTo>
                  <a:pt x="0" y="49950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7" id="7"/>
          <p:cNvSpPr txBox="true"/>
          <p:nvPr/>
        </p:nvSpPr>
        <p:spPr>
          <a:xfrm rot="0">
            <a:off x="2526598" y="3115605"/>
            <a:ext cx="13776722" cy="3584080"/>
          </a:xfrm>
          <a:prstGeom prst="rect">
            <a:avLst/>
          </a:prstGeom>
        </p:spPr>
        <p:txBody>
          <a:bodyPr anchor="t" rtlCol="false" tIns="0" lIns="0" bIns="0" rIns="0">
            <a:spAutoFit/>
          </a:bodyPr>
          <a:lstStyle/>
          <a:p>
            <a:pPr algn="ctr">
              <a:lnSpc>
                <a:spcPts val="4052"/>
              </a:lnSpc>
            </a:pPr>
            <a:r>
              <a:rPr lang="en-US" sz="2894" spc="63" strike="noStrike" u="none">
                <a:solidFill>
                  <a:srgbClr val="152540"/>
                </a:solidFill>
                <a:latin typeface="Glacial Indifference"/>
                <a:ea typeface="Glacial Indifference"/>
                <a:cs typeface="Glacial Indifference"/>
                <a:sym typeface="Glacial Indifference"/>
              </a:rPr>
              <a:t>Ejercicio: Escribe el equivalente correcto en español para los siguientes extranjerismos innecesarios:</a:t>
            </a:r>
          </a:p>
          <a:p>
            <a:pPr algn="ctr">
              <a:lnSpc>
                <a:spcPts val="4052"/>
              </a:lnSpc>
            </a:pPr>
          </a:p>
          <a:p>
            <a:pPr algn="ctr">
              <a:lnSpc>
                <a:spcPts val="4052"/>
              </a:lnSpc>
            </a:pPr>
            <a:r>
              <a:rPr lang="en-US" sz="2894" spc="63" strike="noStrike" u="none">
                <a:solidFill>
                  <a:srgbClr val="152540"/>
                </a:solidFill>
                <a:latin typeface="Glacial Indifference"/>
                <a:ea typeface="Glacial Indifference"/>
                <a:cs typeface="Glacial Indifference"/>
                <a:sym typeface="Glacial Indifference"/>
              </a:rPr>
              <a:t>Vamos al shopping a comprar ropa.</a:t>
            </a:r>
          </a:p>
          <a:p>
            <a:pPr algn="ctr">
              <a:lnSpc>
                <a:spcPts val="4052"/>
              </a:lnSpc>
            </a:pPr>
          </a:p>
          <a:p>
            <a:pPr algn="ctr">
              <a:lnSpc>
                <a:spcPts val="4052"/>
              </a:lnSpc>
            </a:pPr>
            <a:r>
              <a:rPr lang="en-US" sz="2894" spc="63" strike="noStrike" u="none">
                <a:solidFill>
                  <a:srgbClr val="152540"/>
                </a:solidFill>
                <a:latin typeface="Glacial Indifference"/>
                <a:ea typeface="Glacial Indifference"/>
                <a:cs typeface="Glacial Indifference"/>
                <a:sym typeface="Glacial Indifference"/>
              </a:rPr>
              <a:t>Te envié el archivo atiachado en el correo.</a:t>
            </a:r>
          </a:p>
          <a:p>
            <a:pPr algn="ctr">
              <a:lnSpc>
                <a:spcPts val="4052"/>
              </a:lnSpc>
            </a:pPr>
          </a:p>
        </p:txBody>
      </p:sp>
      <p:sp>
        <p:nvSpPr>
          <p:cNvPr name="TextBox 8" id="8"/>
          <p:cNvSpPr txBox="true"/>
          <p:nvPr/>
        </p:nvSpPr>
        <p:spPr>
          <a:xfrm rot="0">
            <a:off x="5558099" y="1425909"/>
            <a:ext cx="7543218" cy="1028008"/>
          </a:xfrm>
          <a:prstGeom prst="rect">
            <a:avLst/>
          </a:prstGeom>
        </p:spPr>
        <p:txBody>
          <a:bodyPr anchor="t" rtlCol="false" tIns="0" lIns="0" bIns="0" rIns="0">
            <a:spAutoFit/>
          </a:bodyPr>
          <a:lstStyle/>
          <a:p>
            <a:pPr algn="ctr">
              <a:lnSpc>
                <a:spcPts val="8438"/>
              </a:lnSpc>
            </a:pPr>
            <a:r>
              <a:rPr lang="en-US" b="true" sz="6027" spc="566">
                <a:solidFill>
                  <a:srgbClr val="152540"/>
                </a:solidFill>
                <a:latin typeface="Glacial Indifference Bold"/>
                <a:ea typeface="Glacial Indifference Bold"/>
                <a:cs typeface="Glacial Indifference Bold"/>
                <a:sym typeface="Glacial Indifference Bold"/>
              </a:rPr>
              <a:t>EJERCICIO.</a:t>
            </a:r>
          </a:p>
        </p:txBody>
      </p:sp>
    </p:spTree>
  </p:cSld>
  <p:clrMapOvr>
    <a:masterClrMapping/>
  </p:clrMapOvr>
</p:sld>
</file>

<file path=ppt/slides/slide56.xml><?xml version="1.0" encoding="utf-8"?>
<p:sld xmlns:p="http://schemas.openxmlformats.org/presentationml/2006/main" xmlns:a="http://schemas.openxmlformats.org/drawingml/2006/main" xmlns:r="http://schemas.openxmlformats.org/officeDocument/2006/relationships">
  <p:cSld>
    <p:bg>
      <p:bgPr>
        <a:solidFill>
          <a:srgbClr val="EDE8E4"/>
        </a:solidFill>
      </p:bgPr>
    </p:bg>
    <p:spTree>
      <p:nvGrpSpPr>
        <p:cNvPr id="1" name=""/>
        <p:cNvGrpSpPr/>
        <p:nvPr/>
      </p:nvGrpSpPr>
      <p:grpSpPr>
        <a:xfrm>
          <a:off x="0" y="0"/>
          <a:ext cx="0" cy="0"/>
          <a:chOff x="0" y="0"/>
          <a:chExt cx="0" cy="0"/>
        </a:xfrm>
      </p:grpSpPr>
      <p:sp>
        <p:nvSpPr>
          <p:cNvPr name="Freeform 2" id="2"/>
          <p:cNvSpPr/>
          <p:nvPr/>
        </p:nvSpPr>
        <p:spPr>
          <a:xfrm flipH="false" flipV="false" rot="-445925">
            <a:off x="3142738" y="-769394"/>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8798399">
            <a:off x="8466276" y="-9590538"/>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3283157">
            <a:off x="-1501206" y="7329841"/>
            <a:ext cx="5624862" cy="7545546"/>
          </a:xfrm>
          <a:custGeom>
            <a:avLst/>
            <a:gdLst/>
            <a:ahLst/>
            <a:cxnLst/>
            <a:rect r="r" b="b" t="t" l="l"/>
            <a:pathLst>
              <a:path h="7545546" w="5624862">
                <a:moveTo>
                  <a:pt x="0" y="0"/>
                </a:moveTo>
                <a:lnTo>
                  <a:pt x="5624862" y="0"/>
                </a:lnTo>
                <a:lnTo>
                  <a:pt x="5624862" y="7545546"/>
                </a:lnTo>
                <a:lnTo>
                  <a:pt x="0" y="75455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2770156">
            <a:off x="-2577184" y="-2165857"/>
            <a:ext cx="5154368" cy="4995052"/>
          </a:xfrm>
          <a:custGeom>
            <a:avLst/>
            <a:gdLst/>
            <a:ahLst/>
            <a:cxnLst/>
            <a:rect r="r" b="b" t="t" l="l"/>
            <a:pathLst>
              <a:path h="4995052" w="5154368">
                <a:moveTo>
                  <a:pt x="0" y="0"/>
                </a:moveTo>
                <a:lnTo>
                  <a:pt x="5154368" y="0"/>
                </a:lnTo>
                <a:lnTo>
                  <a:pt x="5154368" y="4995051"/>
                </a:lnTo>
                <a:lnTo>
                  <a:pt x="0" y="49950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2770156">
            <a:off x="15710816" y="8522875"/>
            <a:ext cx="5154368" cy="4995052"/>
          </a:xfrm>
          <a:custGeom>
            <a:avLst/>
            <a:gdLst/>
            <a:ahLst/>
            <a:cxnLst/>
            <a:rect r="r" b="b" t="t" l="l"/>
            <a:pathLst>
              <a:path h="4995052" w="5154368">
                <a:moveTo>
                  <a:pt x="0" y="0"/>
                </a:moveTo>
                <a:lnTo>
                  <a:pt x="5154368" y="0"/>
                </a:lnTo>
                <a:lnTo>
                  <a:pt x="5154368" y="4995052"/>
                </a:lnTo>
                <a:lnTo>
                  <a:pt x="0" y="49950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7" id="7"/>
          <p:cNvSpPr txBox="true"/>
          <p:nvPr/>
        </p:nvSpPr>
        <p:spPr>
          <a:xfrm rot="0">
            <a:off x="2526598" y="3853758"/>
            <a:ext cx="13776722" cy="1726070"/>
          </a:xfrm>
          <a:prstGeom prst="rect">
            <a:avLst/>
          </a:prstGeom>
        </p:spPr>
        <p:txBody>
          <a:bodyPr anchor="t" rtlCol="false" tIns="0" lIns="0" bIns="0" rIns="0">
            <a:spAutoFit/>
          </a:bodyPr>
          <a:lstStyle/>
          <a:p>
            <a:pPr algn="ctr">
              <a:lnSpc>
                <a:spcPts val="4612"/>
              </a:lnSpc>
            </a:pPr>
            <a:r>
              <a:rPr lang="en-US" sz="3294" spc="72">
                <a:solidFill>
                  <a:srgbClr val="152540"/>
                </a:solidFill>
                <a:latin typeface="Glacial Indifference"/>
                <a:ea typeface="Glacial Indifference"/>
                <a:cs typeface="Glacial Indifference"/>
                <a:sym typeface="Glacial Indifference"/>
              </a:rPr>
              <a:t>Em</a:t>
            </a:r>
            <a:r>
              <a:rPr lang="en-US" sz="3294" spc="72" strike="noStrike" u="none">
                <a:solidFill>
                  <a:srgbClr val="152540"/>
                </a:solidFill>
                <a:latin typeface="Glacial Indifference"/>
                <a:ea typeface="Glacial Indifference"/>
                <a:cs typeface="Glacial Indifference"/>
                <a:sym typeface="Glacial Indifference"/>
              </a:rPr>
              <a:t>pleo de palabras innecesarias que no añaden ninguna información nueva a la idea, ya que el significado de esas palabras ya está implícito en la expresión.</a:t>
            </a:r>
          </a:p>
        </p:txBody>
      </p:sp>
      <p:sp>
        <p:nvSpPr>
          <p:cNvPr name="TextBox 8" id="8"/>
          <p:cNvSpPr txBox="true"/>
          <p:nvPr/>
        </p:nvSpPr>
        <p:spPr>
          <a:xfrm rot="0">
            <a:off x="5643351" y="1283823"/>
            <a:ext cx="7543218" cy="2094808"/>
          </a:xfrm>
          <a:prstGeom prst="rect">
            <a:avLst/>
          </a:prstGeom>
        </p:spPr>
        <p:txBody>
          <a:bodyPr anchor="t" rtlCol="false" tIns="0" lIns="0" bIns="0" rIns="0">
            <a:spAutoFit/>
          </a:bodyPr>
          <a:lstStyle/>
          <a:p>
            <a:pPr algn="ctr">
              <a:lnSpc>
                <a:spcPts val="8438"/>
              </a:lnSpc>
            </a:pPr>
            <a:r>
              <a:rPr lang="en-US" b="true" sz="6027" spc="566">
                <a:solidFill>
                  <a:srgbClr val="152540"/>
                </a:solidFill>
                <a:latin typeface="Glacial Indifference Bold"/>
                <a:ea typeface="Glacial Indifference Bold"/>
                <a:cs typeface="Glacial Indifference Bold"/>
                <a:sym typeface="Glacial Indifference Bold"/>
              </a:rPr>
              <a:t>16. PLEONASMO (REDUNDANCIA)</a:t>
            </a:r>
          </a:p>
        </p:txBody>
      </p:sp>
    </p:spTree>
  </p:cSld>
  <p:clrMapOvr>
    <a:masterClrMapping/>
  </p:clrMapOvr>
</p:sld>
</file>

<file path=ppt/slides/slide57.xml><?xml version="1.0" encoding="utf-8"?>
<p:sld xmlns:p="http://schemas.openxmlformats.org/presentationml/2006/main" xmlns:a="http://schemas.openxmlformats.org/drawingml/2006/main" xmlns:r="http://schemas.openxmlformats.org/officeDocument/2006/relationships">
  <p:cSld>
    <p:bg>
      <p:bgPr>
        <a:solidFill>
          <a:srgbClr val="EDE8E4"/>
        </a:solidFill>
      </p:bgPr>
    </p:bg>
    <p:spTree>
      <p:nvGrpSpPr>
        <p:cNvPr id="1" name=""/>
        <p:cNvGrpSpPr/>
        <p:nvPr/>
      </p:nvGrpSpPr>
      <p:grpSpPr>
        <a:xfrm>
          <a:off x="0" y="0"/>
          <a:ext cx="0" cy="0"/>
          <a:chOff x="0" y="0"/>
          <a:chExt cx="0" cy="0"/>
        </a:xfrm>
      </p:grpSpPr>
      <p:sp>
        <p:nvSpPr>
          <p:cNvPr name="Freeform 2" id="2"/>
          <p:cNvSpPr/>
          <p:nvPr/>
        </p:nvSpPr>
        <p:spPr>
          <a:xfrm flipH="false" flipV="false" rot="-445925">
            <a:off x="3335529" y="-295932"/>
            <a:ext cx="9798172" cy="13143890"/>
          </a:xfrm>
          <a:custGeom>
            <a:avLst/>
            <a:gdLst/>
            <a:ahLst/>
            <a:cxnLst/>
            <a:rect r="r" b="b" t="t" l="l"/>
            <a:pathLst>
              <a:path h="13143890" w="9798172">
                <a:moveTo>
                  <a:pt x="0" y="0"/>
                </a:moveTo>
                <a:lnTo>
                  <a:pt x="9798172" y="0"/>
                </a:lnTo>
                <a:lnTo>
                  <a:pt x="9798172" y="13143889"/>
                </a:lnTo>
                <a:lnTo>
                  <a:pt x="0" y="131438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8798399">
            <a:off x="8466276" y="-9590538"/>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3283157">
            <a:off x="-1501206" y="7329841"/>
            <a:ext cx="5624862" cy="7545546"/>
          </a:xfrm>
          <a:custGeom>
            <a:avLst/>
            <a:gdLst/>
            <a:ahLst/>
            <a:cxnLst/>
            <a:rect r="r" b="b" t="t" l="l"/>
            <a:pathLst>
              <a:path h="7545546" w="5624862">
                <a:moveTo>
                  <a:pt x="0" y="0"/>
                </a:moveTo>
                <a:lnTo>
                  <a:pt x="5624862" y="0"/>
                </a:lnTo>
                <a:lnTo>
                  <a:pt x="5624862" y="7545546"/>
                </a:lnTo>
                <a:lnTo>
                  <a:pt x="0" y="75455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2770156">
            <a:off x="-2577184" y="-2165857"/>
            <a:ext cx="5154368" cy="4995052"/>
          </a:xfrm>
          <a:custGeom>
            <a:avLst/>
            <a:gdLst/>
            <a:ahLst/>
            <a:cxnLst/>
            <a:rect r="r" b="b" t="t" l="l"/>
            <a:pathLst>
              <a:path h="4995052" w="5154368">
                <a:moveTo>
                  <a:pt x="0" y="0"/>
                </a:moveTo>
                <a:lnTo>
                  <a:pt x="5154368" y="0"/>
                </a:lnTo>
                <a:lnTo>
                  <a:pt x="5154368" y="4995051"/>
                </a:lnTo>
                <a:lnTo>
                  <a:pt x="0" y="49950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2770156">
            <a:off x="15710816" y="8522875"/>
            <a:ext cx="5154368" cy="4995052"/>
          </a:xfrm>
          <a:custGeom>
            <a:avLst/>
            <a:gdLst/>
            <a:ahLst/>
            <a:cxnLst/>
            <a:rect r="r" b="b" t="t" l="l"/>
            <a:pathLst>
              <a:path h="4995052" w="5154368">
                <a:moveTo>
                  <a:pt x="0" y="0"/>
                </a:moveTo>
                <a:lnTo>
                  <a:pt x="5154368" y="0"/>
                </a:lnTo>
                <a:lnTo>
                  <a:pt x="5154368" y="4995052"/>
                </a:lnTo>
                <a:lnTo>
                  <a:pt x="0" y="49950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7" id="7"/>
          <p:cNvSpPr txBox="true"/>
          <p:nvPr/>
        </p:nvSpPr>
        <p:spPr>
          <a:xfrm rot="0">
            <a:off x="2255639" y="3637486"/>
            <a:ext cx="13776722" cy="3245625"/>
          </a:xfrm>
          <a:prstGeom prst="rect">
            <a:avLst/>
          </a:prstGeom>
        </p:spPr>
        <p:txBody>
          <a:bodyPr anchor="t" rtlCol="false" tIns="0" lIns="0" bIns="0" rIns="0">
            <a:spAutoFit/>
          </a:bodyPr>
          <a:lstStyle/>
          <a:p>
            <a:pPr algn="ctr">
              <a:lnSpc>
                <a:spcPts val="4332"/>
              </a:lnSpc>
            </a:pPr>
            <a:r>
              <a:rPr lang="en-US" sz="3094" spc="68">
                <a:solidFill>
                  <a:srgbClr val="152540"/>
                </a:solidFill>
                <a:latin typeface="Glacial Indifference"/>
                <a:ea typeface="Glacial Indifference"/>
                <a:cs typeface="Glacial Indifference"/>
                <a:sym typeface="Glacial Indifference"/>
              </a:rPr>
              <a:t>Inc</a:t>
            </a:r>
            <a:r>
              <a:rPr lang="en-US" sz="3094" spc="68" strike="noStrike" u="none">
                <a:solidFill>
                  <a:srgbClr val="152540"/>
                </a:solidFill>
                <a:latin typeface="Glacial Indifference"/>
                <a:ea typeface="Glacial Indifference"/>
                <a:cs typeface="Glacial Indifference"/>
                <a:sym typeface="Glacial Indifference"/>
              </a:rPr>
              <a:t>orrecto: Subir arriba. / Correcto: Subir.</a:t>
            </a:r>
          </a:p>
          <a:p>
            <a:pPr algn="ctr">
              <a:lnSpc>
                <a:spcPts val="4332"/>
              </a:lnSpc>
            </a:pPr>
          </a:p>
          <a:p>
            <a:pPr algn="ctr">
              <a:lnSpc>
                <a:spcPts val="4332"/>
              </a:lnSpc>
            </a:pPr>
            <a:r>
              <a:rPr lang="en-US" sz="3094" spc="68" strike="noStrike" u="none">
                <a:solidFill>
                  <a:srgbClr val="152540"/>
                </a:solidFill>
                <a:latin typeface="Glacial Indifference"/>
                <a:ea typeface="Glacial Indifference"/>
                <a:cs typeface="Glacial Indifference"/>
                <a:sym typeface="Glacial Indifference"/>
              </a:rPr>
              <a:t>Incorrecto: Lo vi con mis propios ojos. / Correcto: Lo vi.</a:t>
            </a:r>
          </a:p>
          <a:p>
            <a:pPr algn="ctr">
              <a:lnSpc>
                <a:spcPts val="4332"/>
              </a:lnSpc>
            </a:pPr>
          </a:p>
          <a:p>
            <a:pPr algn="ctr">
              <a:lnSpc>
                <a:spcPts val="4332"/>
              </a:lnSpc>
            </a:pPr>
          </a:p>
          <a:p>
            <a:pPr algn="ctr">
              <a:lnSpc>
                <a:spcPts val="4332"/>
              </a:lnSpc>
            </a:pPr>
          </a:p>
        </p:txBody>
      </p:sp>
      <p:sp>
        <p:nvSpPr>
          <p:cNvPr name="TextBox 8" id="8"/>
          <p:cNvSpPr txBox="true"/>
          <p:nvPr/>
        </p:nvSpPr>
        <p:spPr>
          <a:xfrm rot="0">
            <a:off x="5643351" y="1511160"/>
            <a:ext cx="7543218" cy="1028008"/>
          </a:xfrm>
          <a:prstGeom prst="rect">
            <a:avLst/>
          </a:prstGeom>
        </p:spPr>
        <p:txBody>
          <a:bodyPr anchor="t" rtlCol="false" tIns="0" lIns="0" bIns="0" rIns="0">
            <a:spAutoFit/>
          </a:bodyPr>
          <a:lstStyle/>
          <a:p>
            <a:pPr algn="ctr">
              <a:lnSpc>
                <a:spcPts val="8438"/>
              </a:lnSpc>
            </a:pPr>
            <a:r>
              <a:rPr lang="en-US" b="true" sz="6027" spc="566">
                <a:solidFill>
                  <a:srgbClr val="152540"/>
                </a:solidFill>
                <a:latin typeface="Glacial Indifference Bold"/>
                <a:ea typeface="Glacial Indifference Bold"/>
                <a:cs typeface="Glacial Indifference Bold"/>
                <a:sym typeface="Glacial Indifference Bold"/>
              </a:rPr>
              <a:t>EJEMPLOS:</a:t>
            </a:r>
          </a:p>
        </p:txBody>
      </p:sp>
    </p:spTree>
  </p:cSld>
  <p:clrMapOvr>
    <a:masterClrMapping/>
  </p:clrMapOvr>
</p:sld>
</file>

<file path=ppt/slides/slide58.xml><?xml version="1.0" encoding="utf-8"?>
<p:sld xmlns:p="http://schemas.openxmlformats.org/presentationml/2006/main" xmlns:a="http://schemas.openxmlformats.org/drawingml/2006/main" xmlns:r="http://schemas.openxmlformats.org/officeDocument/2006/relationships">
  <p:cSld>
    <p:bg>
      <p:bgPr>
        <a:solidFill>
          <a:srgbClr val="EDE8E4"/>
        </a:solidFill>
      </p:bgPr>
    </p:bg>
    <p:spTree>
      <p:nvGrpSpPr>
        <p:cNvPr id="1" name=""/>
        <p:cNvGrpSpPr/>
        <p:nvPr/>
      </p:nvGrpSpPr>
      <p:grpSpPr>
        <a:xfrm>
          <a:off x="0" y="0"/>
          <a:ext cx="0" cy="0"/>
          <a:chOff x="0" y="0"/>
          <a:chExt cx="0" cy="0"/>
        </a:xfrm>
      </p:grpSpPr>
      <p:sp>
        <p:nvSpPr>
          <p:cNvPr name="Freeform 2" id="2"/>
          <p:cNvSpPr/>
          <p:nvPr/>
        </p:nvSpPr>
        <p:spPr>
          <a:xfrm flipH="false" flipV="false" rot="-445925">
            <a:off x="3142738" y="-769394"/>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8798399">
            <a:off x="8466276" y="-9590538"/>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3283157">
            <a:off x="-1501206" y="7329841"/>
            <a:ext cx="5624862" cy="7545546"/>
          </a:xfrm>
          <a:custGeom>
            <a:avLst/>
            <a:gdLst/>
            <a:ahLst/>
            <a:cxnLst/>
            <a:rect r="r" b="b" t="t" l="l"/>
            <a:pathLst>
              <a:path h="7545546" w="5624862">
                <a:moveTo>
                  <a:pt x="0" y="0"/>
                </a:moveTo>
                <a:lnTo>
                  <a:pt x="5624862" y="0"/>
                </a:lnTo>
                <a:lnTo>
                  <a:pt x="5624862" y="7545546"/>
                </a:lnTo>
                <a:lnTo>
                  <a:pt x="0" y="75455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2770156">
            <a:off x="-2577184" y="-2165857"/>
            <a:ext cx="5154368" cy="4995052"/>
          </a:xfrm>
          <a:custGeom>
            <a:avLst/>
            <a:gdLst/>
            <a:ahLst/>
            <a:cxnLst/>
            <a:rect r="r" b="b" t="t" l="l"/>
            <a:pathLst>
              <a:path h="4995052" w="5154368">
                <a:moveTo>
                  <a:pt x="0" y="0"/>
                </a:moveTo>
                <a:lnTo>
                  <a:pt x="5154368" y="0"/>
                </a:lnTo>
                <a:lnTo>
                  <a:pt x="5154368" y="4995051"/>
                </a:lnTo>
                <a:lnTo>
                  <a:pt x="0" y="49950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2770156">
            <a:off x="15710816" y="8522875"/>
            <a:ext cx="5154368" cy="4995052"/>
          </a:xfrm>
          <a:custGeom>
            <a:avLst/>
            <a:gdLst/>
            <a:ahLst/>
            <a:cxnLst/>
            <a:rect r="r" b="b" t="t" l="l"/>
            <a:pathLst>
              <a:path h="4995052" w="5154368">
                <a:moveTo>
                  <a:pt x="0" y="0"/>
                </a:moveTo>
                <a:lnTo>
                  <a:pt x="5154368" y="0"/>
                </a:lnTo>
                <a:lnTo>
                  <a:pt x="5154368" y="4995052"/>
                </a:lnTo>
                <a:lnTo>
                  <a:pt x="0" y="49950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7" id="7"/>
          <p:cNvSpPr txBox="true"/>
          <p:nvPr/>
        </p:nvSpPr>
        <p:spPr>
          <a:xfrm rot="0">
            <a:off x="2526598" y="3100162"/>
            <a:ext cx="13776722" cy="4331475"/>
          </a:xfrm>
          <a:prstGeom prst="rect">
            <a:avLst/>
          </a:prstGeom>
        </p:spPr>
        <p:txBody>
          <a:bodyPr anchor="t" rtlCol="false" tIns="0" lIns="0" bIns="0" rIns="0">
            <a:spAutoFit/>
          </a:bodyPr>
          <a:lstStyle/>
          <a:p>
            <a:pPr algn="ctr">
              <a:lnSpc>
                <a:spcPts val="4332"/>
              </a:lnSpc>
            </a:pPr>
            <a:r>
              <a:rPr lang="en-US" sz="3094" spc="68" strike="noStrike" u="none">
                <a:solidFill>
                  <a:srgbClr val="152540"/>
                </a:solidFill>
                <a:latin typeface="Glacial Indifference"/>
                <a:ea typeface="Glacial Indifference"/>
                <a:cs typeface="Glacial Indifference"/>
                <a:sym typeface="Glacial Indifference"/>
              </a:rPr>
              <a:t>Corrige las siguientes frases eliminando el pleonasmo:</a:t>
            </a:r>
          </a:p>
          <a:p>
            <a:pPr algn="ctr">
              <a:lnSpc>
                <a:spcPts val="4332"/>
              </a:lnSpc>
            </a:pPr>
          </a:p>
          <a:p>
            <a:pPr algn="ctr">
              <a:lnSpc>
                <a:spcPts val="4332"/>
              </a:lnSpc>
            </a:pPr>
            <a:r>
              <a:rPr lang="en-US" sz="3094" spc="68" strike="noStrike" u="none">
                <a:solidFill>
                  <a:srgbClr val="152540"/>
                </a:solidFill>
                <a:latin typeface="Glacial Indifference"/>
                <a:ea typeface="Glacial Indifference"/>
                <a:cs typeface="Glacial Indifference"/>
                <a:sym typeface="Glacial Indifference"/>
              </a:rPr>
              <a:t>H</a:t>
            </a:r>
            <a:r>
              <a:rPr lang="en-US" sz="3094" spc="68" strike="noStrike" u="none">
                <a:solidFill>
                  <a:srgbClr val="152540"/>
                </a:solidFill>
                <a:latin typeface="Glacial Indifference"/>
                <a:ea typeface="Glacial Indifference"/>
                <a:cs typeface="Glacial Indifference"/>
                <a:sym typeface="Glacial Indifference"/>
              </a:rPr>
              <a:t>ubo una hemorragia de sangre en el accidente.</a:t>
            </a:r>
          </a:p>
          <a:p>
            <a:pPr algn="ctr">
              <a:lnSpc>
                <a:spcPts val="4332"/>
              </a:lnSpc>
            </a:pPr>
          </a:p>
          <a:p>
            <a:pPr algn="ctr">
              <a:lnSpc>
                <a:spcPts val="4332"/>
              </a:lnSpc>
            </a:pPr>
            <a:r>
              <a:rPr lang="en-US" sz="3094" spc="68" strike="noStrike" u="none">
                <a:solidFill>
                  <a:srgbClr val="152540"/>
                </a:solidFill>
                <a:latin typeface="Glacial Indifference"/>
                <a:ea typeface="Glacial Indifference"/>
                <a:cs typeface="Glacial Indifference"/>
                <a:sym typeface="Glacial Indifference"/>
              </a:rPr>
              <a:t>Vuelvan a repetir la pregunta, por favor.</a:t>
            </a:r>
          </a:p>
          <a:p>
            <a:pPr algn="ctr">
              <a:lnSpc>
                <a:spcPts val="4332"/>
              </a:lnSpc>
            </a:pPr>
          </a:p>
          <a:p>
            <a:pPr algn="ctr">
              <a:lnSpc>
                <a:spcPts val="4332"/>
              </a:lnSpc>
            </a:pPr>
            <a:r>
              <a:rPr lang="en-US" sz="3094" spc="68" strike="noStrike" u="none">
                <a:solidFill>
                  <a:srgbClr val="152540"/>
                </a:solidFill>
                <a:latin typeface="Glacial Indifference"/>
                <a:ea typeface="Glacial Indifference"/>
                <a:cs typeface="Glacial Indifference"/>
                <a:sym typeface="Glacial Indifference"/>
              </a:rPr>
              <a:t>Salgamos afuera a tomar aire.</a:t>
            </a:r>
          </a:p>
          <a:p>
            <a:pPr algn="ctr">
              <a:lnSpc>
                <a:spcPts val="4332"/>
              </a:lnSpc>
            </a:pPr>
          </a:p>
        </p:txBody>
      </p:sp>
      <p:sp>
        <p:nvSpPr>
          <p:cNvPr name="TextBox 8" id="8"/>
          <p:cNvSpPr txBox="true"/>
          <p:nvPr/>
        </p:nvSpPr>
        <p:spPr>
          <a:xfrm rot="0">
            <a:off x="5643351" y="1511160"/>
            <a:ext cx="7543218" cy="1028008"/>
          </a:xfrm>
          <a:prstGeom prst="rect">
            <a:avLst/>
          </a:prstGeom>
        </p:spPr>
        <p:txBody>
          <a:bodyPr anchor="t" rtlCol="false" tIns="0" lIns="0" bIns="0" rIns="0">
            <a:spAutoFit/>
          </a:bodyPr>
          <a:lstStyle/>
          <a:p>
            <a:pPr algn="ctr">
              <a:lnSpc>
                <a:spcPts val="8438"/>
              </a:lnSpc>
            </a:pPr>
            <a:r>
              <a:rPr lang="en-US" b="true" sz="6027" spc="566">
                <a:solidFill>
                  <a:srgbClr val="152540"/>
                </a:solidFill>
                <a:latin typeface="Glacial Indifference Bold"/>
                <a:ea typeface="Glacial Indifference Bold"/>
                <a:cs typeface="Glacial Indifference Bold"/>
                <a:sym typeface="Glacial Indifference Bold"/>
              </a:rPr>
              <a:t>EJERCICIOS:</a:t>
            </a:r>
          </a:p>
        </p:txBody>
      </p:sp>
    </p:spTree>
  </p:cSld>
  <p:clrMapOvr>
    <a:masterClrMapping/>
  </p:clrMapOvr>
</p:sld>
</file>

<file path=ppt/slides/slide59.xml><?xml version="1.0" encoding="utf-8"?>
<p:sld xmlns:p="http://schemas.openxmlformats.org/presentationml/2006/main" xmlns:a="http://schemas.openxmlformats.org/drawingml/2006/main" xmlns:r="http://schemas.openxmlformats.org/officeDocument/2006/relationships">
  <p:cSld>
    <p:bg>
      <p:bgPr>
        <a:solidFill>
          <a:srgbClr val="EDE8E4"/>
        </a:solidFill>
      </p:bgPr>
    </p:bg>
    <p:spTree>
      <p:nvGrpSpPr>
        <p:cNvPr id="1" name=""/>
        <p:cNvGrpSpPr/>
        <p:nvPr/>
      </p:nvGrpSpPr>
      <p:grpSpPr>
        <a:xfrm>
          <a:off x="0" y="0"/>
          <a:ext cx="0" cy="0"/>
          <a:chOff x="0" y="0"/>
          <a:chExt cx="0" cy="0"/>
        </a:xfrm>
      </p:grpSpPr>
      <p:sp>
        <p:nvSpPr>
          <p:cNvPr name="Freeform 2" id="2"/>
          <p:cNvSpPr/>
          <p:nvPr/>
        </p:nvSpPr>
        <p:spPr>
          <a:xfrm flipH="false" flipV="false" rot="-445925">
            <a:off x="3142738" y="-769394"/>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8798399">
            <a:off x="8466276" y="-9590538"/>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3283157">
            <a:off x="-1501206" y="7329841"/>
            <a:ext cx="5624862" cy="7545546"/>
          </a:xfrm>
          <a:custGeom>
            <a:avLst/>
            <a:gdLst/>
            <a:ahLst/>
            <a:cxnLst/>
            <a:rect r="r" b="b" t="t" l="l"/>
            <a:pathLst>
              <a:path h="7545546" w="5624862">
                <a:moveTo>
                  <a:pt x="0" y="0"/>
                </a:moveTo>
                <a:lnTo>
                  <a:pt x="5624862" y="0"/>
                </a:lnTo>
                <a:lnTo>
                  <a:pt x="5624862" y="7545546"/>
                </a:lnTo>
                <a:lnTo>
                  <a:pt x="0" y="75455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2770156">
            <a:off x="-2577184" y="-2165857"/>
            <a:ext cx="5154368" cy="4995052"/>
          </a:xfrm>
          <a:custGeom>
            <a:avLst/>
            <a:gdLst/>
            <a:ahLst/>
            <a:cxnLst/>
            <a:rect r="r" b="b" t="t" l="l"/>
            <a:pathLst>
              <a:path h="4995052" w="5154368">
                <a:moveTo>
                  <a:pt x="0" y="0"/>
                </a:moveTo>
                <a:lnTo>
                  <a:pt x="5154368" y="0"/>
                </a:lnTo>
                <a:lnTo>
                  <a:pt x="5154368" y="4995051"/>
                </a:lnTo>
                <a:lnTo>
                  <a:pt x="0" y="49950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2770156">
            <a:off x="15710816" y="8522875"/>
            <a:ext cx="5154368" cy="4995052"/>
          </a:xfrm>
          <a:custGeom>
            <a:avLst/>
            <a:gdLst/>
            <a:ahLst/>
            <a:cxnLst/>
            <a:rect r="r" b="b" t="t" l="l"/>
            <a:pathLst>
              <a:path h="4995052" w="5154368">
                <a:moveTo>
                  <a:pt x="0" y="0"/>
                </a:moveTo>
                <a:lnTo>
                  <a:pt x="5154368" y="0"/>
                </a:lnTo>
                <a:lnTo>
                  <a:pt x="5154368" y="4995052"/>
                </a:lnTo>
                <a:lnTo>
                  <a:pt x="0" y="49950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7" id="7"/>
          <p:cNvSpPr txBox="true"/>
          <p:nvPr/>
        </p:nvSpPr>
        <p:spPr>
          <a:xfrm rot="0">
            <a:off x="2526598" y="3759675"/>
            <a:ext cx="13776722" cy="1726070"/>
          </a:xfrm>
          <a:prstGeom prst="rect">
            <a:avLst/>
          </a:prstGeom>
        </p:spPr>
        <p:txBody>
          <a:bodyPr anchor="t" rtlCol="false" tIns="0" lIns="0" bIns="0" rIns="0">
            <a:spAutoFit/>
          </a:bodyPr>
          <a:lstStyle/>
          <a:p>
            <a:pPr algn="ctr">
              <a:lnSpc>
                <a:spcPts val="4612"/>
              </a:lnSpc>
            </a:pPr>
            <a:r>
              <a:rPr lang="en-US" sz="3294" spc="72">
                <a:solidFill>
                  <a:srgbClr val="152540"/>
                </a:solidFill>
                <a:latin typeface="Glacial Indifference"/>
                <a:ea typeface="Glacial Indifference"/>
                <a:cs typeface="Glacial Indifference"/>
                <a:sym typeface="Glacial Indifference"/>
              </a:rPr>
              <a:t>Vici</a:t>
            </a:r>
            <a:r>
              <a:rPr lang="en-US" sz="3294" spc="72" strike="noStrike" u="none">
                <a:solidFill>
                  <a:srgbClr val="152540"/>
                </a:solidFill>
                <a:latin typeface="Glacial Indifference"/>
                <a:ea typeface="Glacial Indifference"/>
                <a:cs typeface="Glacial Indifference"/>
                <a:sym typeface="Glacial Indifference"/>
              </a:rPr>
              <a:t>o de dicción que consiste en omitir incorrectamente una preposición (generalmente “de”) antes de “que”, cuando la estructura verbal la exige.</a:t>
            </a:r>
          </a:p>
        </p:txBody>
      </p:sp>
      <p:sp>
        <p:nvSpPr>
          <p:cNvPr name="TextBox 8" id="8"/>
          <p:cNvSpPr txBox="true"/>
          <p:nvPr/>
        </p:nvSpPr>
        <p:spPr>
          <a:xfrm rot="0">
            <a:off x="5643351" y="2122130"/>
            <a:ext cx="7543218" cy="1028008"/>
          </a:xfrm>
          <a:prstGeom prst="rect">
            <a:avLst/>
          </a:prstGeom>
        </p:spPr>
        <p:txBody>
          <a:bodyPr anchor="t" rtlCol="false" tIns="0" lIns="0" bIns="0" rIns="0">
            <a:spAutoFit/>
          </a:bodyPr>
          <a:lstStyle/>
          <a:p>
            <a:pPr algn="ctr">
              <a:lnSpc>
                <a:spcPts val="8438"/>
              </a:lnSpc>
            </a:pPr>
            <a:r>
              <a:rPr lang="en-US" b="true" sz="6027" spc="566">
                <a:solidFill>
                  <a:srgbClr val="152540"/>
                </a:solidFill>
                <a:latin typeface="Glacial Indifference Bold"/>
                <a:ea typeface="Glacial Indifference Bold"/>
                <a:cs typeface="Glacial Indifference Bold"/>
                <a:sym typeface="Glacial Indifference Bold"/>
              </a:rPr>
              <a:t>17. QUEÍSMO.</a:t>
            </a:r>
          </a:p>
        </p:txBody>
      </p:sp>
    </p:spTree>
  </p:cSld>
  <p:clrMapOvr>
    <a:masterClrMapping/>
  </p:clrMapOvr>
</p:sld>
</file>

<file path=ppt/slides/slide60.xml><?xml version="1.0" encoding="utf-8"?>
<p:sld xmlns:p="http://schemas.openxmlformats.org/presentationml/2006/main" xmlns:a="http://schemas.openxmlformats.org/drawingml/2006/main" xmlns:r="http://schemas.openxmlformats.org/officeDocument/2006/relationships">
  <p:cSld>
    <p:bg>
      <p:bgPr>
        <a:solidFill>
          <a:srgbClr val="EDE8E4"/>
        </a:solidFill>
      </p:bgPr>
    </p:bg>
    <p:spTree>
      <p:nvGrpSpPr>
        <p:cNvPr id="1" name=""/>
        <p:cNvGrpSpPr/>
        <p:nvPr/>
      </p:nvGrpSpPr>
      <p:grpSpPr>
        <a:xfrm>
          <a:off x="0" y="0"/>
          <a:ext cx="0" cy="0"/>
          <a:chOff x="0" y="0"/>
          <a:chExt cx="0" cy="0"/>
        </a:xfrm>
      </p:grpSpPr>
      <p:sp>
        <p:nvSpPr>
          <p:cNvPr name="Freeform 2" id="2"/>
          <p:cNvSpPr/>
          <p:nvPr/>
        </p:nvSpPr>
        <p:spPr>
          <a:xfrm flipH="false" flipV="false" rot="-445925">
            <a:off x="3142738" y="-769394"/>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8798399">
            <a:off x="8466276" y="-9590538"/>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3283157">
            <a:off x="-1501206" y="7329841"/>
            <a:ext cx="5624862" cy="7545546"/>
          </a:xfrm>
          <a:custGeom>
            <a:avLst/>
            <a:gdLst/>
            <a:ahLst/>
            <a:cxnLst/>
            <a:rect r="r" b="b" t="t" l="l"/>
            <a:pathLst>
              <a:path h="7545546" w="5624862">
                <a:moveTo>
                  <a:pt x="0" y="0"/>
                </a:moveTo>
                <a:lnTo>
                  <a:pt x="5624862" y="0"/>
                </a:lnTo>
                <a:lnTo>
                  <a:pt x="5624862" y="7545546"/>
                </a:lnTo>
                <a:lnTo>
                  <a:pt x="0" y="75455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2770156">
            <a:off x="-2577184" y="-2165857"/>
            <a:ext cx="5154368" cy="4995052"/>
          </a:xfrm>
          <a:custGeom>
            <a:avLst/>
            <a:gdLst/>
            <a:ahLst/>
            <a:cxnLst/>
            <a:rect r="r" b="b" t="t" l="l"/>
            <a:pathLst>
              <a:path h="4995052" w="5154368">
                <a:moveTo>
                  <a:pt x="0" y="0"/>
                </a:moveTo>
                <a:lnTo>
                  <a:pt x="5154368" y="0"/>
                </a:lnTo>
                <a:lnTo>
                  <a:pt x="5154368" y="4995051"/>
                </a:lnTo>
                <a:lnTo>
                  <a:pt x="0" y="49950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2770156">
            <a:off x="15710816" y="8522875"/>
            <a:ext cx="5154368" cy="4995052"/>
          </a:xfrm>
          <a:custGeom>
            <a:avLst/>
            <a:gdLst/>
            <a:ahLst/>
            <a:cxnLst/>
            <a:rect r="r" b="b" t="t" l="l"/>
            <a:pathLst>
              <a:path h="4995052" w="5154368">
                <a:moveTo>
                  <a:pt x="0" y="0"/>
                </a:moveTo>
                <a:lnTo>
                  <a:pt x="5154368" y="0"/>
                </a:lnTo>
                <a:lnTo>
                  <a:pt x="5154368" y="4995052"/>
                </a:lnTo>
                <a:lnTo>
                  <a:pt x="0" y="49950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7" id="7"/>
          <p:cNvSpPr txBox="true"/>
          <p:nvPr/>
        </p:nvSpPr>
        <p:spPr>
          <a:xfrm rot="0">
            <a:off x="2526598" y="3106080"/>
            <a:ext cx="13776722" cy="5212220"/>
          </a:xfrm>
          <a:prstGeom prst="rect">
            <a:avLst/>
          </a:prstGeom>
        </p:spPr>
        <p:txBody>
          <a:bodyPr anchor="t" rtlCol="false" tIns="0" lIns="0" bIns="0" rIns="0">
            <a:spAutoFit/>
          </a:bodyPr>
          <a:lstStyle/>
          <a:p>
            <a:pPr algn="ctr">
              <a:lnSpc>
                <a:spcPts val="4612"/>
              </a:lnSpc>
            </a:pPr>
            <a:r>
              <a:rPr lang="en-US" sz="3294" spc="72">
                <a:solidFill>
                  <a:srgbClr val="152540"/>
                </a:solidFill>
                <a:latin typeface="Glacial Indifference"/>
                <a:ea typeface="Glacial Indifference"/>
                <a:cs typeface="Glacial Indifference"/>
                <a:sym typeface="Glacial Indifference"/>
              </a:rPr>
              <a:t>Incorr</a:t>
            </a:r>
            <a:r>
              <a:rPr lang="en-US" sz="3294" spc="72" strike="noStrike" u="none">
                <a:solidFill>
                  <a:srgbClr val="152540"/>
                </a:solidFill>
                <a:latin typeface="Glacial Indifference"/>
                <a:ea typeface="Glacial Indifference"/>
                <a:cs typeface="Glacial Indifference"/>
                <a:sym typeface="Glacial Indifference"/>
              </a:rPr>
              <a:t>ecto: Estoy seguro que vendrá.</a:t>
            </a:r>
          </a:p>
          <a:p>
            <a:pPr algn="ctr">
              <a:lnSpc>
                <a:spcPts val="4612"/>
              </a:lnSpc>
            </a:pPr>
            <a:r>
              <a:rPr lang="en-US" sz="3294" spc="72" strike="noStrike" u="none">
                <a:solidFill>
                  <a:srgbClr val="152540"/>
                </a:solidFill>
                <a:latin typeface="Glacial Indifference"/>
                <a:ea typeface="Glacial Indifference"/>
                <a:cs typeface="Glacial Indifference"/>
                <a:sym typeface="Glacial Indifference"/>
              </a:rPr>
              <a:t>Correcto: Estoy seguro de que vendrá.</a:t>
            </a:r>
          </a:p>
          <a:p>
            <a:pPr algn="ctr">
              <a:lnSpc>
                <a:spcPts val="4612"/>
              </a:lnSpc>
            </a:pPr>
          </a:p>
          <a:p>
            <a:pPr algn="ctr">
              <a:lnSpc>
                <a:spcPts val="4612"/>
              </a:lnSpc>
            </a:pPr>
            <a:r>
              <a:rPr lang="en-US" sz="3294" spc="72" strike="noStrike" u="none">
                <a:solidFill>
                  <a:srgbClr val="152540"/>
                </a:solidFill>
                <a:latin typeface="Glacial Indifference"/>
                <a:ea typeface="Glacial Indifference"/>
                <a:cs typeface="Glacial Indifference"/>
                <a:sym typeface="Glacial Indifference"/>
              </a:rPr>
              <a:t>Incorrecto: Se olvidó que tenía tarea.</a:t>
            </a:r>
          </a:p>
          <a:p>
            <a:pPr algn="ctr">
              <a:lnSpc>
                <a:spcPts val="4612"/>
              </a:lnSpc>
            </a:pPr>
            <a:r>
              <a:rPr lang="en-US" sz="3294" spc="72" strike="noStrike" u="none">
                <a:solidFill>
                  <a:srgbClr val="152540"/>
                </a:solidFill>
                <a:latin typeface="Glacial Indifference"/>
                <a:ea typeface="Glacial Indifference"/>
                <a:cs typeface="Glacial Indifference"/>
                <a:sym typeface="Glacial Indifference"/>
              </a:rPr>
              <a:t>Correc</a:t>
            </a:r>
            <a:r>
              <a:rPr lang="en-US" sz="3294" spc="72" strike="noStrike" u="none">
                <a:solidFill>
                  <a:srgbClr val="152540"/>
                </a:solidFill>
                <a:latin typeface="Glacial Indifference"/>
                <a:ea typeface="Glacial Indifference"/>
                <a:cs typeface="Glacial Indifference"/>
                <a:sym typeface="Glacial Indifference"/>
              </a:rPr>
              <a:t>to: Se olvidó de que tenía tarea.</a:t>
            </a:r>
          </a:p>
          <a:p>
            <a:pPr algn="ctr">
              <a:lnSpc>
                <a:spcPts val="4612"/>
              </a:lnSpc>
            </a:pPr>
          </a:p>
          <a:p>
            <a:pPr algn="ctr">
              <a:lnSpc>
                <a:spcPts val="4612"/>
              </a:lnSpc>
            </a:pPr>
            <a:r>
              <a:rPr lang="en-US" sz="3294" spc="72" strike="noStrike" u="none">
                <a:solidFill>
                  <a:srgbClr val="152540"/>
                </a:solidFill>
                <a:latin typeface="Glacial Indifference"/>
                <a:ea typeface="Glacial Indifference"/>
                <a:cs typeface="Glacial Indifference"/>
                <a:sym typeface="Glacial Indifference"/>
              </a:rPr>
              <a:t>In</a:t>
            </a:r>
            <a:r>
              <a:rPr lang="en-US" sz="3294" spc="72" strike="noStrike" u="none">
                <a:solidFill>
                  <a:srgbClr val="152540"/>
                </a:solidFill>
                <a:latin typeface="Glacial Indifference"/>
                <a:ea typeface="Glacial Indifference"/>
                <a:cs typeface="Glacial Indifference"/>
                <a:sym typeface="Glacial Indifference"/>
              </a:rPr>
              <a:t>correcto: Me alegro que estés bien.</a:t>
            </a:r>
          </a:p>
          <a:p>
            <a:pPr algn="ctr">
              <a:lnSpc>
                <a:spcPts val="4612"/>
              </a:lnSpc>
            </a:pPr>
            <a:r>
              <a:rPr lang="en-US" sz="3294" spc="72" strike="noStrike" u="none">
                <a:solidFill>
                  <a:srgbClr val="152540"/>
                </a:solidFill>
                <a:latin typeface="Glacial Indifference"/>
                <a:ea typeface="Glacial Indifference"/>
                <a:cs typeface="Glacial Indifference"/>
                <a:sym typeface="Glacial Indifference"/>
              </a:rPr>
              <a:t>Correcto: Me alegro de que estés bien</a:t>
            </a:r>
          </a:p>
          <a:p>
            <a:pPr algn="ctr">
              <a:lnSpc>
                <a:spcPts val="4612"/>
              </a:lnSpc>
            </a:pPr>
          </a:p>
        </p:txBody>
      </p:sp>
      <p:sp>
        <p:nvSpPr>
          <p:cNvPr name="TextBox 8" id="8"/>
          <p:cNvSpPr txBox="true"/>
          <p:nvPr/>
        </p:nvSpPr>
        <p:spPr>
          <a:xfrm rot="0">
            <a:off x="5643351" y="1681663"/>
            <a:ext cx="7543218" cy="1028008"/>
          </a:xfrm>
          <a:prstGeom prst="rect">
            <a:avLst/>
          </a:prstGeom>
        </p:spPr>
        <p:txBody>
          <a:bodyPr anchor="t" rtlCol="false" tIns="0" lIns="0" bIns="0" rIns="0">
            <a:spAutoFit/>
          </a:bodyPr>
          <a:lstStyle/>
          <a:p>
            <a:pPr algn="ctr">
              <a:lnSpc>
                <a:spcPts val="8438"/>
              </a:lnSpc>
            </a:pPr>
            <a:r>
              <a:rPr lang="en-US" b="true" sz="6027" spc="566">
                <a:solidFill>
                  <a:srgbClr val="152540"/>
                </a:solidFill>
                <a:latin typeface="Glacial Indifference Bold"/>
                <a:ea typeface="Glacial Indifference Bold"/>
                <a:cs typeface="Glacial Indifference Bold"/>
                <a:sym typeface="Glacial Indifference Bold"/>
              </a:rPr>
              <a:t>EJEMPLOS:</a:t>
            </a:r>
          </a:p>
        </p:txBody>
      </p:sp>
    </p:spTree>
  </p:cSld>
  <p:clrMapOvr>
    <a:masterClrMapping/>
  </p:clrMapOvr>
</p:sld>
</file>

<file path=ppt/slides/slide61.xml><?xml version="1.0" encoding="utf-8"?>
<p:sld xmlns:p="http://schemas.openxmlformats.org/presentationml/2006/main" xmlns:a="http://schemas.openxmlformats.org/drawingml/2006/main" xmlns:r="http://schemas.openxmlformats.org/officeDocument/2006/relationships">
  <p:cSld>
    <p:bg>
      <p:bgPr>
        <a:solidFill>
          <a:srgbClr val="EDE8E4"/>
        </a:solidFill>
      </p:bgPr>
    </p:bg>
    <p:spTree>
      <p:nvGrpSpPr>
        <p:cNvPr id="1" name=""/>
        <p:cNvGrpSpPr/>
        <p:nvPr/>
      </p:nvGrpSpPr>
      <p:grpSpPr>
        <a:xfrm>
          <a:off x="0" y="0"/>
          <a:ext cx="0" cy="0"/>
          <a:chOff x="0" y="0"/>
          <a:chExt cx="0" cy="0"/>
        </a:xfrm>
      </p:grpSpPr>
      <p:sp>
        <p:nvSpPr>
          <p:cNvPr name="Freeform 2" id="2"/>
          <p:cNvSpPr/>
          <p:nvPr/>
        </p:nvSpPr>
        <p:spPr>
          <a:xfrm flipH="false" flipV="false" rot="-445925">
            <a:off x="3142738" y="-769394"/>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8798399">
            <a:off x="8466276" y="-9590538"/>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3283157">
            <a:off x="-1501206" y="7329841"/>
            <a:ext cx="5624862" cy="7545546"/>
          </a:xfrm>
          <a:custGeom>
            <a:avLst/>
            <a:gdLst/>
            <a:ahLst/>
            <a:cxnLst/>
            <a:rect r="r" b="b" t="t" l="l"/>
            <a:pathLst>
              <a:path h="7545546" w="5624862">
                <a:moveTo>
                  <a:pt x="0" y="0"/>
                </a:moveTo>
                <a:lnTo>
                  <a:pt x="5624862" y="0"/>
                </a:lnTo>
                <a:lnTo>
                  <a:pt x="5624862" y="7545546"/>
                </a:lnTo>
                <a:lnTo>
                  <a:pt x="0" y="75455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2770156">
            <a:off x="-2577184" y="-2165857"/>
            <a:ext cx="5154368" cy="4995052"/>
          </a:xfrm>
          <a:custGeom>
            <a:avLst/>
            <a:gdLst/>
            <a:ahLst/>
            <a:cxnLst/>
            <a:rect r="r" b="b" t="t" l="l"/>
            <a:pathLst>
              <a:path h="4995052" w="5154368">
                <a:moveTo>
                  <a:pt x="0" y="0"/>
                </a:moveTo>
                <a:lnTo>
                  <a:pt x="5154368" y="0"/>
                </a:lnTo>
                <a:lnTo>
                  <a:pt x="5154368" y="4995051"/>
                </a:lnTo>
                <a:lnTo>
                  <a:pt x="0" y="49950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2770156">
            <a:off x="15710816" y="8522875"/>
            <a:ext cx="5154368" cy="4995052"/>
          </a:xfrm>
          <a:custGeom>
            <a:avLst/>
            <a:gdLst/>
            <a:ahLst/>
            <a:cxnLst/>
            <a:rect r="r" b="b" t="t" l="l"/>
            <a:pathLst>
              <a:path h="4995052" w="5154368">
                <a:moveTo>
                  <a:pt x="0" y="0"/>
                </a:moveTo>
                <a:lnTo>
                  <a:pt x="5154368" y="0"/>
                </a:lnTo>
                <a:lnTo>
                  <a:pt x="5154368" y="4995052"/>
                </a:lnTo>
                <a:lnTo>
                  <a:pt x="0" y="49950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7" id="7"/>
          <p:cNvSpPr txBox="true"/>
          <p:nvPr/>
        </p:nvSpPr>
        <p:spPr>
          <a:xfrm rot="0">
            <a:off x="2526598" y="3495456"/>
            <a:ext cx="13776722" cy="2307095"/>
          </a:xfrm>
          <a:prstGeom prst="rect">
            <a:avLst/>
          </a:prstGeom>
        </p:spPr>
        <p:txBody>
          <a:bodyPr anchor="t" rtlCol="false" tIns="0" lIns="0" bIns="0" rIns="0">
            <a:spAutoFit/>
          </a:bodyPr>
          <a:lstStyle/>
          <a:p>
            <a:pPr algn="ctr">
              <a:lnSpc>
                <a:spcPts val="4612"/>
              </a:lnSpc>
            </a:pPr>
            <a:r>
              <a:rPr lang="en-US" sz="3294" spc="72">
                <a:solidFill>
                  <a:srgbClr val="152540"/>
                </a:solidFill>
                <a:latin typeface="Glacial Indifference"/>
                <a:ea typeface="Glacial Indifference"/>
                <a:cs typeface="Glacial Indifference"/>
                <a:sym typeface="Glacial Indifference"/>
              </a:rPr>
              <a:t>Corri</a:t>
            </a:r>
            <a:r>
              <a:rPr lang="en-US" sz="3294" spc="72" strike="noStrike" u="none">
                <a:solidFill>
                  <a:srgbClr val="152540"/>
                </a:solidFill>
                <a:latin typeface="Glacial Indifference"/>
                <a:ea typeface="Glacial Indifference"/>
                <a:cs typeface="Glacial Indifference"/>
                <a:sym typeface="Glacial Indifference"/>
              </a:rPr>
              <a:t>ge la oración agregando la prep</a:t>
            </a:r>
            <a:r>
              <a:rPr lang="en-US" sz="3294" spc="72" strike="noStrike" u="none">
                <a:solidFill>
                  <a:srgbClr val="152540"/>
                </a:solidFill>
                <a:latin typeface="Glacial Indifference"/>
                <a:ea typeface="Glacial Indifference"/>
                <a:cs typeface="Glacial Indifference"/>
                <a:sym typeface="Glacial Indifference"/>
              </a:rPr>
              <a:t>osic</a:t>
            </a:r>
            <a:r>
              <a:rPr lang="en-US" sz="3294" spc="72" strike="noStrike" u="none">
                <a:solidFill>
                  <a:srgbClr val="152540"/>
                </a:solidFill>
                <a:latin typeface="Glacial Indifference"/>
                <a:ea typeface="Glacial Indifference"/>
                <a:cs typeface="Glacial Indifference"/>
                <a:sym typeface="Glacial Indifference"/>
              </a:rPr>
              <a:t>ión que falta:</a:t>
            </a:r>
          </a:p>
          <a:p>
            <a:pPr algn="ctr">
              <a:lnSpc>
                <a:spcPts val="4612"/>
              </a:lnSpc>
            </a:pPr>
          </a:p>
          <a:p>
            <a:pPr algn="ctr">
              <a:lnSpc>
                <a:spcPts val="4612"/>
              </a:lnSpc>
            </a:pPr>
            <a:r>
              <a:rPr lang="en-US" sz="3294" spc="72" strike="noStrike" u="none">
                <a:solidFill>
                  <a:srgbClr val="152540"/>
                </a:solidFill>
                <a:latin typeface="Glacial Indifference"/>
                <a:ea typeface="Glacial Indifference"/>
                <a:cs typeface="Glacial Indifference"/>
                <a:sym typeface="Glacial Indifference"/>
              </a:rPr>
              <a:t> “Estoy </a:t>
            </a:r>
            <a:r>
              <a:rPr lang="en-US" sz="3294" spc="72" strike="noStrike" u="none">
                <a:solidFill>
                  <a:srgbClr val="152540"/>
                </a:solidFill>
                <a:latin typeface="Glacial Indifference"/>
                <a:ea typeface="Glacial Indifference"/>
                <a:cs typeface="Glacial Indifference"/>
                <a:sym typeface="Glacial Indifference"/>
              </a:rPr>
              <a:t>convencido que todo saldrá bien.”</a:t>
            </a:r>
          </a:p>
          <a:p>
            <a:pPr algn="ctr">
              <a:lnSpc>
                <a:spcPts val="4612"/>
              </a:lnSpc>
            </a:pPr>
          </a:p>
        </p:txBody>
      </p:sp>
      <p:sp>
        <p:nvSpPr>
          <p:cNvPr name="TextBox 8" id="8"/>
          <p:cNvSpPr txBox="true"/>
          <p:nvPr/>
        </p:nvSpPr>
        <p:spPr>
          <a:xfrm rot="0">
            <a:off x="5643351" y="1681663"/>
            <a:ext cx="7543218" cy="1028008"/>
          </a:xfrm>
          <a:prstGeom prst="rect">
            <a:avLst/>
          </a:prstGeom>
        </p:spPr>
        <p:txBody>
          <a:bodyPr anchor="t" rtlCol="false" tIns="0" lIns="0" bIns="0" rIns="0">
            <a:spAutoFit/>
          </a:bodyPr>
          <a:lstStyle/>
          <a:p>
            <a:pPr algn="ctr">
              <a:lnSpc>
                <a:spcPts val="8438"/>
              </a:lnSpc>
            </a:pPr>
            <a:r>
              <a:rPr lang="en-US" b="true" sz="6027" spc="566">
                <a:solidFill>
                  <a:srgbClr val="152540"/>
                </a:solidFill>
                <a:latin typeface="Glacial Indifference Bold"/>
                <a:ea typeface="Glacial Indifference Bold"/>
                <a:cs typeface="Glacial Indifference Bold"/>
                <a:sym typeface="Glacial Indifference Bold"/>
              </a:rPr>
              <a:t>EJERCICIO:</a:t>
            </a:r>
          </a:p>
        </p:txBody>
      </p:sp>
    </p:spTree>
  </p:cSld>
  <p:clrMapOvr>
    <a:masterClrMapping/>
  </p:clrMapOvr>
</p:sld>
</file>

<file path=ppt/slides/slide62.xml><?xml version="1.0" encoding="utf-8"?>
<p:sld xmlns:p="http://schemas.openxmlformats.org/presentationml/2006/main" xmlns:a="http://schemas.openxmlformats.org/drawingml/2006/main" xmlns:r="http://schemas.openxmlformats.org/officeDocument/2006/relationships">
  <p:cSld>
    <p:bg>
      <p:bgPr>
        <a:solidFill>
          <a:srgbClr val="EDE8E4"/>
        </a:solidFill>
      </p:bgPr>
    </p:bg>
    <p:spTree>
      <p:nvGrpSpPr>
        <p:cNvPr id="1" name=""/>
        <p:cNvGrpSpPr/>
        <p:nvPr/>
      </p:nvGrpSpPr>
      <p:grpSpPr>
        <a:xfrm>
          <a:off x="0" y="0"/>
          <a:ext cx="0" cy="0"/>
          <a:chOff x="0" y="0"/>
          <a:chExt cx="0" cy="0"/>
        </a:xfrm>
      </p:grpSpPr>
      <p:sp>
        <p:nvSpPr>
          <p:cNvPr name="Freeform 2" id="2"/>
          <p:cNvSpPr/>
          <p:nvPr/>
        </p:nvSpPr>
        <p:spPr>
          <a:xfrm flipH="false" flipV="false" rot="-445925">
            <a:off x="3142738" y="-769394"/>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8798399">
            <a:off x="8466276" y="-9590538"/>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3283157">
            <a:off x="-1501206" y="7329841"/>
            <a:ext cx="5624862" cy="7545546"/>
          </a:xfrm>
          <a:custGeom>
            <a:avLst/>
            <a:gdLst/>
            <a:ahLst/>
            <a:cxnLst/>
            <a:rect r="r" b="b" t="t" l="l"/>
            <a:pathLst>
              <a:path h="7545546" w="5624862">
                <a:moveTo>
                  <a:pt x="0" y="0"/>
                </a:moveTo>
                <a:lnTo>
                  <a:pt x="5624862" y="0"/>
                </a:lnTo>
                <a:lnTo>
                  <a:pt x="5624862" y="7545546"/>
                </a:lnTo>
                <a:lnTo>
                  <a:pt x="0" y="75455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2770156">
            <a:off x="-2577184" y="-2165857"/>
            <a:ext cx="5154368" cy="4995052"/>
          </a:xfrm>
          <a:custGeom>
            <a:avLst/>
            <a:gdLst/>
            <a:ahLst/>
            <a:cxnLst/>
            <a:rect r="r" b="b" t="t" l="l"/>
            <a:pathLst>
              <a:path h="4995052" w="5154368">
                <a:moveTo>
                  <a:pt x="0" y="0"/>
                </a:moveTo>
                <a:lnTo>
                  <a:pt x="5154368" y="0"/>
                </a:lnTo>
                <a:lnTo>
                  <a:pt x="5154368" y="4995051"/>
                </a:lnTo>
                <a:lnTo>
                  <a:pt x="0" y="49950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2770156">
            <a:off x="15710816" y="8522875"/>
            <a:ext cx="5154368" cy="4995052"/>
          </a:xfrm>
          <a:custGeom>
            <a:avLst/>
            <a:gdLst/>
            <a:ahLst/>
            <a:cxnLst/>
            <a:rect r="r" b="b" t="t" l="l"/>
            <a:pathLst>
              <a:path h="4995052" w="5154368">
                <a:moveTo>
                  <a:pt x="0" y="0"/>
                </a:moveTo>
                <a:lnTo>
                  <a:pt x="5154368" y="0"/>
                </a:lnTo>
                <a:lnTo>
                  <a:pt x="5154368" y="4995052"/>
                </a:lnTo>
                <a:lnTo>
                  <a:pt x="0" y="49950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7" id="7"/>
          <p:cNvSpPr txBox="true"/>
          <p:nvPr/>
        </p:nvSpPr>
        <p:spPr>
          <a:xfrm rot="0">
            <a:off x="2526598" y="4558642"/>
            <a:ext cx="13776722" cy="1145045"/>
          </a:xfrm>
          <a:prstGeom prst="rect">
            <a:avLst/>
          </a:prstGeom>
        </p:spPr>
        <p:txBody>
          <a:bodyPr anchor="t" rtlCol="false" tIns="0" lIns="0" bIns="0" rIns="0">
            <a:spAutoFit/>
          </a:bodyPr>
          <a:lstStyle/>
          <a:p>
            <a:pPr algn="ctr">
              <a:lnSpc>
                <a:spcPts val="4612"/>
              </a:lnSpc>
            </a:pPr>
            <a:r>
              <a:rPr lang="en-US" sz="3294" spc="72">
                <a:solidFill>
                  <a:srgbClr val="152540"/>
                </a:solidFill>
                <a:latin typeface="Glacial Indifference"/>
                <a:ea typeface="Glacial Indifference"/>
                <a:cs typeface="Glacial Indifference"/>
                <a:sym typeface="Glacial Indifference"/>
              </a:rPr>
              <a:t>Er</a:t>
            </a:r>
            <a:r>
              <a:rPr lang="en-US" sz="3294" spc="72" strike="noStrike" u="none">
                <a:solidFill>
                  <a:srgbClr val="152540"/>
                </a:solidFill>
                <a:latin typeface="Glacial Indifference"/>
                <a:ea typeface="Glacial Indifference"/>
                <a:cs typeface="Glacial Indifference"/>
                <a:sym typeface="Glacial Indifference"/>
              </a:rPr>
              <a:t>ror gramatical en la construcción de oraciones, ya sea por mala concordancia, uso incorrecto de preposiciones o estructura inadecuada.</a:t>
            </a:r>
          </a:p>
        </p:txBody>
      </p:sp>
      <p:sp>
        <p:nvSpPr>
          <p:cNvPr name="TextBox 8" id="8"/>
          <p:cNvSpPr txBox="true"/>
          <p:nvPr/>
        </p:nvSpPr>
        <p:spPr>
          <a:xfrm rot="0">
            <a:off x="5643351" y="2519970"/>
            <a:ext cx="7543218" cy="1028008"/>
          </a:xfrm>
          <a:prstGeom prst="rect">
            <a:avLst/>
          </a:prstGeom>
        </p:spPr>
        <p:txBody>
          <a:bodyPr anchor="t" rtlCol="false" tIns="0" lIns="0" bIns="0" rIns="0">
            <a:spAutoFit/>
          </a:bodyPr>
          <a:lstStyle/>
          <a:p>
            <a:pPr algn="ctr">
              <a:lnSpc>
                <a:spcPts val="8438"/>
              </a:lnSpc>
            </a:pPr>
            <a:r>
              <a:rPr lang="en-US" b="true" sz="6027" spc="566">
                <a:solidFill>
                  <a:srgbClr val="152540"/>
                </a:solidFill>
                <a:latin typeface="Glacial Indifference Bold"/>
                <a:ea typeface="Glacial Indifference Bold"/>
                <a:cs typeface="Glacial Indifference Bold"/>
                <a:sym typeface="Glacial Indifference Bold"/>
              </a:rPr>
              <a:t>18. SOLECISMO</a:t>
            </a:r>
          </a:p>
        </p:txBody>
      </p:sp>
    </p:spTree>
  </p:cSld>
  <p:clrMapOvr>
    <a:masterClrMapping/>
  </p:clrMapOvr>
</p:sld>
</file>

<file path=ppt/slides/slide63.xml><?xml version="1.0" encoding="utf-8"?>
<p:sld xmlns:p="http://schemas.openxmlformats.org/presentationml/2006/main" xmlns:a="http://schemas.openxmlformats.org/drawingml/2006/main" xmlns:r="http://schemas.openxmlformats.org/officeDocument/2006/relationships">
  <p:cSld>
    <p:bg>
      <p:bgPr>
        <a:solidFill>
          <a:srgbClr val="EDE8E4"/>
        </a:solidFill>
      </p:bgPr>
    </p:bg>
    <p:spTree>
      <p:nvGrpSpPr>
        <p:cNvPr id="1" name=""/>
        <p:cNvGrpSpPr/>
        <p:nvPr/>
      </p:nvGrpSpPr>
      <p:grpSpPr>
        <a:xfrm>
          <a:off x="0" y="0"/>
          <a:ext cx="0" cy="0"/>
          <a:chOff x="0" y="0"/>
          <a:chExt cx="0" cy="0"/>
        </a:xfrm>
      </p:grpSpPr>
      <p:sp>
        <p:nvSpPr>
          <p:cNvPr name="Freeform 2" id="2"/>
          <p:cNvSpPr/>
          <p:nvPr/>
        </p:nvSpPr>
        <p:spPr>
          <a:xfrm flipH="false" flipV="false" rot="-445925">
            <a:off x="3142738" y="-769394"/>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8798399">
            <a:off x="8466276" y="-9590538"/>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3283157">
            <a:off x="-1501206" y="7329841"/>
            <a:ext cx="5624862" cy="7545546"/>
          </a:xfrm>
          <a:custGeom>
            <a:avLst/>
            <a:gdLst/>
            <a:ahLst/>
            <a:cxnLst/>
            <a:rect r="r" b="b" t="t" l="l"/>
            <a:pathLst>
              <a:path h="7545546" w="5624862">
                <a:moveTo>
                  <a:pt x="0" y="0"/>
                </a:moveTo>
                <a:lnTo>
                  <a:pt x="5624862" y="0"/>
                </a:lnTo>
                <a:lnTo>
                  <a:pt x="5624862" y="7545546"/>
                </a:lnTo>
                <a:lnTo>
                  <a:pt x="0" y="75455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2770156">
            <a:off x="-2577184" y="-2165857"/>
            <a:ext cx="5154368" cy="4995052"/>
          </a:xfrm>
          <a:custGeom>
            <a:avLst/>
            <a:gdLst/>
            <a:ahLst/>
            <a:cxnLst/>
            <a:rect r="r" b="b" t="t" l="l"/>
            <a:pathLst>
              <a:path h="4995052" w="5154368">
                <a:moveTo>
                  <a:pt x="0" y="0"/>
                </a:moveTo>
                <a:lnTo>
                  <a:pt x="5154368" y="0"/>
                </a:lnTo>
                <a:lnTo>
                  <a:pt x="5154368" y="4995051"/>
                </a:lnTo>
                <a:lnTo>
                  <a:pt x="0" y="49950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2770156">
            <a:off x="15710816" y="8522875"/>
            <a:ext cx="5154368" cy="4995052"/>
          </a:xfrm>
          <a:custGeom>
            <a:avLst/>
            <a:gdLst/>
            <a:ahLst/>
            <a:cxnLst/>
            <a:rect r="r" b="b" t="t" l="l"/>
            <a:pathLst>
              <a:path h="4995052" w="5154368">
                <a:moveTo>
                  <a:pt x="0" y="0"/>
                </a:moveTo>
                <a:lnTo>
                  <a:pt x="5154368" y="0"/>
                </a:lnTo>
                <a:lnTo>
                  <a:pt x="5154368" y="4995052"/>
                </a:lnTo>
                <a:lnTo>
                  <a:pt x="0" y="49950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7" id="7"/>
          <p:cNvSpPr txBox="true"/>
          <p:nvPr/>
        </p:nvSpPr>
        <p:spPr>
          <a:xfrm rot="0">
            <a:off x="2526598" y="3106080"/>
            <a:ext cx="13776722" cy="5212220"/>
          </a:xfrm>
          <a:prstGeom prst="rect">
            <a:avLst/>
          </a:prstGeom>
        </p:spPr>
        <p:txBody>
          <a:bodyPr anchor="t" rtlCol="false" tIns="0" lIns="0" bIns="0" rIns="0">
            <a:spAutoFit/>
          </a:bodyPr>
          <a:lstStyle/>
          <a:p>
            <a:pPr algn="ctr">
              <a:lnSpc>
                <a:spcPts val="4612"/>
              </a:lnSpc>
            </a:pPr>
            <a:r>
              <a:rPr lang="en-US" sz="3294" spc="72">
                <a:solidFill>
                  <a:srgbClr val="152540"/>
                </a:solidFill>
                <a:latin typeface="Glacial Indifference"/>
                <a:ea typeface="Glacial Indifference"/>
                <a:cs typeface="Glacial Indifference"/>
                <a:sym typeface="Glacial Indifference"/>
              </a:rPr>
              <a:t>Inc</a:t>
            </a:r>
            <a:r>
              <a:rPr lang="en-US" sz="3294" spc="72" strike="noStrike" u="none">
                <a:solidFill>
                  <a:srgbClr val="152540"/>
                </a:solidFill>
                <a:latin typeface="Glacial Indifference"/>
                <a:ea typeface="Glacial Indifference"/>
                <a:cs typeface="Glacial Indifference"/>
                <a:sym typeface="Glacial Indifference"/>
              </a:rPr>
              <a:t>orrecto: La gente estaban felices.</a:t>
            </a:r>
          </a:p>
          <a:p>
            <a:pPr algn="ctr">
              <a:lnSpc>
                <a:spcPts val="4612"/>
              </a:lnSpc>
            </a:pPr>
            <a:r>
              <a:rPr lang="en-US" sz="3294" spc="72" strike="noStrike" u="none">
                <a:solidFill>
                  <a:srgbClr val="152540"/>
                </a:solidFill>
                <a:latin typeface="Glacial Indifference"/>
                <a:ea typeface="Glacial Indifference"/>
                <a:cs typeface="Glacial Indifference"/>
                <a:sym typeface="Glacial Indifference"/>
              </a:rPr>
              <a:t>Correcto: La gente estaba feliz.</a:t>
            </a:r>
          </a:p>
          <a:p>
            <a:pPr algn="ctr">
              <a:lnSpc>
                <a:spcPts val="4612"/>
              </a:lnSpc>
            </a:pPr>
          </a:p>
          <a:p>
            <a:pPr algn="ctr">
              <a:lnSpc>
                <a:spcPts val="4612"/>
              </a:lnSpc>
            </a:pPr>
            <a:r>
              <a:rPr lang="en-US" sz="3294" spc="72" strike="noStrike" u="none">
                <a:solidFill>
                  <a:srgbClr val="152540"/>
                </a:solidFill>
                <a:latin typeface="Glacial Indifference"/>
                <a:ea typeface="Glacial Indifference"/>
                <a:cs typeface="Glacial Indifference"/>
                <a:sym typeface="Glacial Indifference"/>
              </a:rPr>
              <a:t>I</a:t>
            </a:r>
            <a:r>
              <a:rPr lang="en-US" sz="3294" spc="72" strike="noStrike" u="none">
                <a:solidFill>
                  <a:srgbClr val="152540"/>
                </a:solidFill>
                <a:latin typeface="Glacial Indifference"/>
                <a:ea typeface="Glacial Indifference"/>
                <a:cs typeface="Glacial Indifference"/>
                <a:sym typeface="Glacial Indifference"/>
              </a:rPr>
              <a:t>ncorrecto: Entró dentro de la casa.</a:t>
            </a:r>
          </a:p>
          <a:p>
            <a:pPr algn="ctr">
              <a:lnSpc>
                <a:spcPts val="4612"/>
              </a:lnSpc>
            </a:pPr>
            <a:r>
              <a:rPr lang="en-US" sz="3294" spc="72" strike="noStrike" u="none">
                <a:solidFill>
                  <a:srgbClr val="152540"/>
                </a:solidFill>
                <a:latin typeface="Glacial Indifference"/>
                <a:ea typeface="Glacial Indifference"/>
                <a:cs typeface="Glacial Indifference"/>
                <a:sym typeface="Glacial Indifference"/>
              </a:rPr>
              <a:t>Co</a:t>
            </a:r>
            <a:r>
              <a:rPr lang="en-US" sz="3294" spc="72" strike="noStrike" u="none">
                <a:solidFill>
                  <a:srgbClr val="152540"/>
                </a:solidFill>
                <a:latin typeface="Glacial Indifference"/>
                <a:ea typeface="Glacial Indifference"/>
                <a:cs typeface="Glacial Indifference"/>
                <a:sym typeface="Glacial Indifference"/>
              </a:rPr>
              <a:t>rrecto: Entró en la casa.</a:t>
            </a:r>
          </a:p>
          <a:p>
            <a:pPr algn="ctr">
              <a:lnSpc>
                <a:spcPts val="4612"/>
              </a:lnSpc>
            </a:pPr>
          </a:p>
          <a:p>
            <a:pPr algn="ctr">
              <a:lnSpc>
                <a:spcPts val="4612"/>
              </a:lnSpc>
            </a:pPr>
            <a:r>
              <a:rPr lang="en-US" sz="3294" spc="72" strike="noStrike" u="none">
                <a:solidFill>
                  <a:srgbClr val="152540"/>
                </a:solidFill>
                <a:latin typeface="Glacial Indifference"/>
                <a:ea typeface="Glacial Indifference"/>
                <a:cs typeface="Glacial Indifference"/>
                <a:sym typeface="Glacial Indifference"/>
              </a:rPr>
              <a:t>Incorrecto: Habían muchas personas.</a:t>
            </a:r>
          </a:p>
          <a:p>
            <a:pPr algn="ctr">
              <a:lnSpc>
                <a:spcPts val="4612"/>
              </a:lnSpc>
            </a:pPr>
            <a:r>
              <a:rPr lang="en-US" sz="3294" spc="72" strike="noStrike" u="none">
                <a:solidFill>
                  <a:srgbClr val="152540"/>
                </a:solidFill>
                <a:latin typeface="Glacial Indifference"/>
                <a:ea typeface="Glacial Indifference"/>
                <a:cs typeface="Glacial Indifference"/>
                <a:sym typeface="Glacial Indifference"/>
              </a:rPr>
              <a:t>Correcto: Había muchas personas.</a:t>
            </a:r>
          </a:p>
          <a:p>
            <a:pPr algn="ctr">
              <a:lnSpc>
                <a:spcPts val="4612"/>
              </a:lnSpc>
            </a:pPr>
          </a:p>
        </p:txBody>
      </p:sp>
      <p:sp>
        <p:nvSpPr>
          <p:cNvPr name="TextBox 8" id="8"/>
          <p:cNvSpPr txBox="true"/>
          <p:nvPr/>
        </p:nvSpPr>
        <p:spPr>
          <a:xfrm rot="0">
            <a:off x="5643351" y="1567995"/>
            <a:ext cx="7543218" cy="1028008"/>
          </a:xfrm>
          <a:prstGeom prst="rect">
            <a:avLst/>
          </a:prstGeom>
        </p:spPr>
        <p:txBody>
          <a:bodyPr anchor="t" rtlCol="false" tIns="0" lIns="0" bIns="0" rIns="0">
            <a:spAutoFit/>
          </a:bodyPr>
          <a:lstStyle/>
          <a:p>
            <a:pPr algn="ctr">
              <a:lnSpc>
                <a:spcPts val="8438"/>
              </a:lnSpc>
            </a:pPr>
            <a:r>
              <a:rPr lang="en-US" b="true" sz="6027" spc="566">
                <a:solidFill>
                  <a:srgbClr val="152540"/>
                </a:solidFill>
                <a:latin typeface="Glacial Indifference Bold"/>
                <a:ea typeface="Glacial Indifference Bold"/>
                <a:cs typeface="Glacial Indifference Bold"/>
                <a:sym typeface="Glacial Indifference Bold"/>
              </a:rPr>
              <a:t>EJEMPLOS:</a:t>
            </a:r>
          </a:p>
        </p:txBody>
      </p:sp>
    </p:spTree>
  </p:cSld>
  <p:clrMapOvr>
    <a:masterClrMapping/>
  </p:clrMapOvr>
</p:sld>
</file>

<file path=ppt/slides/slide64.xml><?xml version="1.0" encoding="utf-8"?>
<p:sld xmlns:p="http://schemas.openxmlformats.org/presentationml/2006/main" xmlns:a="http://schemas.openxmlformats.org/drawingml/2006/main" xmlns:r="http://schemas.openxmlformats.org/officeDocument/2006/relationships">
  <p:cSld>
    <p:bg>
      <p:bgPr>
        <a:solidFill>
          <a:srgbClr val="EDE8E4"/>
        </a:solidFill>
      </p:bgPr>
    </p:bg>
    <p:spTree>
      <p:nvGrpSpPr>
        <p:cNvPr id="1" name=""/>
        <p:cNvGrpSpPr/>
        <p:nvPr/>
      </p:nvGrpSpPr>
      <p:grpSpPr>
        <a:xfrm>
          <a:off x="0" y="0"/>
          <a:ext cx="0" cy="0"/>
          <a:chOff x="0" y="0"/>
          <a:chExt cx="0" cy="0"/>
        </a:xfrm>
      </p:grpSpPr>
      <p:sp>
        <p:nvSpPr>
          <p:cNvPr name="Freeform 2" id="2"/>
          <p:cNvSpPr/>
          <p:nvPr/>
        </p:nvSpPr>
        <p:spPr>
          <a:xfrm flipH="false" flipV="false" rot="-445925">
            <a:off x="3142738" y="-769394"/>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8798399">
            <a:off x="8466276" y="-9590538"/>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3283157">
            <a:off x="-1501206" y="7329841"/>
            <a:ext cx="5624862" cy="7545546"/>
          </a:xfrm>
          <a:custGeom>
            <a:avLst/>
            <a:gdLst/>
            <a:ahLst/>
            <a:cxnLst/>
            <a:rect r="r" b="b" t="t" l="l"/>
            <a:pathLst>
              <a:path h="7545546" w="5624862">
                <a:moveTo>
                  <a:pt x="0" y="0"/>
                </a:moveTo>
                <a:lnTo>
                  <a:pt x="5624862" y="0"/>
                </a:lnTo>
                <a:lnTo>
                  <a:pt x="5624862" y="7545546"/>
                </a:lnTo>
                <a:lnTo>
                  <a:pt x="0" y="75455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2770156">
            <a:off x="-2577184" y="-2165857"/>
            <a:ext cx="5154368" cy="4995052"/>
          </a:xfrm>
          <a:custGeom>
            <a:avLst/>
            <a:gdLst/>
            <a:ahLst/>
            <a:cxnLst/>
            <a:rect r="r" b="b" t="t" l="l"/>
            <a:pathLst>
              <a:path h="4995052" w="5154368">
                <a:moveTo>
                  <a:pt x="0" y="0"/>
                </a:moveTo>
                <a:lnTo>
                  <a:pt x="5154368" y="0"/>
                </a:lnTo>
                <a:lnTo>
                  <a:pt x="5154368" y="4995051"/>
                </a:lnTo>
                <a:lnTo>
                  <a:pt x="0" y="49950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2770156">
            <a:off x="15710816" y="8522875"/>
            <a:ext cx="5154368" cy="4995052"/>
          </a:xfrm>
          <a:custGeom>
            <a:avLst/>
            <a:gdLst/>
            <a:ahLst/>
            <a:cxnLst/>
            <a:rect r="r" b="b" t="t" l="l"/>
            <a:pathLst>
              <a:path h="4995052" w="5154368">
                <a:moveTo>
                  <a:pt x="0" y="0"/>
                </a:moveTo>
                <a:lnTo>
                  <a:pt x="5154368" y="0"/>
                </a:lnTo>
                <a:lnTo>
                  <a:pt x="5154368" y="4995052"/>
                </a:lnTo>
                <a:lnTo>
                  <a:pt x="0" y="49950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7" id="7"/>
          <p:cNvSpPr txBox="true"/>
          <p:nvPr/>
        </p:nvSpPr>
        <p:spPr>
          <a:xfrm rot="0">
            <a:off x="2255639" y="3495456"/>
            <a:ext cx="13776722" cy="2307095"/>
          </a:xfrm>
          <a:prstGeom prst="rect">
            <a:avLst/>
          </a:prstGeom>
        </p:spPr>
        <p:txBody>
          <a:bodyPr anchor="t" rtlCol="false" tIns="0" lIns="0" bIns="0" rIns="0">
            <a:spAutoFit/>
          </a:bodyPr>
          <a:lstStyle/>
          <a:p>
            <a:pPr algn="ctr">
              <a:lnSpc>
                <a:spcPts val="4612"/>
              </a:lnSpc>
            </a:pPr>
            <a:r>
              <a:rPr lang="en-US" sz="3294" spc="72">
                <a:solidFill>
                  <a:srgbClr val="152540"/>
                </a:solidFill>
                <a:latin typeface="Glacial Indifference"/>
                <a:ea typeface="Glacial Indifference"/>
                <a:cs typeface="Glacial Indifference"/>
                <a:sym typeface="Glacial Indifference"/>
              </a:rPr>
              <a:t>Id</a:t>
            </a:r>
            <a:r>
              <a:rPr lang="en-US" sz="3294" spc="72" strike="noStrike" u="none">
                <a:solidFill>
                  <a:srgbClr val="152540"/>
                </a:solidFill>
                <a:latin typeface="Glacial Indifference"/>
                <a:ea typeface="Glacial Indifference"/>
                <a:cs typeface="Glacial Indifference"/>
                <a:sym typeface="Glacial Indifference"/>
              </a:rPr>
              <a:t>entifica y corrige el error gramatical:</a:t>
            </a:r>
          </a:p>
          <a:p>
            <a:pPr algn="ctr">
              <a:lnSpc>
                <a:spcPts val="4612"/>
              </a:lnSpc>
            </a:pPr>
          </a:p>
          <a:p>
            <a:pPr algn="ctr">
              <a:lnSpc>
                <a:spcPts val="4612"/>
              </a:lnSpc>
            </a:pPr>
            <a:r>
              <a:rPr lang="en-US" sz="3294" spc="72" strike="noStrike" u="none">
                <a:solidFill>
                  <a:srgbClr val="152540"/>
                </a:solidFill>
                <a:latin typeface="Glacial Indifference"/>
                <a:ea typeface="Glacial Indifference"/>
                <a:cs typeface="Glacial Indifference"/>
                <a:sym typeface="Glacial Indifference"/>
              </a:rPr>
              <a:t>“Habían un perro y un gato en la calle.”</a:t>
            </a:r>
          </a:p>
          <a:p>
            <a:pPr algn="ctr">
              <a:lnSpc>
                <a:spcPts val="4612"/>
              </a:lnSpc>
            </a:pPr>
          </a:p>
        </p:txBody>
      </p:sp>
      <p:sp>
        <p:nvSpPr>
          <p:cNvPr name="TextBox 8" id="8"/>
          <p:cNvSpPr txBox="true"/>
          <p:nvPr/>
        </p:nvSpPr>
        <p:spPr>
          <a:xfrm rot="0">
            <a:off x="5643351" y="1567995"/>
            <a:ext cx="7543218" cy="1028008"/>
          </a:xfrm>
          <a:prstGeom prst="rect">
            <a:avLst/>
          </a:prstGeom>
        </p:spPr>
        <p:txBody>
          <a:bodyPr anchor="t" rtlCol="false" tIns="0" lIns="0" bIns="0" rIns="0">
            <a:spAutoFit/>
          </a:bodyPr>
          <a:lstStyle/>
          <a:p>
            <a:pPr algn="ctr">
              <a:lnSpc>
                <a:spcPts val="8438"/>
              </a:lnSpc>
            </a:pPr>
            <a:r>
              <a:rPr lang="en-US" b="true" sz="6027" spc="566">
                <a:solidFill>
                  <a:srgbClr val="152540"/>
                </a:solidFill>
                <a:latin typeface="Glacial Indifference Bold"/>
                <a:ea typeface="Glacial Indifference Bold"/>
                <a:cs typeface="Glacial Indifference Bold"/>
                <a:sym typeface="Glacial Indifference Bold"/>
              </a:rPr>
              <a:t>EJERCICIO:</a:t>
            </a:r>
          </a:p>
        </p:txBody>
      </p:sp>
    </p:spTree>
  </p:cSld>
  <p:clrMapOvr>
    <a:masterClrMapping/>
  </p:clrMapOvr>
</p:sld>
</file>

<file path=ppt/slides/slide65.xml><?xml version="1.0" encoding="utf-8"?>
<p:sld xmlns:p="http://schemas.openxmlformats.org/presentationml/2006/main" xmlns:a="http://schemas.openxmlformats.org/drawingml/2006/main" xmlns:r="http://schemas.openxmlformats.org/officeDocument/2006/relationships">
  <p:cSld>
    <p:bg>
      <p:bgPr>
        <a:solidFill>
          <a:srgbClr val="EDE8E4"/>
        </a:solidFill>
      </p:bgPr>
    </p:bg>
    <p:spTree>
      <p:nvGrpSpPr>
        <p:cNvPr id="1" name=""/>
        <p:cNvGrpSpPr/>
        <p:nvPr/>
      </p:nvGrpSpPr>
      <p:grpSpPr>
        <a:xfrm>
          <a:off x="0" y="0"/>
          <a:ext cx="0" cy="0"/>
          <a:chOff x="0" y="0"/>
          <a:chExt cx="0" cy="0"/>
        </a:xfrm>
      </p:grpSpPr>
      <p:sp>
        <p:nvSpPr>
          <p:cNvPr name="Freeform 2" id="2"/>
          <p:cNvSpPr/>
          <p:nvPr/>
        </p:nvSpPr>
        <p:spPr>
          <a:xfrm flipH="false" flipV="false" rot="-445925">
            <a:off x="3142738" y="-769394"/>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8798399">
            <a:off x="8466276" y="-9590538"/>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3283157">
            <a:off x="-1501206" y="7329841"/>
            <a:ext cx="5624862" cy="7545546"/>
          </a:xfrm>
          <a:custGeom>
            <a:avLst/>
            <a:gdLst/>
            <a:ahLst/>
            <a:cxnLst/>
            <a:rect r="r" b="b" t="t" l="l"/>
            <a:pathLst>
              <a:path h="7545546" w="5624862">
                <a:moveTo>
                  <a:pt x="0" y="0"/>
                </a:moveTo>
                <a:lnTo>
                  <a:pt x="5624862" y="0"/>
                </a:lnTo>
                <a:lnTo>
                  <a:pt x="5624862" y="7545546"/>
                </a:lnTo>
                <a:lnTo>
                  <a:pt x="0" y="75455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2770156">
            <a:off x="-2577184" y="-2165857"/>
            <a:ext cx="5154368" cy="4995052"/>
          </a:xfrm>
          <a:custGeom>
            <a:avLst/>
            <a:gdLst/>
            <a:ahLst/>
            <a:cxnLst/>
            <a:rect r="r" b="b" t="t" l="l"/>
            <a:pathLst>
              <a:path h="4995052" w="5154368">
                <a:moveTo>
                  <a:pt x="0" y="0"/>
                </a:moveTo>
                <a:lnTo>
                  <a:pt x="5154368" y="0"/>
                </a:lnTo>
                <a:lnTo>
                  <a:pt x="5154368" y="4995051"/>
                </a:lnTo>
                <a:lnTo>
                  <a:pt x="0" y="49950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2770156">
            <a:off x="15710816" y="8522875"/>
            <a:ext cx="5154368" cy="4995052"/>
          </a:xfrm>
          <a:custGeom>
            <a:avLst/>
            <a:gdLst/>
            <a:ahLst/>
            <a:cxnLst/>
            <a:rect r="r" b="b" t="t" l="l"/>
            <a:pathLst>
              <a:path h="4995052" w="5154368">
                <a:moveTo>
                  <a:pt x="0" y="0"/>
                </a:moveTo>
                <a:lnTo>
                  <a:pt x="5154368" y="0"/>
                </a:lnTo>
                <a:lnTo>
                  <a:pt x="5154368" y="4995052"/>
                </a:lnTo>
                <a:lnTo>
                  <a:pt x="0" y="49950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7" id="7"/>
          <p:cNvSpPr txBox="true"/>
          <p:nvPr/>
        </p:nvSpPr>
        <p:spPr>
          <a:xfrm rot="0">
            <a:off x="2526598" y="3853758"/>
            <a:ext cx="13776722" cy="1726070"/>
          </a:xfrm>
          <a:prstGeom prst="rect">
            <a:avLst/>
          </a:prstGeom>
        </p:spPr>
        <p:txBody>
          <a:bodyPr anchor="t" rtlCol="false" tIns="0" lIns="0" bIns="0" rIns="0">
            <a:spAutoFit/>
          </a:bodyPr>
          <a:lstStyle/>
          <a:p>
            <a:pPr algn="ctr">
              <a:lnSpc>
                <a:spcPts val="4612"/>
              </a:lnSpc>
            </a:pPr>
            <a:r>
              <a:rPr lang="en-US" sz="3294" spc="72">
                <a:solidFill>
                  <a:srgbClr val="152540"/>
                </a:solidFill>
                <a:latin typeface="Glacial Indifference"/>
                <a:ea typeface="Glacial Indifference"/>
                <a:cs typeface="Glacial Indifference"/>
                <a:sym typeface="Glacial Indifference"/>
              </a:rPr>
              <a:t>V</a:t>
            </a:r>
            <a:r>
              <a:rPr lang="en-US" sz="3294" spc="72" strike="noStrike" u="none">
                <a:solidFill>
                  <a:srgbClr val="152540"/>
                </a:solidFill>
                <a:latin typeface="Glacial Indifference"/>
                <a:ea typeface="Glacial Indifference"/>
                <a:cs typeface="Glacial Indifference"/>
                <a:sym typeface="Glacial Indifference"/>
              </a:rPr>
              <a:t>icio de dicción que ocurre cuando se aplica incorrectamente una regla gramatical por querer hablar o escribir de forma “más correcta”, generando un error.</a:t>
            </a:r>
          </a:p>
        </p:txBody>
      </p:sp>
      <p:sp>
        <p:nvSpPr>
          <p:cNvPr name="TextBox 8" id="8"/>
          <p:cNvSpPr txBox="true"/>
          <p:nvPr/>
        </p:nvSpPr>
        <p:spPr>
          <a:xfrm rot="0">
            <a:off x="4392996" y="2235798"/>
            <a:ext cx="10043928" cy="1028008"/>
          </a:xfrm>
          <a:prstGeom prst="rect">
            <a:avLst/>
          </a:prstGeom>
        </p:spPr>
        <p:txBody>
          <a:bodyPr anchor="t" rtlCol="false" tIns="0" lIns="0" bIns="0" rIns="0">
            <a:spAutoFit/>
          </a:bodyPr>
          <a:lstStyle/>
          <a:p>
            <a:pPr algn="ctr">
              <a:lnSpc>
                <a:spcPts val="8438"/>
              </a:lnSpc>
            </a:pPr>
            <a:r>
              <a:rPr lang="en-US" b="true" sz="6027" spc="566">
                <a:solidFill>
                  <a:srgbClr val="152540"/>
                </a:solidFill>
                <a:latin typeface="Glacial Indifference Bold"/>
                <a:ea typeface="Glacial Indifference Bold"/>
                <a:cs typeface="Glacial Indifference Bold"/>
                <a:sym typeface="Glacial Indifference Bold"/>
              </a:rPr>
              <a:t>19. ULTRACORRECCIÓN</a:t>
            </a:r>
          </a:p>
        </p:txBody>
      </p:sp>
    </p:spTree>
  </p:cSld>
  <p:clrMapOvr>
    <a:masterClrMapping/>
  </p:clrMapOvr>
</p:sld>
</file>

<file path=ppt/slides/slide66.xml><?xml version="1.0" encoding="utf-8"?>
<p:sld xmlns:p="http://schemas.openxmlformats.org/presentationml/2006/main" xmlns:a="http://schemas.openxmlformats.org/drawingml/2006/main" xmlns:r="http://schemas.openxmlformats.org/officeDocument/2006/relationships">
  <p:cSld>
    <p:bg>
      <p:bgPr>
        <a:solidFill>
          <a:srgbClr val="EDE8E4"/>
        </a:solidFill>
      </p:bgPr>
    </p:bg>
    <p:spTree>
      <p:nvGrpSpPr>
        <p:cNvPr id="1" name=""/>
        <p:cNvGrpSpPr/>
        <p:nvPr/>
      </p:nvGrpSpPr>
      <p:grpSpPr>
        <a:xfrm>
          <a:off x="0" y="0"/>
          <a:ext cx="0" cy="0"/>
          <a:chOff x="0" y="0"/>
          <a:chExt cx="0" cy="0"/>
        </a:xfrm>
      </p:grpSpPr>
      <p:sp>
        <p:nvSpPr>
          <p:cNvPr name="Freeform 2" id="2"/>
          <p:cNvSpPr/>
          <p:nvPr/>
        </p:nvSpPr>
        <p:spPr>
          <a:xfrm flipH="false" flipV="false" rot="-445925">
            <a:off x="3142738" y="-769394"/>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8798399">
            <a:off x="8466276" y="-9590538"/>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3283157">
            <a:off x="-1501206" y="7329841"/>
            <a:ext cx="5624862" cy="7545546"/>
          </a:xfrm>
          <a:custGeom>
            <a:avLst/>
            <a:gdLst/>
            <a:ahLst/>
            <a:cxnLst/>
            <a:rect r="r" b="b" t="t" l="l"/>
            <a:pathLst>
              <a:path h="7545546" w="5624862">
                <a:moveTo>
                  <a:pt x="0" y="0"/>
                </a:moveTo>
                <a:lnTo>
                  <a:pt x="5624862" y="0"/>
                </a:lnTo>
                <a:lnTo>
                  <a:pt x="5624862" y="7545546"/>
                </a:lnTo>
                <a:lnTo>
                  <a:pt x="0" y="75455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2770156">
            <a:off x="-2577184" y="-2165857"/>
            <a:ext cx="5154368" cy="4995052"/>
          </a:xfrm>
          <a:custGeom>
            <a:avLst/>
            <a:gdLst/>
            <a:ahLst/>
            <a:cxnLst/>
            <a:rect r="r" b="b" t="t" l="l"/>
            <a:pathLst>
              <a:path h="4995052" w="5154368">
                <a:moveTo>
                  <a:pt x="0" y="0"/>
                </a:moveTo>
                <a:lnTo>
                  <a:pt x="5154368" y="0"/>
                </a:lnTo>
                <a:lnTo>
                  <a:pt x="5154368" y="4995051"/>
                </a:lnTo>
                <a:lnTo>
                  <a:pt x="0" y="49950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2770156">
            <a:off x="15710816" y="8522875"/>
            <a:ext cx="5154368" cy="4995052"/>
          </a:xfrm>
          <a:custGeom>
            <a:avLst/>
            <a:gdLst/>
            <a:ahLst/>
            <a:cxnLst/>
            <a:rect r="r" b="b" t="t" l="l"/>
            <a:pathLst>
              <a:path h="4995052" w="5154368">
                <a:moveTo>
                  <a:pt x="0" y="0"/>
                </a:moveTo>
                <a:lnTo>
                  <a:pt x="5154368" y="0"/>
                </a:lnTo>
                <a:lnTo>
                  <a:pt x="5154368" y="4995052"/>
                </a:lnTo>
                <a:lnTo>
                  <a:pt x="0" y="49950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7" id="7"/>
          <p:cNvSpPr txBox="true"/>
          <p:nvPr/>
        </p:nvSpPr>
        <p:spPr>
          <a:xfrm rot="0">
            <a:off x="2526598" y="3106080"/>
            <a:ext cx="13776722" cy="5212220"/>
          </a:xfrm>
          <a:prstGeom prst="rect">
            <a:avLst/>
          </a:prstGeom>
        </p:spPr>
        <p:txBody>
          <a:bodyPr anchor="t" rtlCol="false" tIns="0" lIns="0" bIns="0" rIns="0">
            <a:spAutoFit/>
          </a:bodyPr>
          <a:lstStyle/>
          <a:p>
            <a:pPr algn="ctr">
              <a:lnSpc>
                <a:spcPts val="4612"/>
              </a:lnSpc>
            </a:pPr>
            <a:r>
              <a:rPr lang="en-US" sz="3294" spc="72" strike="noStrike" u="none">
                <a:solidFill>
                  <a:srgbClr val="152540"/>
                </a:solidFill>
                <a:latin typeface="Glacial Indifference"/>
                <a:ea typeface="Glacial Indifference"/>
                <a:cs typeface="Glacial Indifference"/>
                <a:sym typeface="Glacial Indifference"/>
              </a:rPr>
              <a:t>Incorrecto: Bacalado</a:t>
            </a:r>
          </a:p>
          <a:p>
            <a:pPr algn="ctr">
              <a:lnSpc>
                <a:spcPts val="4612"/>
              </a:lnSpc>
            </a:pPr>
            <a:r>
              <a:rPr lang="en-US" sz="3294" spc="72" strike="noStrike" u="none">
                <a:solidFill>
                  <a:srgbClr val="152540"/>
                </a:solidFill>
                <a:latin typeface="Glacial Indifference"/>
                <a:ea typeface="Glacial Indifference"/>
                <a:cs typeface="Glacial Indifference"/>
                <a:sym typeface="Glacial Indifference"/>
              </a:rPr>
              <a:t>Correcto: Bacalao</a:t>
            </a:r>
          </a:p>
          <a:p>
            <a:pPr algn="ctr">
              <a:lnSpc>
                <a:spcPts val="4612"/>
              </a:lnSpc>
            </a:pPr>
          </a:p>
          <a:p>
            <a:pPr algn="ctr">
              <a:lnSpc>
                <a:spcPts val="4612"/>
              </a:lnSpc>
            </a:pPr>
            <a:r>
              <a:rPr lang="en-US" sz="3294" spc="72" strike="noStrike" u="none">
                <a:solidFill>
                  <a:srgbClr val="152540"/>
                </a:solidFill>
                <a:latin typeface="Glacial Indifference"/>
                <a:ea typeface="Glacial Indifference"/>
                <a:cs typeface="Glacial Indifference"/>
                <a:sym typeface="Glacial Indifference"/>
              </a:rPr>
              <a:t>In</a:t>
            </a:r>
            <a:r>
              <a:rPr lang="en-US" sz="3294" spc="72" strike="noStrike" u="none">
                <a:solidFill>
                  <a:srgbClr val="152540"/>
                </a:solidFill>
                <a:latin typeface="Glacial Indifference"/>
                <a:ea typeface="Glacial Indifference"/>
                <a:cs typeface="Glacial Indifference"/>
                <a:sym typeface="Glacial Indifference"/>
              </a:rPr>
              <a:t>correcto: Fuistes</a:t>
            </a:r>
          </a:p>
          <a:p>
            <a:pPr algn="ctr">
              <a:lnSpc>
                <a:spcPts val="4612"/>
              </a:lnSpc>
            </a:pPr>
            <a:r>
              <a:rPr lang="en-US" sz="3294" spc="72" strike="noStrike" u="none">
                <a:solidFill>
                  <a:srgbClr val="152540"/>
                </a:solidFill>
                <a:latin typeface="Glacial Indifference"/>
                <a:ea typeface="Glacial Indifference"/>
                <a:cs typeface="Glacial Indifference"/>
                <a:sym typeface="Glacial Indifference"/>
              </a:rPr>
              <a:t>Correcto: Fuiste</a:t>
            </a:r>
          </a:p>
          <a:p>
            <a:pPr algn="ctr">
              <a:lnSpc>
                <a:spcPts val="4612"/>
              </a:lnSpc>
            </a:pPr>
          </a:p>
          <a:p>
            <a:pPr algn="ctr">
              <a:lnSpc>
                <a:spcPts val="4612"/>
              </a:lnSpc>
            </a:pPr>
            <a:r>
              <a:rPr lang="en-US" sz="3294" spc="72" strike="noStrike" u="none">
                <a:solidFill>
                  <a:srgbClr val="152540"/>
                </a:solidFill>
                <a:latin typeface="Glacial Indifference"/>
                <a:ea typeface="Glacial Indifference"/>
                <a:cs typeface="Glacial Indifference"/>
                <a:sym typeface="Glacial Indifference"/>
              </a:rPr>
              <a:t>Incorrecto: Más mejor</a:t>
            </a:r>
          </a:p>
          <a:p>
            <a:pPr algn="ctr">
              <a:lnSpc>
                <a:spcPts val="4612"/>
              </a:lnSpc>
            </a:pPr>
            <a:r>
              <a:rPr lang="en-US" sz="3294" spc="72" strike="noStrike" u="none">
                <a:solidFill>
                  <a:srgbClr val="152540"/>
                </a:solidFill>
                <a:latin typeface="Glacial Indifference"/>
                <a:ea typeface="Glacial Indifference"/>
                <a:cs typeface="Glacial Indifference"/>
                <a:sym typeface="Glacial Indifference"/>
              </a:rPr>
              <a:t>Correcto: Mejor</a:t>
            </a:r>
          </a:p>
          <a:p>
            <a:pPr algn="ctr">
              <a:lnSpc>
                <a:spcPts val="4612"/>
              </a:lnSpc>
            </a:pPr>
          </a:p>
        </p:txBody>
      </p:sp>
      <p:sp>
        <p:nvSpPr>
          <p:cNvPr name="TextBox 8" id="8"/>
          <p:cNvSpPr txBox="true"/>
          <p:nvPr/>
        </p:nvSpPr>
        <p:spPr>
          <a:xfrm rot="0">
            <a:off x="5659591" y="1567995"/>
            <a:ext cx="7543218" cy="1028008"/>
          </a:xfrm>
          <a:prstGeom prst="rect">
            <a:avLst/>
          </a:prstGeom>
        </p:spPr>
        <p:txBody>
          <a:bodyPr anchor="t" rtlCol="false" tIns="0" lIns="0" bIns="0" rIns="0">
            <a:spAutoFit/>
          </a:bodyPr>
          <a:lstStyle/>
          <a:p>
            <a:pPr algn="ctr">
              <a:lnSpc>
                <a:spcPts val="8438"/>
              </a:lnSpc>
            </a:pPr>
            <a:r>
              <a:rPr lang="en-US" b="true" sz="6027" spc="566">
                <a:solidFill>
                  <a:srgbClr val="152540"/>
                </a:solidFill>
                <a:latin typeface="Glacial Indifference Bold"/>
                <a:ea typeface="Glacial Indifference Bold"/>
                <a:cs typeface="Glacial Indifference Bold"/>
                <a:sym typeface="Glacial Indifference Bold"/>
              </a:rPr>
              <a:t>EJEMPLOS:</a:t>
            </a:r>
          </a:p>
        </p:txBody>
      </p:sp>
    </p:spTree>
  </p:cSld>
  <p:clrMapOvr>
    <a:masterClrMapping/>
  </p:clrMapOvr>
</p:sld>
</file>

<file path=ppt/slides/slide67.xml><?xml version="1.0" encoding="utf-8"?>
<p:sld xmlns:p="http://schemas.openxmlformats.org/presentationml/2006/main" xmlns:a="http://schemas.openxmlformats.org/drawingml/2006/main" xmlns:r="http://schemas.openxmlformats.org/officeDocument/2006/relationships">
  <p:cSld>
    <p:bg>
      <p:bgPr>
        <a:solidFill>
          <a:srgbClr val="EDE8E4"/>
        </a:solidFill>
      </p:bgPr>
    </p:bg>
    <p:spTree>
      <p:nvGrpSpPr>
        <p:cNvPr id="1" name=""/>
        <p:cNvGrpSpPr/>
        <p:nvPr/>
      </p:nvGrpSpPr>
      <p:grpSpPr>
        <a:xfrm>
          <a:off x="0" y="0"/>
          <a:ext cx="0" cy="0"/>
          <a:chOff x="0" y="0"/>
          <a:chExt cx="0" cy="0"/>
        </a:xfrm>
      </p:grpSpPr>
      <p:sp>
        <p:nvSpPr>
          <p:cNvPr name="Freeform 2" id="2"/>
          <p:cNvSpPr/>
          <p:nvPr/>
        </p:nvSpPr>
        <p:spPr>
          <a:xfrm flipH="false" flipV="false" rot="-445925">
            <a:off x="3142738" y="-769394"/>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8798399">
            <a:off x="8466276" y="-9590538"/>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3283157">
            <a:off x="-1501206" y="7329841"/>
            <a:ext cx="5624862" cy="7545546"/>
          </a:xfrm>
          <a:custGeom>
            <a:avLst/>
            <a:gdLst/>
            <a:ahLst/>
            <a:cxnLst/>
            <a:rect r="r" b="b" t="t" l="l"/>
            <a:pathLst>
              <a:path h="7545546" w="5624862">
                <a:moveTo>
                  <a:pt x="0" y="0"/>
                </a:moveTo>
                <a:lnTo>
                  <a:pt x="5624862" y="0"/>
                </a:lnTo>
                <a:lnTo>
                  <a:pt x="5624862" y="7545546"/>
                </a:lnTo>
                <a:lnTo>
                  <a:pt x="0" y="75455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2770156">
            <a:off x="-2577184" y="-2165857"/>
            <a:ext cx="5154368" cy="4995052"/>
          </a:xfrm>
          <a:custGeom>
            <a:avLst/>
            <a:gdLst/>
            <a:ahLst/>
            <a:cxnLst/>
            <a:rect r="r" b="b" t="t" l="l"/>
            <a:pathLst>
              <a:path h="4995052" w="5154368">
                <a:moveTo>
                  <a:pt x="0" y="0"/>
                </a:moveTo>
                <a:lnTo>
                  <a:pt x="5154368" y="0"/>
                </a:lnTo>
                <a:lnTo>
                  <a:pt x="5154368" y="4995051"/>
                </a:lnTo>
                <a:lnTo>
                  <a:pt x="0" y="49950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2770156">
            <a:off x="15710816" y="8522875"/>
            <a:ext cx="5154368" cy="4995052"/>
          </a:xfrm>
          <a:custGeom>
            <a:avLst/>
            <a:gdLst/>
            <a:ahLst/>
            <a:cxnLst/>
            <a:rect r="r" b="b" t="t" l="l"/>
            <a:pathLst>
              <a:path h="4995052" w="5154368">
                <a:moveTo>
                  <a:pt x="0" y="0"/>
                </a:moveTo>
                <a:lnTo>
                  <a:pt x="5154368" y="0"/>
                </a:lnTo>
                <a:lnTo>
                  <a:pt x="5154368" y="4995052"/>
                </a:lnTo>
                <a:lnTo>
                  <a:pt x="0" y="49950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7" id="7"/>
          <p:cNvSpPr txBox="true"/>
          <p:nvPr/>
        </p:nvSpPr>
        <p:spPr>
          <a:xfrm rot="0">
            <a:off x="2542839" y="3424940"/>
            <a:ext cx="13776722" cy="2307095"/>
          </a:xfrm>
          <a:prstGeom prst="rect">
            <a:avLst/>
          </a:prstGeom>
        </p:spPr>
        <p:txBody>
          <a:bodyPr anchor="t" rtlCol="false" tIns="0" lIns="0" bIns="0" rIns="0">
            <a:spAutoFit/>
          </a:bodyPr>
          <a:lstStyle/>
          <a:p>
            <a:pPr algn="ctr">
              <a:lnSpc>
                <a:spcPts val="4612"/>
              </a:lnSpc>
            </a:pPr>
            <a:r>
              <a:rPr lang="en-US" sz="3294" spc="72">
                <a:solidFill>
                  <a:srgbClr val="152540"/>
                </a:solidFill>
                <a:latin typeface="Glacial Indifference"/>
                <a:ea typeface="Glacial Indifference"/>
                <a:cs typeface="Glacial Indifference"/>
                <a:sym typeface="Glacial Indifference"/>
              </a:rPr>
              <a:t>C</a:t>
            </a:r>
            <a:r>
              <a:rPr lang="en-US" sz="3294" spc="72" strike="noStrike" u="none">
                <a:solidFill>
                  <a:srgbClr val="152540"/>
                </a:solidFill>
                <a:latin typeface="Glacial Indifference"/>
                <a:ea typeface="Glacial Indifference"/>
                <a:cs typeface="Glacial Indifference"/>
                <a:sym typeface="Glacial Indifference"/>
              </a:rPr>
              <a:t>orrige la palabra mal formada:</a:t>
            </a:r>
          </a:p>
          <a:p>
            <a:pPr algn="ctr">
              <a:lnSpc>
                <a:spcPts val="4612"/>
              </a:lnSpc>
            </a:pPr>
          </a:p>
          <a:p>
            <a:pPr algn="ctr">
              <a:lnSpc>
                <a:spcPts val="4612"/>
              </a:lnSpc>
            </a:pPr>
            <a:r>
              <a:rPr lang="en-US" sz="3294" spc="72" strike="noStrike" u="none">
                <a:solidFill>
                  <a:srgbClr val="152540"/>
                </a:solidFill>
                <a:latin typeface="Glacial Indifference"/>
                <a:ea typeface="Glacial Indifference"/>
                <a:cs typeface="Glacial Indifference"/>
                <a:sym typeface="Glacial Indifference"/>
              </a:rPr>
              <a:t>“Tú dijistes la verdad desde el inicio.”</a:t>
            </a:r>
          </a:p>
          <a:p>
            <a:pPr algn="ctr">
              <a:lnSpc>
                <a:spcPts val="4612"/>
              </a:lnSpc>
            </a:pPr>
          </a:p>
        </p:txBody>
      </p:sp>
      <p:sp>
        <p:nvSpPr>
          <p:cNvPr name="TextBox 8" id="8"/>
          <p:cNvSpPr txBox="true"/>
          <p:nvPr/>
        </p:nvSpPr>
        <p:spPr>
          <a:xfrm rot="0">
            <a:off x="5659591" y="1567995"/>
            <a:ext cx="7543218" cy="1028008"/>
          </a:xfrm>
          <a:prstGeom prst="rect">
            <a:avLst/>
          </a:prstGeom>
        </p:spPr>
        <p:txBody>
          <a:bodyPr anchor="t" rtlCol="false" tIns="0" lIns="0" bIns="0" rIns="0">
            <a:spAutoFit/>
          </a:bodyPr>
          <a:lstStyle/>
          <a:p>
            <a:pPr algn="ctr">
              <a:lnSpc>
                <a:spcPts val="8438"/>
              </a:lnSpc>
            </a:pPr>
            <a:r>
              <a:rPr lang="en-US" b="true" sz="6027" spc="566">
                <a:solidFill>
                  <a:srgbClr val="152540"/>
                </a:solidFill>
                <a:latin typeface="Glacial Indifference Bold"/>
                <a:ea typeface="Glacial Indifference Bold"/>
                <a:cs typeface="Glacial Indifference Bold"/>
                <a:sym typeface="Glacial Indifference Bold"/>
              </a:rPr>
              <a:t>EJERCICIO:</a:t>
            </a:r>
          </a:p>
        </p:txBody>
      </p:sp>
    </p:spTree>
  </p:cSld>
  <p:clrMapOvr>
    <a:masterClrMapping/>
  </p:clrMapOvr>
</p:sld>
</file>

<file path=ppt/slides/slide68.xml><?xml version="1.0" encoding="utf-8"?>
<p:sld xmlns:p="http://schemas.openxmlformats.org/presentationml/2006/main" xmlns:a="http://schemas.openxmlformats.org/drawingml/2006/main" xmlns:r="http://schemas.openxmlformats.org/officeDocument/2006/relationships">
  <p:cSld>
    <p:bg>
      <p:bgPr>
        <a:solidFill>
          <a:srgbClr val="EDE8E4"/>
        </a:solidFill>
      </p:bgPr>
    </p:bg>
    <p:spTree>
      <p:nvGrpSpPr>
        <p:cNvPr id="1" name=""/>
        <p:cNvGrpSpPr/>
        <p:nvPr/>
      </p:nvGrpSpPr>
      <p:grpSpPr>
        <a:xfrm>
          <a:off x="0" y="0"/>
          <a:ext cx="0" cy="0"/>
          <a:chOff x="0" y="0"/>
          <a:chExt cx="0" cy="0"/>
        </a:xfrm>
      </p:grpSpPr>
      <p:sp>
        <p:nvSpPr>
          <p:cNvPr name="Freeform 2" id="2"/>
          <p:cNvSpPr/>
          <p:nvPr/>
        </p:nvSpPr>
        <p:spPr>
          <a:xfrm flipH="false" flipV="false" rot="-445925">
            <a:off x="3142738" y="-769394"/>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8798399">
            <a:off x="8466276" y="-9590538"/>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3283157">
            <a:off x="-1501206" y="7329841"/>
            <a:ext cx="5624862" cy="7545546"/>
          </a:xfrm>
          <a:custGeom>
            <a:avLst/>
            <a:gdLst/>
            <a:ahLst/>
            <a:cxnLst/>
            <a:rect r="r" b="b" t="t" l="l"/>
            <a:pathLst>
              <a:path h="7545546" w="5624862">
                <a:moveTo>
                  <a:pt x="0" y="0"/>
                </a:moveTo>
                <a:lnTo>
                  <a:pt x="5624862" y="0"/>
                </a:lnTo>
                <a:lnTo>
                  <a:pt x="5624862" y="7545546"/>
                </a:lnTo>
                <a:lnTo>
                  <a:pt x="0" y="75455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2770156">
            <a:off x="-2577184" y="-2165857"/>
            <a:ext cx="5154368" cy="4995052"/>
          </a:xfrm>
          <a:custGeom>
            <a:avLst/>
            <a:gdLst/>
            <a:ahLst/>
            <a:cxnLst/>
            <a:rect r="r" b="b" t="t" l="l"/>
            <a:pathLst>
              <a:path h="4995052" w="5154368">
                <a:moveTo>
                  <a:pt x="0" y="0"/>
                </a:moveTo>
                <a:lnTo>
                  <a:pt x="5154368" y="0"/>
                </a:lnTo>
                <a:lnTo>
                  <a:pt x="5154368" y="4995051"/>
                </a:lnTo>
                <a:lnTo>
                  <a:pt x="0" y="49950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2770156">
            <a:off x="15710816" y="8522875"/>
            <a:ext cx="5154368" cy="4995052"/>
          </a:xfrm>
          <a:custGeom>
            <a:avLst/>
            <a:gdLst/>
            <a:ahLst/>
            <a:cxnLst/>
            <a:rect r="r" b="b" t="t" l="l"/>
            <a:pathLst>
              <a:path h="4995052" w="5154368">
                <a:moveTo>
                  <a:pt x="0" y="0"/>
                </a:moveTo>
                <a:lnTo>
                  <a:pt x="5154368" y="0"/>
                </a:lnTo>
                <a:lnTo>
                  <a:pt x="5154368" y="4995052"/>
                </a:lnTo>
                <a:lnTo>
                  <a:pt x="0" y="49950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7" id="7"/>
          <p:cNvSpPr txBox="true"/>
          <p:nvPr/>
        </p:nvSpPr>
        <p:spPr>
          <a:xfrm rot="0">
            <a:off x="2526598" y="4537640"/>
            <a:ext cx="13776722" cy="1145045"/>
          </a:xfrm>
          <a:prstGeom prst="rect">
            <a:avLst/>
          </a:prstGeom>
        </p:spPr>
        <p:txBody>
          <a:bodyPr anchor="t" rtlCol="false" tIns="0" lIns="0" bIns="0" rIns="0">
            <a:spAutoFit/>
          </a:bodyPr>
          <a:lstStyle/>
          <a:p>
            <a:pPr algn="ctr">
              <a:lnSpc>
                <a:spcPts val="4612"/>
              </a:lnSpc>
            </a:pPr>
            <a:r>
              <a:rPr lang="en-US" sz="3294" spc="72">
                <a:solidFill>
                  <a:srgbClr val="152540"/>
                </a:solidFill>
                <a:latin typeface="Glacial Indifference"/>
                <a:ea typeface="Glacial Indifference"/>
                <a:cs typeface="Glacial Indifference"/>
                <a:sym typeface="Glacial Indifference"/>
              </a:rPr>
              <a:t>Vici</a:t>
            </a:r>
            <a:r>
              <a:rPr lang="en-US" sz="3294" spc="72" strike="noStrike" u="none">
                <a:solidFill>
                  <a:srgbClr val="152540"/>
                </a:solidFill>
                <a:latin typeface="Glacial Indifference"/>
                <a:ea typeface="Glacial Indifference"/>
                <a:cs typeface="Glacial Indifference"/>
                <a:sym typeface="Glacial Indifference"/>
              </a:rPr>
              <a:t>o de dicción que consiste en el uso de palabras imprecisas, generales o poco claras que dificultan la comprensión del mensaje.</a:t>
            </a:r>
          </a:p>
        </p:txBody>
      </p:sp>
      <p:sp>
        <p:nvSpPr>
          <p:cNvPr name="TextBox 8" id="8"/>
          <p:cNvSpPr txBox="true"/>
          <p:nvPr/>
        </p:nvSpPr>
        <p:spPr>
          <a:xfrm rot="0">
            <a:off x="5659591" y="1653246"/>
            <a:ext cx="7543218" cy="2094808"/>
          </a:xfrm>
          <a:prstGeom prst="rect">
            <a:avLst/>
          </a:prstGeom>
        </p:spPr>
        <p:txBody>
          <a:bodyPr anchor="t" rtlCol="false" tIns="0" lIns="0" bIns="0" rIns="0">
            <a:spAutoFit/>
          </a:bodyPr>
          <a:lstStyle/>
          <a:p>
            <a:pPr algn="ctr">
              <a:lnSpc>
                <a:spcPts val="8438"/>
              </a:lnSpc>
            </a:pPr>
            <a:r>
              <a:rPr lang="en-US" b="true" sz="6027" spc="566">
                <a:solidFill>
                  <a:srgbClr val="152540"/>
                </a:solidFill>
                <a:latin typeface="Glacial Indifference Bold"/>
                <a:ea typeface="Glacial Indifference Bold"/>
                <a:cs typeface="Glacial Indifference Bold"/>
                <a:sym typeface="Glacial Indifference Bold"/>
              </a:rPr>
              <a:t>20. VAGUEDAD LÉXICA.</a:t>
            </a:r>
          </a:p>
        </p:txBody>
      </p:sp>
    </p:spTree>
  </p:cSld>
  <p:clrMapOvr>
    <a:masterClrMapping/>
  </p:clrMapOvr>
</p:sld>
</file>

<file path=ppt/slides/slide69.xml><?xml version="1.0" encoding="utf-8"?>
<p:sld xmlns:p="http://schemas.openxmlformats.org/presentationml/2006/main" xmlns:a="http://schemas.openxmlformats.org/drawingml/2006/main" xmlns:r="http://schemas.openxmlformats.org/officeDocument/2006/relationships">
  <p:cSld>
    <p:bg>
      <p:bgPr>
        <a:solidFill>
          <a:srgbClr val="EDE8E4"/>
        </a:solidFill>
      </p:bgPr>
    </p:bg>
    <p:spTree>
      <p:nvGrpSpPr>
        <p:cNvPr id="1" name=""/>
        <p:cNvGrpSpPr/>
        <p:nvPr/>
      </p:nvGrpSpPr>
      <p:grpSpPr>
        <a:xfrm>
          <a:off x="0" y="0"/>
          <a:ext cx="0" cy="0"/>
          <a:chOff x="0" y="0"/>
          <a:chExt cx="0" cy="0"/>
        </a:xfrm>
      </p:grpSpPr>
      <p:sp>
        <p:nvSpPr>
          <p:cNvPr name="Freeform 2" id="2"/>
          <p:cNvSpPr/>
          <p:nvPr/>
        </p:nvSpPr>
        <p:spPr>
          <a:xfrm flipH="false" flipV="false" rot="-445925">
            <a:off x="3142738" y="-769394"/>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8798399">
            <a:off x="8466276" y="-9590538"/>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3283157">
            <a:off x="-1501206" y="7329841"/>
            <a:ext cx="5624862" cy="7545546"/>
          </a:xfrm>
          <a:custGeom>
            <a:avLst/>
            <a:gdLst/>
            <a:ahLst/>
            <a:cxnLst/>
            <a:rect r="r" b="b" t="t" l="l"/>
            <a:pathLst>
              <a:path h="7545546" w="5624862">
                <a:moveTo>
                  <a:pt x="0" y="0"/>
                </a:moveTo>
                <a:lnTo>
                  <a:pt x="5624862" y="0"/>
                </a:lnTo>
                <a:lnTo>
                  <a:pt x="5624862" y="7545546"/>
                </a:lnTo>
                <a:lnTo>
                  <a:pt x="0" y="75455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2770156">
            <a:off x="-2577184" y="-2165857"/>
            <a:ext cx="5154368" cy="4995052"/>
          </a:xfrm>
          <a:custGeom>
            <a:avLst/>
            <a:gdLst/>
            <a:ahLst/>
            <a:cxnLst/>
            <a:rect r="r" b="b" t="t" l="l"/>
            <a:pathLst>
              <a:path h="4995052" w="5154368">
                <a:moveTo>
                  <a:pt x="0" y="0"/>
                </a:moveTo>
                <a:lnTo>
                  <a:pt x="5154368" y="0"/>
                </a:lnTo>
                <a:lnTo>
                  <a:pt x="5154368" y="4995051"/>
                </a:lnTo>
                <a:lnTo>
                  <a:pt x="0" y="49950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2770156">
            <a:off x="15710816" y="8522875"/>
            <a:ext cx="5154368" cy="4995052"/>
          </a:xfrm>
          <a:custGeom>
            <a:avLst/>
            <a:gdLst/>
            <a:ahLst/>
            <a:cxnLst/>
            <a:rect r="r" b="b" t="t" l="l"/>
            <a:pathLst>
              <a:path h="4995052" w="5154368">
                <a:moveTo>
                  <a:pt x="0" y="0"/>
                </a:moveTo>
                <a:lnTo>
                  <a:pt x="5154368" y="0"/>
                </a:lnTo>
                <a:lnTo>
                  <a:pt x="5154368" y="4995052"/>
                </a:lnTo>
                <a:lnTo>
                  <a:pt x="0" y="49950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7" id="7"/>
          <p:cNvSpPr txBox="true"/>
          <p:nvPr/>
        </p:nvSpPr>
        <p:spPr>
          <a:xfrm rot="0">
            <a:off x="2526598" y="3106080"/>
            <a:ext cx="13776722" cy="4050170"/>
          </a:xfrm>
          <a:prstGeom prst="rect">
            <a:avLst/>
          </a:prstGeom>
        </p:spPr>
        <p:txBody>
          <a:bodyPr anchor="t" rtlCol="false" tIns="0" lIns="0" bIns="0" rIns="0">
            <a:spAutoFit/>
          </a:bodyPr>
          <a:lstStyle/>
          <a:p>
            <a:pPr algn="ctr">
              <a:lnSpc>
                <a:spcPts val="4612"/>
              </a:lnSpc>
            </a:pPr>
            <a:r>
              <a:rPr lang="en-US" sz="3294" spc="72">
                <a:solidFill>
                  <a:srgbClr val="152540"/>
                </a:solidFill>
                <a:latin typeface="Glacial Indifference"/>
                <a:ea typeface="Glacial Indifference"/>
                <a:cs typeface="Glacial Indifference"/>
                <a:sym typeface="Glacial Indifference"/>
              </a:rPr>
              <a:t>Es</a:t>
            </a:r>
            <a:r>
              <a:rPr lang="en-US" sz="3294" spc="72" strike="noStrike" u="none">
                <a:solidFill>
                  <a:srgbClr val="152540"/>
                </a:solidFill>
                <a:latin typeface="Glacial Indifference"/>
                <a:ea typeface="Glacial Indifference"/>
                <a:cs typeface="Glacial Indifference"/>
                <a:sym typeface="Glacial Indifference"/>
              </a:rPr>
              <a:t>e asunto está raro. (No especifica qué es “raro”)</a:t>
            </a:r>
          </a:p>
          <a:p>
            <a:pPr algn="ctr">
              <a:lnSpc>
                <a:spcPts val="4612"/>
              </a:lnSpc>
            </a:pPr>
          </a:p>
          <a:p>
            <a:pPr algn="ctr">
              <a:lnSpc>
                <a:spcPts val="4612"/>
              </a:lnSpc>
            </a:pPr>
            <a:r>
              <a:rPr lang="en-US" sz="3294" spc="72" strike="noStrike" u="none">
                <a:solidFill>
                  <a:srgbClr val="152540"/>
                </a:solidFill>
                <a:latin typeface="Glacial Indifference"/>
                <a:ea typeface="Glacial Indifference"/>
                <a:cs typeface="Glacial Indifference"/>
                <a:sym typeface="Glacial Indifference"/>
              </a:rPr>
              <a:t>Dame esa cosa. (No se define el objeto)</a:t>
            </a:r>
          </a:p>
          <a:p>
            <a:pPr algn="ctr">
              <a:lnSpc>
                <a:spcPts val="4612"/>
              </a:lnSpc>
            </a:pPr>
          </a:p>
          <a:p>
            <a:pPr algn="ctr">
              <a:lnSpc>
                <a:spcPts val="4612"/>
              </a:lnSpc>
            </a:pPr>
            <a:r>
              <a:rPr lang="en-US" sz="3294" spc="72" strike="noStrike" u="none">
                <a:solidFill>
                  <a:srgbClr val="152540"/>
                </a:solidFill>
                <a:latin typeface="Glacial Indifference"/>
                <a:ea typeface="Glacial Indifference"/>
                <a:cs typeface="Glacial Indifference"/>
                <a:sym typeface="Glacial Indifference"/>
              </a:rPr>
              <a:t>Tengo problemas con eso. (No se explica qué problema ni a qué se refiere).</a:t>
            </a:r>
          </a:p>
          <a:p>
            <a:pPr algn="ctr">
              <a:lnSpc>
                <a:spcPts val="4612"/>
              </a:lnSpc>
            </a:pPr>
          </a:p>
        </p:txBody>
      </p:sp>
      <p:sp>
        <p:nvSpPr>
          <p:cNvPr name="TextBox 8" id="8"/>
          <p:cNvSpPr txBox="true"/>
          <p:nvPr/>
        </p:nvSpPr>
        <p:spPr>
          <a:xfrm rot="0">
            <a:off x="5643351" y="1369075"/>
            <a:ext cx="7543218" cy="1028008"/>
          </a:xfrm>
          <a:prstGeom prst="rect">
            <a:avLst/>
          </a:prstGeom>
        </p:spPr>
        <p:txBody>
          <a:bodyPr anchor="t" rtlCol="false" tIns="0" lIns="0" bIns="0" rIns="0">
            <a:spAutoFit/>
          </a:bodyPr>
          <a:lstStyle/>
          <a:p>
            <a:pPr algn="ctr">
              <a:lnSpc>
                <a:spcPts val="8438"/>
              </a:lnSpc>
            </a:pPr>
            <a:r>
              <a:rPr lang="en-US" b="true" sz="6027" spc="566">
                <a:solidFill>
                  <a:srgbClr val="152540"/>
                </a:solidFill>
                <a:latin typeface="Glacial Indifference Bold"/>
                <a:ea typeface="Glacial Indifference Bold"/>
                <a:cs typeface="Glacial Indifference Bold"/>
                <a:sym typeface="Glacial Indifference Bold"/>
              </a:rPr>
              <a:t>EJEMPLOS:</a:t>
            </a:r>
          </a:p>
        </p:txBody>
      </p:sp>
    </p:spTree>
  </p:cSld>
  <p:clrMapOvr>
    <a:masterClrMapping/>
  </p:clrMapOvr>
</p:sld>
</file>

<file path=ppt/slides/slide70.xml><?xml version="1.0" encoding="utf-8"?>
<p:sld xmlns:p="http://schemas.openxmlformats.org/presentationml/2006/main" xmlns:a="http://schemas.openxmlformats.org/drawingml/2006/main" xmlns:r="http://schemas.openxmlformats.org/officeDocument/2006/relationships">
  <p:cSld>
    <p:bg>
      <p:bgPr>
        <a:solidFill>
          <a:srgbClr val="EDE8E4"/>
        </a:solidFill>
      </p:bgPr>
    </p:bg>
    <p:spTree>
      <p:nvGrpSpPr>
        <p:cNvPr id="1" name=""/>
        <p:cNvGrpSpPr/>
        <p:nvPr/>
      </p:nvGrpSpPr>
      <p:grpSpPr>
        <a:xfrm>
          <a:off x="0" y="0"/>
          <a:ext cx="0" cy="0"/>
          <a:chOff x="0" y="0"/>
          <a:chExt cx="0" cy="0"/>
        </a:xfrm>
      </p:grpSpPr>
      <p:sp>
        <p:nvSpPr>
          <p:cNvPr name="Freeform 2" id="2"/>
          <p:cNvSpPr/>
          <p:nvPr/>
        </p:nvSpPr>
        <p:spPr>
          <a:xfrm flipH="false" flipV="false" rot="-445925">
            <a:off x="3142738" y="-769394"/>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8798399">
            <a:off x="8466276" y="-9590538"/>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3283157">
            <a:off x="-1501206" y="7329841"/>
            <a:ext cx="5624862" cy="7545546"/>
          </a:xfrm>
          <a:custGeom>
            <a:avLst/>
            <a:gdLst/>
            <a:ahLst/>
            <a:cxnLst/>
            <a:rect r="r" b="b" t="t" l="l"/>
            <a:pathLst>
              <a:path h="7545546" w="5624862">
                <a:moveTo>
                  <a:pt x="0" y="0"/>
                </a:moveTo>
                <a:lnTo>
                  <a:pt x="5624862" y="0"/>
                </a:lnTo>
                <a:lnTo>
                  <a:pt x="5624862" y="7545546"/>
                </a:lnTo>
                <a:lnTo>
                  <a:pt x="0" y="75455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2770156">
            <a:off x="-2577184" y="-2165857"/>
            <a:ext cx="5154368" cy="4995052"/>
          </a:xfrm>
          <a:custGeom>
            <a:avLst/>
            <a:gdLst/>
            <a:ahLst/>
            <a:cxnLst/>
            <a:rect r="r" b="b" t="t" l="l"/>
            <a:pathLst>
              <a:path h="4995052" w="5154368">
                <a:moveTo>
                  <a:pt x="0" y="0"/>
                </a:moveTo>
                <a:lnTo>
                  <a:pt x="5154368" y="0"/>
                </a:lnTo>
                <a:lnTo>
                  <a:pt x="5154368" y="4995051"/>
                </a:lnTo>
                <a:lnTo>
                  <a:pt x="0" y="49950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2770156">
            <a:off x="15710816" y="8522875"/>
            <a:ext cx="5154368" cy="4995052"/>
          </a:xfrm>
          <a:custGeom>
            <a:avLst/>
            <a:gdLst/>
            <a:ahLst/>
            <a:cxnLst/>
            <a:rect r="r" b="b" t="t" l="l"/>
            <a:pathLst>
              <a:path h="4995052" w="5154368">
                <a:moveTo>
                  <a:pt x="0" y="0"/>
                </a:moveTo>
                <a:lnTo>
                  <a:pt x="5154368" y="0"/>
                </a:lnTo>
                <a:lnTo>
                  <a:pt x="5154368" y="4995052"/>
                </a:lnTo>
                <a:lnTo>
                  <a:pt x="0" y="49950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7" id="7"/>
          <p:cNvSpPr txBox="true"/>
          <p:nvPr/>
        </p:nvSpPr>
        <p:spPr>
          <a:xfrm rot="0">
            <a:off x="2526598" y="3495456"/>
            <a:ext cx="13776722" cy="2307095"/>
          </a:xfrm>
          <a:prstGeom prst="rect">
            <a:avLst/>
          </a:prstGeom>
        </p:spPr>
        <p:txBody>
          <a:bodyPr anchor="t" rtlCol="false" tIns="0" lIns="0" bIns="0" rIns="0">
            <a:spAutoFit/>
          </a:bodyPr>
          <a:lstStyle/>
          <a:p>
            <a:pPr algn="ctr">
              <a:lnSpc>
                <a:spcPts val="4612"/>
              </a:lnSpc>
            </a:pPr>
            <a:r>
              <a:rPr lang="en-US" sz="3294" spc="72">
                <a:solidFill>
                  <a:srgbClr val="152540"/>
                </a:solidFill>
                <a:latin typeface="Glacial Indifference"/>
                <a:ea typeface="Glacial Indifference"/>
                <a:cs typeface="Glacial Indifference"/>
                <a:sym typeface="Glacial Indifference"/>
              </a:rPr>
              <a:t>R</a:t>
            </a:r>
            <a:r>
              <a:rPr lang="en-US" sz="3294" spc="72" strike="noStrike" u="none">
                <a:solidFill>
                  <a:srgbClr val="152540"/>
                </a:solidFill>
                <a:latin typeface="Glacial Indifference"/>
                <a:ea typeface="Glacial Indifference"/>
                <a:cs typeface="Glacial Indifference"/>
                <a:sym typeface="Glacial Indifference"/>
              </a:rPr>
              <a:t>eescribe la oración haciéndola más clara y específica:</a:t>
            </a:r>
          </a:p>
          <a:p>
            <a:pPr algn="ctr">
              <a:lnSpc>
                <a:spcPts val="4612"/>
              </a:lnSpc>
            </a:pPr>
          </a:p>
          <a:p>
            <a:pPr algn="ctr">
              <a:lnSpc>
                <a:spcPts val="4612"/>
              </a:lnSpc>
            </a:pPr>
            <a:r>
              <a:rPr lang="en-US" sz="3294" spc="72" strike="noStrike" u="none">
                <a:solidFill>
                  <a:srgbClr val="152540"/>
                </a:solidFill>
                <a:latin typeface="Glacial Indifference"/>
                <a:ea typeface="Glacial Indifference"/>
                <a:cs typeface="Glacial Indifference"/>
                <a:sym typeface="Glacial Indifference"/>
              </a:rPr>
              <a:t> </a:t>
            </a:r>
            <a:r>
              <a:rPr lang="en-US" sz="3294" spc="72" strike="noStrike" u="none">
                <a:solidFill>
                  <a:srgbClr val="152540"/>
                </a:solidFill>
                <a:latin typeface="Glacial Indifference"/>
                <a:ea typeface="Glacial Indifference"/>
                <a:cs typeface="Glacial Indifference"/>
                <a:sym typeface="Glacial Indifference"/>
              </a:rPr>
              <a:t>“Eso que hiciste está mal.”</a:t>
            </a:r>
          </a:p>
          <a:p>
            <a:pPr algn="ctr">
              <a:lnSpc>
                <a:spcPts val="4612"/>
              </a:lnSpc>
            </a:pPr>
          </a:p>
        </p:txBody>
      </p:sp>
      <p:sp>
        <p:nvSpPr>
          <p:cNvPr name="TextBox 8" id="8"/>
          <p:cNvSpPr txBox="true"/>
          <p:nvPr/>
        </p:nvSpPr>
        <p:spPr>
          <a:xfrm rot="0">
            <a:off x="5643351" y="1369075"/>
            <a:ext cx="7543218" cy="1028008"/>
          </a:xfrm>
          <a:prstGeom prst="rect">
            <a:avLst/>
          </a:prstGeom>
        </p:spPr>
        <p:txBody>
          <a:bodyPr anchor="t" rtlCol="false" tIns="0" lIns="0" bIns="0" rIns="0">
            <a:spAutoFit/>
          </a:bodyPr>
          <a:lstStyle/>
          <a:p>
            <a:pPr algn="ctr">
              <a:lnSpc>
                <a:spcPts val="8438"/>
              </a:lnSpc>
            </a:pPr>
            <a:r>
              <a:rPr lang="en-US" b="true" sz="6027" spc="566">
                <a:solidFill>
                  <a:srgbClr val="152540"/>
                </a:solidFill>
                <a:latin typeface="Glacial Indifference Bold"/>
                <a:ea typeface="Glacial Indifference Bold"/>
                <a:cs typeface="Glacial Indifference Bold"/>
                <a:sym typeface="Glacial Indifference Bold"/>
              </a:rPr>
              <a:t>EJERCICIO:</a:t>
            </a:r>
          </a:p>
        </p:txBody>
      </p:sp>
    </p:spTree>
  </p:cSld>
  <p:clrMapOvr>
    <a:masterClrMapping/>
  </p:clrMapOvr>
</p:sld>
</file>

<file path=ppt/slides/slide71.xml><?xml version="1.0" encoding="utf-8"?>
<p:sld xmlns:p="http://schemas.openxmlformats.org/presentationml/2006/main" xmlns:a="http://schemas.openxmlformats.org/drawingml/2006/main" xmlns:r="http://schemas.openxmlformats.org/officeDocument/2006/relationships">
  <p:cSld>
    <p:bg>
      <p:bgPr>
        <a:solidFill>
          <a:srgbClr val="EDE8E4"/>
        </a:solidFill>
      </p:bgPr>
    </p:bg>
    <p:spTree>
      <p:nvGrpSpPr>
        <p:cNvPr id="1" name=""/>
        <p:cNvGrpSpPr/>
        <p:nvPr/>
      </p:nvGrpSpPr>
      <p:grpSpPr>
        <a:xfrm>
          <a:off x="0" y="0"/>
          <a:ext cx="0" cy="0"/>
          <a:chOff x="0" y="0"/>
          <a:chExt cx="0" cy="0"/>
        </a:xfrm>
      </p:grpSpPr>
      <p:sp>
        <p:nvSpPr>
          <p:cNvPr name="Freeform 2" id="2"/>
          <p:cNvSpPr/>
          <p:nvPr/>
        </p:nvSpPr>
        <p:spPr>
          <a:xfrm flipH="false" flipV="false" rot="-445925">
            <a:off x="3142738" y="-769394"/>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8798399">
            <a:off x="8466276" y="-9590538"/>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3283157">
            <a:off x="-1501206" y="7329841"/>
            <a:ext cx="5624862" cy="7545546"/>
          </a:xfrm>
          <a:custGeom>
            <a:avLst/>
            <a:gdLst/>
            <a:ahLst/>
            <a:cxnLst/>
            <a:rect r="r" b="b" t="t" l="l"/>
            <a:pathLst>
              <a:path h="7545546" w="5624862">
                <a:moveTo>
                  <a:pt x="0" y="0"/>
                </a:moveTo>
                <a:lnTo>
                  <a:pt x="5624862" y="0"/>
                </a:lnTo>
                <a:lnTo>
                  <a:pt x="5624862" y="7545546"/>
                </a:lnTo>
                <a:lnTo>
                  <a:pt x="0" y="75455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2770156">
            <a:off x="-2577184" y="-2165857"/>
            <a:ext cx="5154368" cy="4995052"/>
          </a:xfrm>
          <a:custGeom>
            <a:avLst/>
            <a:gdLst/>
            <a:ahLst/>
            <a:cxnLst/>
            <a:rect r="r" b="b" t="t" l="l"/>
            <a:pathLst>
              <a:path h="4995052" w="5154368">
                <a:moveTo>
                  <a:pt x="0" y="0"/>
                </a:moveTo>
                <a:lnTo>
                  <a:pt x="5154368" y="0"/>
                </a:lnTo>
                <a:lnTo>
                  <a:pt x="5154368" y="4995051"/>
                </a:lnTo>
                <a:lnTo>
                  <a:pt x="0" y="49950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2770156">
            <a:off x="15710816" y="8522875"/>
            <a:ext cx="5154368" cy="4995052"/>
          </a:xfrm>
          <a:custGeom>
            <a:avLst/>
            <a:gdLst/>
            <a:ahLst/>
            <a:cxnLst/>
            <a:rect r="r" b="b" t="t" l="l"/>
            <a:pathLst>
              <a:path h="4995052" w="5154368">
                <a:moveTo>
                  <a:pt x="0" y="0"/>
                </a:moveTo>
                <a:lnTo>
                  <a:pt x="5154368" y="0"/>
                </a:lnTo>
                <a:lnTo>
                  <a:pt x="5154368" y="4995052"/>
                </a:lnTo>
                <a:lnTo>
                  <a:pt x="0" y="49950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7" id="7"/>
          <p:cNvSpPr txBox="true"/>
          <p:nvPr/>
        </p:nvSpPr>
        <p:spPr>
          <a:xfrm rot="0">
            <a:off x="1609148" y="3042263"/>
            <a:ext cx="15524378" cy="4187329"/>
          </a:xfrm>
          <a:prstGeom prst="rect">
            <a:avLst/>
          </a:prstGeom>
        </p:spPr>
        <p:txBody>
          <a:bodyPr anchor="t" rtlCol="false" tIns="0" lIns="0" bIns="0" rIns="0">
            <a:spAutoFit/>
          </a:bodyPr>
          <a:lstStyle/>
          <a:p>
            <a:pPr algn="l" marL="516975" indent="-258487" lvl="1">
              <a:lnSpc>
                <a:spcPts val="3352"/>
              </a:lnSpc>
              <a:buFont typeface="Arial"/>
              <a:buChar char="•"/>
            </a:pPr>
            <a:r>
              <a:rPr lang="en-US" sz="2394" spc="52">
                <a:solidFill>
                  <a:srgbClr val="152540"/>
                </a:solidFill>
                <a:latin typeface="Glacial Indifference"/>
                <a:ea typeface="Glacial Indifference"/>
                <a:cs typeface="Glacial Indifference"/>
                <a:sym typeface="Glacial Indifference"/>
              </a:rPr>
              <a:t>1. Ambigüedad:</a:t>
            </a:r>
            <a:r>
              <a:rPr lang="en-US" sz="2394" spc="52" u="sng">
                <a:solidFill>
                  <a:srgbClr val="152540"/>
                </a:solidFill>
                <a:latin typeface="Glacial Indifference"/>
                <a:ea typeface="Glacial Indifference"/>
                <a:cs typeface="Glacial Indifference"/>
                <a:sym typeface="Glacial Indifference"/>
                <a:hlinkClick r:id="rId8" tooltip="https://www.rae.es/gtg/ambig%C3%BCedad"/>
              </a:rPr>
              <a:t>http</a:t>
            </a:r>
            <a:r>
              <a:rPr lang="en-US" sz="2394" spc="52" u="sng">
                <a:solidFill>
                  <a:srgbClr val="152540"/>
                </a:solidFill>
                <a:latin typeface="Glacial Indifference"/>
                <a:ea typeface="Glacial Indifference"/>
                <a:cs typeface="Glacial Indifference"/>
                <a:sym typeface="Glacial Indifference"/>
                <a:hlinkClick r:id="rId9" tooltip="https://www.rae.es/gtg/ambig%C3%BCedad"/>
              </a:rPr>
              <a:t>s://www.ra</a:t>
            </a:r>
            <a:r>
              <a:rPr lang="en-US" sz="2394" spc="52" strike="noStrike" u="sng">
                <a:solidFill>
                  <a:srgbClr val="152540"/>
                </a:solidFill>
                <a:latin typeface="Glacial Indifference"/>
                <a:ea typeface="Glacial Indifference"/>
                <a:cs typeface="Glacial Indifference"/>
                <a:sym typeface="Glacial Indifference"/>
                <a:hlinkClick r:id="rId10" tooltip="https://www.rae.es/gtg/ambig%C3%BCedad"/>
              </a:rPr>
              <a:t>e.es/gtg/ambig%C3%BCeda</a:t>
            </a:r>
            <a:r>
              <a:rPr lang="en-US" sz="2394" spc="52" strike="noStrike" u="none">
                <a:solidFill>
                  <a:srgbClr val="152540"/>
                </a:solidFill>
                <a:latin typeface="Glacial Indifference"/>
                <a:ea typeface="Glacial Indifference"/>
                <a:cs typeface="Glacial Indifference"/>
                <a:sym typeface="Glacial Indifference"/>
              </a:rPr>
              <a:t>d </a:t>
            </a:r>
            <a:r>
              <a:rPr lang="en-US" sz="2394" spc="52" strike="noStrike" u="sng">
                <a:solidFill>
                  <a:srgbClr val="152540"/>
                </a:solidFill>
                <a:latin typeface="Glacial Indifference"/>
                <a:ea typeface="Glacial Indifference"/>
                <a:cs typeface="Glacial Indifference"/>
                <a:sym typeface="Glacial Indifference"/>
                <a:hlinkClick r:id="rId11" tooltip="https://www.ejemplos.co/20-ejemplos-de-ambiguedad/"/>
              </a:rPr>
              <a:t>https://www.ejemplos.co/20-ejemplos-de-ambiguedad/</a:t>
            </a:r>
          </a:p>
          <a:p>
            <a:pPr algn="l" marL="516975" indent="-258487" lvl="1">
              <a:lnSpc>
                <a:spcPts val="3352"/>
              </a:lnSpc>
              <a:buFont typeface="Arial"/>
              <a:buChar char="•"/>
            </a:pPr>
            <a:r>
              <a:rPr lang="en-US" sz="2394" spc="52" strike="noStrike" u="none">
                <a:solidFill>
                  <a:srgbClr val="152540"/>
                </a:solidFill>
                <a:latin typeface="Glacial Indifference"/>
                <a:ea typeface="Glacial Indifference"/>
                <a:cs typeface="Glacial Indifference"/>
                <a:sym typeface="Glacial Indifference"/>
              </a:rPr>
              <a:t>2. Arcaísmo: </a:t>
            </a:r>
            <a:r>
              <a:rPr lang="en-US" sz="2394" spc="52" strike="noStrike" u="sng">
                <a:solidFill>
                  <a:srgbClr val="152540"/>
                </a:solidFill>
                <a:latin typeface="Glacial Indifference"/>
                <a:ea typeface="Glacial Indifference"/>
                <a:cs typeface="Glacial Indifference"/>
                <a:sym typeface="Glacial Indifference"/>
                <a:hlinkClick r:id="rId12" tooltip="https://concepto.de/arcaismos/"/>
              </a:rPr>
              <a:t>https://concepto.de/arcaismos/</a:t>
            </a:r>
          </a:p>
          <a:p>
            <a:pPr algn="l" marL="516975" indent="-258487" lvl="1">
              <a:lnSpc>
                <a:spcPts val="3352"/>
              </a:lnSpc>
              <a:buFont typeface="Arial"/>
              <a:buChar char="•"/>
            </a:pPr>
            <a:r>
              <a:rPr lang="en-US" sz="2394" spc="52" strike="noStrike" u="sng">
                <a:solidFill>
                  <a:srgbClr val="152540"/>
                </a:solidFill>
                <a:latin typeface="Glacial Indifference"/>
                <a:ea typeface="Glacial Indifference"/>
                <a:cs typeface="Glacial Indifference"/>
                <a:sym typeface="Glacial Indifference"/>
                <a:hlinkClick r:id="rId13" tooltip="https://www.ejemplos.co/50-ejemplos-de-arcaismos/"/>
              </a:rPr>
              <a:t>https://www.ejemplos.co/50-ejemplos-de-arcaismos/</a:t>
            </a:r>
          </a:p>
          <a:p>
            <a:pPr algn="l" marL="516975" indent="-258487" lvl="1">
              <a:lnSpc>
                <a:spcPts val="3352"/>
              </a:lnSpc>
              <a:buFont typeface="Arial"/>
              <a:buChar char="•"/>
            </a:pPr>
            <a:r>
              <a:rPr lang="en-US" sz="2394" spc="52" strike="noStrike" u="none">
                <a:solidFill>
                  <a:srgbClr val="152540"/>
                </a:solidFill>
                <a:latin typeface="Glacial Indifference"/>
                <a:ea typeface="Glacial Indifference"/>
                <a:cs typeface="Glacial Indifference"/>
                <a:sym typeface="Glacial Indifference"/>
              </a:rPr>
              <a:t>3. barbarismo: </a:t>
            </a:r>
            <a:r>
              <a:rPr lang="en-US" sz="2394" spc="52" strike="noStrike" u="sng">
                <a:solidFill>
                  <a:srgbClr val="152540"/>
                </a:solidFill>
                <a:latin typeface="Glacial Indifference"/>
                <a:ea typeface="Glacial Indifference"/>
                <a:cs typeface="Glacial Indifference"/>
                <a:sym typeface="Glacial Indifference"/>
                <a:hlinkClick r:id="rId14" tooltip="https://concepto.de/barbarismo/"/>
              </a:rPr>
              <a:t>https://concepto.de/barbarismo/</a:t>
            </a:r>
            <a:r>
              <a:rPr lang="en-US" sz="2394" spc="52" strike="noStrike" u="none">
                <a:solidFill>
                  <a:srgbClr val="152540"/>
                </a:solidFill>
                <a:latin typeface="Glacial Indifference"/>
                <a:ea typeface="Glacial Indifference"/>
                <a:cs typeface="Glacial Indifference"/>
                <a:sym typeface="Glacial Indifference"/>
              </a:rPr>
              <a:t> </a:t>
            </a:r>
          </a:p>
          <a:p>
            <a:pPr algn="l" marL="516975" indent="-258487" lvl="1">
              <a:lnSpc>
                <a:spcPts val="3352"/>
              </a:lnSpc>
              <a:buFont typeface="Arial"/>
              <a:buChar char="•"/>
            </a:pPr>
            <a:r>
              <a:rPr lang="en-US" sz="2394" spc="52" strike="noStrike" u="none">
                <a:solidFill>
                  <a:srgbClr val="152540"/>
                </a:solidFill>
                <a:latin typeface="Glacial Indifference"/>
                <a:ea typeface="Glacial Indifference"/>
                <a:cs typeface="Glacial Indifference"/>
                <a:sym typeface="Glacial Indifference"/>
              </a:rPr>
              <a:t>4. Cacofonía: </a:t>
            </a:r>
            <a:r>
              <a:rPr lang="en-US" sz="2394" spc="52" strike="noStrike" u="sng">
                <a:solidFill>
                  <a:srgbClr val="152540"/>
                </a:solidFill>
                <a:latin typeface="Glacial Indifference"/>
                <a:ea typeface="Glacial Indifference"/>
                <a:cs typeface="Glacial Indifference"/>
                <a:sym typeface="Glacial Indifference"/>
                <a:hlinkClick r:id="rId15" tooltip="https://www.ejemplos.co/cacofonia/"/>
              </a:rPr>
              <a:t> https://www.ejemplos.co/cacofonia/</a:t>
            </a:r>
          </a:p>
          <a:p>
            <a:pPr algn="l" marL="516975" indent="-258487" lvl="1">
              <a:lnSpc>
                <a:spcPts val="3352"/>
              </a:lnSpc>
              <a:buFont typeface="Arial"/>
              <a:buChar char="•"/>
            </a:pPr>
            <a:r>
              <a:rPr lang="en-US" sz="2394" spc="52" strike="noStrike" u="none">
                <a:solidFill>
                  <a:srgbClr val="152540"/>
                </a:solidFill>
                <a:latin typeface="Glacial Indifference"/>
                <a:ea typeface="Glacial Indifference"/>
                <a:cs typeface="Glacial Indifference"/>
                <a:sym typeface="Glacial Indifference"/>
              </a:rPr>
              <a:t>5. Cosismo: </a:t>
            </a:r>
            <a:r>
              <a:rPr lang="en-US" sz="2394" spc="52" strike="noStrike" u="sng">
                <a:solidFill>
                  <a:srgbClr val="152540"/>
                </a:solidFill>
                <a:latin typeface="Glacial Indifference"/>
                <a:ea typeface="Glacial Indifference"/>
                <a:cs typeface="Glacial Indifference"/>
                <a:sym typeface="Glacial Indifference"/>
                <a:hlinkClick r:id="rId16" tooltip="https://centroescritura.tec.mx/es/noticia/cosismo-y-calcos-del-ingles-como-evitarlos"/>
              </a:rPr>
              <a:t>https://centroescritura.tec.mx/es/noticia/cosismo-y-calcos-del-ingles-como-evitarlos</a:t>
            </a:r>
          </a:p>
          <a:p>
            <a:pPr algn="l" marL="516975" indent="-258487" lvl="1">
              <a:lnSpc>
                <a:spcPts val="3352"/>
              </a:lnSpc>
              <a:buFont typeface="Arial"/>
              <a:buChar char="•"/>
            </a:pPr>
            <a:r>
              <a:rPr lang="en-US" sz="2394" spc="52" strike="noStrike" u="none">
                <a:solidFill>
                  <a:srgbClr val="152540"/>
                </a:solidFill>
                <a:latin typeface="Glacial Indifference"/>
                <a:ea typeface="Glacial Indifference"/>
                <a:cs typeface="Glacial Indifference"/>
                <a:sym typeface="Glacial Indifference"/>
              </a:rPr>
              <a:t>6. Dequeísmo: </a:t>
            </a:r>
            <a:r>
              <a:rPr lang="en-US" sz="2394" spc="52" strike="noStrike" u="sng">
                <a:solidFill>
                  <a:srgbClr val="152540"/>
                </a:solidFill>
                <a:latin typeface="Glacial Indifference"/>
                <a:ea typeface="Glacial Indifference"/>
                <a:cs typeface="Glacial Indifference"/>
                <a:sym typeface="Glacial Indifference"/>
                <a:hlinkClick r:id="rId17" tooltip="https://es.wikipedia.org/wiki/Deque%C3%ADsmo"/>
              </a:rPr>
              <a:t>https://es.wikipedia.org/wiki/Deque%C3%ADsmo</a:t>
            </a:r>
          </a:p>
          <a:p>
            <a:pPr algn="l" marL="516975" indent="-258487" lvl="1">
              <a:lnSpc>
                <a:spcPts val="3352"/>
              </a:lnSpc>
              <a:buFont typeface="Arial"/>
              <a:buChar char="•"/>
            </a:pPr>
            <a:r>
              <a:rPr lang="en-US" sz="2394" spc="52" strike="noStrike" u="none">
                <a:solidFill>
                  <a:srgbClr val="152540"/>
                </a:solidFill>
                <a:latin typeface="Glacial Indifference"/>
                <a:ea typeface="Glacial Indifference"/>
                <a:cs typeface="Glacial Indifference"/>
                <a:sym typeface="Glacial Indifference"/>
              </a:rPr>
              <a:t>7. Esdrujulismo: </a:t>
            </a:r>
            <a:r>
              <a:rPr lang="en-US" sz="2394" spc="52" strike="noStrike" u="sng">
                <a:solidFill>
                  <a:srgbClr val="152540"/>
                </a:solidFill>
                <a:latin typeface="Glacial Indifference"/>
                <a:ea typeface="Glacial Indifference"/>
                <a:cs typeface="Glacial Indifference"/>
                <a:sym typeface="Glacial Indifference"/>
                <a:hlinkClick r:id="rId18" tooltip="https://www.ejemplos.co/50-ejemplos-de-esdrujulismo/"/>
              </a:rPr>
              <a:t>https://www.ejemplos.co/50-ejemplos-de-esdrujulismo/</a:t>
            </a:r>
          </a:p>
          <a:p>
            <a:pPr algn="l" marL="516975" indent="-258487" lvl="1">
              <a:lnSpc>
                <a:spcPts val="3352"/>
              </a:lnSpc>
              <a:buFont typeface="Arial"/>
              <a:buChar char="•"/>
            </a:pPr>
            <a:r>
              <a:rPr lang="en-US" sz="2394" spc="52" strike="noStrike" u="none">
                <a:solidFill>
                  <a:srgbClr val="152540"/>
                </a:solidFill>
                <a:latin typeface="Glacial Indifference"/>
                <a:ea typeface="Glacial Indifference"/>
                <a:cs typeface="Glacial Indifference"/>
                <a:sym typeface="Glacial Indifference"/>
              </a:rPr>
              <a:t>8. Eufemismo excesivo: </a:t>
            </a:r>
            <a:r>
              <a:rPr lang="en-US" sz="2394" spc="52" strike="noStrike" u="sng">
                <a:solidFill>
                  <a:srgbClr val="152540"/>
                </a:solidFill>
                <a:latin typeface="Glacial Indifference"/>
                <a:ea typeface="Glacial Indifference"/>
                <a:cs typeface="Glacial Indifference"/>
                <a:sym typeface="Glacial Indifference"/>
                <a:hlinkClick r:id="rId19" tooltip="https://undetectable.ai/blog/es/eufemismo/"/>
              </a:rPr>
              <a:t>https://undetectable.ai/blog/es/eufemismo/</a:t>
            </a:r>
          </a:p>
        </p:txBody>
      </p:sp>
      <p:sp>
        <p:nvSpPr>
          <p:cNvPr name="TextBox 8" id="8"/>
          <p:cNvSpPr txBox="true"/>
          <p:nvPr/>
        </p:nvSpPr>
        <p:spPr>
          <a:xfrm rot="0">
            <a:off x="4278330" y="696588"/>
            <a:ext cx="9731339" cy="1819852"/>
          </a:xfrm>
          <a:prstGeom prst="rect">
            <a:avLst/>
          </a:prstGeom>
        </p:spPr>
        <p:txBody>
          <a:bodyPr anchor="t" rtlCol="false" tIns="0" lIns="0" bIns="0" rIns="0">
            <a:spAutoFit/>
          </a:bodyPr>
          <a:lstStyle/>
          <a:p>
            <a:pPr algn="ctr">
              <a:lnSpc>
                <a:spcPts val="7318"/>
              </a:lnSpc>
            </a:pPr>
            <a:r>
              <a:rPr lang="en-US" b="true" sz="5227" spc="491">
                <a:solidFill>
                  <a:srgbClr val="152540"/>
                </a:solidFill>
                <a:latin typeface="Glacial Indifference Bold"/>
                <a:ea typeface="Glacial Indifference Bold"/>
                <a:cs typeface="Glacial Indifference Bold"/>
                <a:sym typeface="Glacial Indifference Bold"/>
              </a:rPr>
              <a:t>EVIDENCIA DE LAS FUENTES CONSULTADAS</a:t>
            </a:r>
          </a:p>
        </p:txBody>
      </p:sp>
    </p:spTree>
  </p:cSld>
  <p:clrMapOvr>
    <a:masterClrMapping/>
  </p:clrMapOvr>
</p:sld>
</file>

<file path=ppt/slides/slide72.xml><?xml version="1.0" encoding="utf-8"?>
<p:sld xmlns:p="http://schemas.openxmlformats.org/presentationml/2006/main" xmlns:a="http://schemas.openxmlformats.org/drawingml/2006/main" xmlns:r="http://schemas.openxmlformats.org/officeDocument/2006/relationships">
  <p:cSld>
    <p:bg>
      <p:bgPr>
        <a:solidFill>
          <a:srgbClr val="EDE8E4"/>
        </a:solidFill>
      </p:bgPr>
    </p:bg>
    <p:spTree>
      <p:nvGrpSpPr>
        <p:cNvPr id="1" name=""/>
        <p:cNvGrpSpPr/>
        <p:nvPr/>
      </p:nvGrpSpPr>
      <p:grpSpPr>
        <a:xfrm>
          <a:off x="0" y="0"/>
          <a:ext cx="0" cy="0"/>
          <a:chOff x="0" y="0"/>
          <a:chExt cx="0" cy="0"/>
        </a:xfrm>
      </p:grpSpPr>
      <p:sp>
        <p:nvSpPr>
          <p:cNvPr name="Freeform 2" id="2"/>
          <p:cNvSpPr/>
          <p:nvPr/>
        </p:nvSpPr>
        <p:spPr>
          <a:xfrm flipH="false" flipV="false" rot="-445925">
            <a:off x="3142738" y="-769394"/>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8798399">
            <a:off x="8466276" y="-9590538"/>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3283157">
            <a:off x="-1501206" y="7329841"/>
            <a:ext cx="5624862" cy="7545546"/>
          </a:xfrm>
          <a:custGeom>
            <a:avLst/>
            <a:gdLst/>
            <a:ahLst/>
            <a:cxnLst/>
            <a:rect r="r" b="b" t="t" l="l"/>
            <a:pathLst>
              <a:path h="7545546" w="5624862">
                <a:moveTo>
                  <a:pt x="0" y="0"/>
                </a:moveTo>
                <a:lnTo>
                  <a:pt x="5624862" y="0"/>
                </a:lnTo>
                <a:lnTo>
                  <a:pt x="5624862" y="7545546"/>
                </a:lnTo>
                <a:lnTo>
                  <a:pt x="0" y="75455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2770156">
            <a:off x="-2577184" y="-2165857"/>
            <a:ext cx="5154368" cy="4995052"/>
          </a:xfrm>
          <a:custGeom>
            <a:avLst/>
            <a:gdLst/>
            <a:ahLst/>
            <a:cxnLst/>
            <a:rect r="r" b="b" t="t" l="l"/>
            <a:pathLst>
              <a:path h="4995052" w="5154368">
                <a:moveTo>
                  <a:pt x="0" y="0"/>
                </a:moveTo>
                <a:lnTo>
                  <a:pt x="5154368" y="0"/>
                </a:lnTo>
                <a:lnTo>
                  <a:pt x="5154368" y="4995051"/>
                </a:lnTo>
                <a:lnTo>
                  <a:pt x="0" y="49950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2770156">
            <a:off x="15710816" y="8522875"/>
            <a:ext cx="5154368" cy="4995052"/>
          </a:xfrm>
          <a:custGeom>
            <a:avLst/>
            <a:gdLst/>
            <a:ahLst/>
            <a:cxnLst/>
            <a:rect r="r" b="b" t="t" l="l"/>
            <a:pathLst>
              <a:path h="4995052" w="5154368">
                <a:moveTo>
                  <a:pt x="0" y="0"/>
                </a:moveTo>
                <a:lnTo>
                  <a:pt x="5154368" y="0"/>
                </a:lnTo>
                <a:lnTo>
                  <a:pt x="5154368" y="4995052"/>
                </a:lnTo>
                <a:lnTo>
                  <a:pt x="0" y="49950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7" id="7"/>
          <p:cNvSpPr txBox="true"/>
          <p:nvPr/>
        </p:nvSpPr>
        <p:spPr>
          <a:xfrm rot="0">
            <a:off x="2035406" y="2957231"/>
            <a:ext cx="15524378" cy="5140231"/>
          </a:xfrm>
          <a:prstGeom prst="rect">
            <a:avLst/>
          </a:prstGeom>
        </p:spPr>
        <p:txBody>
          <a:bodyPr anchor="t" rtlCol="false" tIns="0" lIns="0" bIns="0" rIns="0">
            <a:spAutoFit/>
          </a:bodyPr>
          <a:lstStyle/>
          <a:p>
            <a:pPr algn="just">
              <a:lnSpc>
                <a:spcPts val="3424"/>
              </a:lnSpc>
            </a:pPr>
            <a:r>
              <a:rPr lang="en-US" sz="2394" spc="52">
                <a:solidFill>
                  <a:srgbClr val="152540"/>
                </a:solidFill>
                <a:latin typeface="Glacial Indifference"/>
                <a:ea typeface="Glacial Indifference"/>
                <a:cs typeface="Glacial Indifference"/>
                <a:sym typeface="Glacial Indifference"/>
              </a:rPr>
              <a:t>​9. Extranjerismo innecesario</a:t>
            </a:r>
            <a:r>
              <a:rPr lang="en-US" sz="2394" spc="52" u="none">
                <a:solidFill>
                  <a:srgbClr val="152540"/>
                </a:solidFill>
                <a:latin typeface="Glacial Indifference"/>
                <a:ea typeface="Glacial Indifference"/>
                <a:cs typeface="Glacial Indifference"/>
                <a:sym typeface="Glacial Indifference"/>
              </a:rPr>
              <a:t>:</a:t>
            </a:r>
            <a:r>
              <a:rPr lang="en-US" sz="2394" spc="52">
                <a:solidFill>
                  <a:srgbClr val="152540"/>
                </a:solidFill>
                <a:latin typeface="Glacial Indifference"/>
                <a:ea typeface="Glacial Indifference"/>
                <a:cs typeface="Glacial Indifference"/>
                <a:sym typeface="Glacial Indifference"/>
              </a:rPr>
              <a:t> </a:t>
            </a:r>
            <a:r>
              <a:rPr lang="en-US" sz="2394" spc="52" u="sng">
                <a:solidFill>
                  <a:srgbClr val="152540"/>
                </a:solidFill>
                <a:latin typeface="Glacial Indifference"/>
                <a:ea typeface="Glacial Indifference"/>
                <a:cs typeface="Glacial Indifference"/>
                <a:sym typeface="Glacial Indifference"/>
                <a:hlinkClick r:id="rId8" tooltip="http://rae.es/dpd/extranjerismos"/>
              </a:rPr>
              <a:t>ra</a:t>
            </a:r>
            <a:r>
              <a:rPr lang="en-US" sz="2394" spc="52" strike="noStrike" u="sng">
                <a:solidFill>
                  <a:srgbClr val="152540"/>
                </a:solidFill>
                <a:latin typeface="Glacial Indifference"/>
                <a:ea typeface="Glacial Indifference"/>
                <a:cs typeface="Glacial Indifference"/>
                <a:sym typeface="Glacial Indifference"/>
                <a:hlinkClick r:id="rId9" tooltip="http://rae.es/dpd/extranjerismos"/>
              </a:rPr>
              <a:t>e.es/dpd/extranjerismos</a:t>
            </a:r>
          </a:p>
          <a:p>
            <a:pPr algn="just">
              <a:lnSpc>
                <a:spcPts val="3424"/>
              </a:lnSpc>
            </a:pPr>
            <a:r>
              <a:rPr lang="en-US" sz="2394" spc="52" strike="noStrike">
                <a:solidFill>
                  <a:srgbClr val="152540"/>
                </a:solidFill>
                <a:latin typeface="Glacial Indifference"/>
                <a:ea typeface="Glacial Indifference"/>
                <a:cs typeface="Glacial Indifference"/>
                <a:sym typeface="Glacial Indifference"/>
              </a:rPr>
              <a:t>10</a:t>
            </a:r>
            <a:r>
              <a:rPr lang="en-US" sz="2394" spc="52" strike="noStrike" u="none">
                <a:solidFill>
                  <a:srgbClr val="152540"/>
                </a:solidFill>
                <a:latin typeface="Glacial Indifference"/>
                <a:ea typeface="Glacial Indifference"/>
                <a:cs typeface="Glacial Indifference"/>
                <a:sym typeface="Glacial Indifference"/>
              </a:rPr>
              <a:t>.</a:t>
            </a:r>
            <a:r>
              <a:rPr lang="en-US" sz="2394" spc="52" strike="noStrike">
                <a:solidFill>
                  <a:srgbClr val="152540"/>
                </a:solidFill>
                <a:latin typeface="Glacial Indifference"/>
                <a:ea typeface="Glacial Indifference"/>
                <a:cs typeface="Glacial Indifference"/>
                <a:sym typeface="Glacial Indifference"/>
              </a:rPr>
              <a:t> Hiper</a:t>
            </a:r>
            <a:r>
              <a:rPr lang="en-US" sz="2394" spc="52" strike="noStrike" u="none">
                <a:solidFill>
                  <a:srgbClr val="152540"/>
                </a:solidFill>
                <a:latin typeface="Glacial Indifference"/>
                <a:ea typeface="Glacial Indifference"/>
                <a:cs typeface="Glacial Indifference"/>
                <a:sym typeface="Glacial Indifference"/>
              </a:rPr>
              <a:t>co</a:t>
            </a:r>
            <a:r>
              <a:rPr lang="en-US" sz="2394" spc="52" strike="noStrike">
                <a:solidFill>
                  <a:srgbClr val="152540"/>
                </a:solidFill>
                <a:latin typeface="Glacial Indifference"/>
                <a:ea typeface="Glacial Indifference"/>
                <a:cs typeface="Glacial Indifference"/>
                <a:sym typeface="Glacial Indifference"/>
              </a:rPr>
              <a:t>rr</a:t>
            </a:r>
            <a:r>
              <a:rPr lang="en-US" sz="2394" spc="52" strike="noStrike" u="none">
                <a:solidFill>
                  <a:srgbClr val="152540"/>
                </a:solidFill>
                <a:latin typeface="Glacial Indifference"/>
                <a:ea typeface="Glacial Indifference"/>
                <a:cs typeface="Glacial Indifference"/>
                <a:sym typeface="Glacial Indifference"/>
              </a:rPr>
              <a:t>e</a:t>
            </a:r>
            <a:r>
              <a:rPr lang="en-US" sz="2394" spc="52" strike="noStrike">
                <a:solidFill>
                  <a:srgbClr val="152540"/>
                </a:solidFill>
                <a:latin typeface="Glacial Indifference"/>
                <a:ea typeface="Glacial Indifference"/>
                <a:cs typeface="Glacial Indifference"/>
                <a:sym typeface="Glacial Indifference"/>
              </a:rPr>
              <a:t>cción: </a:t>
            </a:r>
            <a:r>
              <a:rPr lang="en-US" sz="2394" spc="52" strike="noStrike" u="sng">
                <a:solidFill>
                  <a:srgbClr val="152540"/>
                </a:solidFill>
                <a:latin typeface="Glacial Indifference"/>
                <a:ea typeface="Glacial Indifference"/>
                <a:cs typeface="Glacial Indifference"/>
                <a:sym typeface="Glacial Indifference"/>
                <a:hlinkClick r:id="rId10" tooltip="http://fundeu.es/hubo-hubieron/"/>
              </a:rPr>
              <a:t>fundeu.es/hubo-hubieron/</a:t>
            </a:r>
          </a:p>
          <a:p>
            <a:pPr algn="just">
              <a:lnSpc>
                <a:spcPts val="3424"/>
              </a:lnSpc>
            </a:pPr>
            <a:r>
              <a:rPr lang="en-US" sz="2394" spc="52" strike="noStrike">
                <a:solidFill>
                  <a:srgbClr val="152540"/>
                </a:solidFill>
                <a:latin typeface="Glacial Indifference"/>
                <a:ea typeface="Glacial Indifference"/>
                <a:cs typeface="Glacial Indifference"/>
                <a:sym typeface="Glacial Indifference"/>
              </a:rPr>
              <a:t>​11. I</a:t>
            </a:r>
            <a:r>
              <a:rPr lang="en-US" sz="2394" spc="52" strike="noStrike" u="none">
                <a:solidFill>
                  <a:srgbClr val="152540"/>
                </a:solidFill>
                <a:latin typeface="Glacial Indifference"/>
                <a:ea typeface="Glacial Indifference"/>
                <a:cs typeface="Glacial Indifference"/>
                <a:sym typeface="Glacial Indifference"/>
              </a:rPr>
              <a:t>m</a:t>
            </a:r>
            <a:r>
              <a:rPr lang="en-US" sz="2394" spc="52" strike="noStrike">
                <a:solidFill>
                  <a:srgbClr val="152540"/>
                </a:solidFill>
                <a:latin typeface="Glacial Indifference"/>
                <a:ea typeface="Glacial Indifference"/>
                <a:cs typeface="Glacial Indifference"/>
                <a:sym typeface="Glacial Indifference"/>
              </a:rPr>
              <a:t>prop</a:t>
            </a:r>
            <a:r>
              <a:rPr lang="en-US" sz="2394" spc="52" strike="noStrike" u="none">
                <a:solidFill>
                  <a:srgbClr val="152540"/>
                </a:solidFill>
                <a:latin typeface="Glacial Indifference"/>
                <a:ea typeface="Glacial Indifference"/>
                <a:cs typeface="Glacial Indifference"/>
                <a:sym typeface="Glacial Indifference"/>
              </a:rPr>
              <a:t>iedad</a:t>
            </a:r>
            <a:r>
              <a:rPr lang="en-US" sz="2394" spc="52" strike="noStrike">
                <a:solidFill>
                  <a:srgbClr val="152540"/>
                </a:solidFill>
                <a:latin typeface="Glacial Indifference"/>
                <a:ea typeface="Glacial Indifference"/>
                <a:cs typeface="Glacial Indifference"/>
                <a:sym typeface="Glacial Indifference"/>
              </a:rPr>
              <a:t> léxica: </a:t>
            </a:r>
            <a:r>
              <a:rPr lang="en-US" sz="2394" spc="52" strike="noStrike" u="sng">
                <a:solidFill>
                  <a:srgbClr val="152540"/>
                </a:solidFill>
                <a:latin typeface="Glacial Indifference"/>
                <a:ea typeface="Glacial Indifference"/>
                <a:cs typeface="Glacial Indifference"/>
                <a:sym typeface="Glacial Indifference"/>
                <a:hlinkClick r:id="rId11" tooltip="http://dle.rae.es/detentar"/>
              </a:rPr>
              <a:t>dle.rae.es/detentar</a:t>
            </a:r>
          </a:p>
          <a:p>
            <a:pPr algn="just">
              <a:lnSpc>
                <a:spcPts val="3424"/>
              </a:lnSpc>
            </a:pPr>
            <a:r>
              <a:rPr lang="en-US" sz="2394" spc="52" strike="noStrike" u="none">
                <a:solidFill>
                  <a:srgbClr val="152540"/>
                </a:solidFill>
                <a:latin typeface="Glacial Indifference"/>
                <a:ea typeface="Glacial Indifference"/>
                <a:cs typeface="Glacial Indifference"/>
                <a:sym typeface="Glacial Indifference"/>
              </a:rPr>
              <a:t>​1</a:t>
            </a:r>
            <a:r>
              <a:rPr lang="en-US" sz="2394" spc="52" strike="noStrike" u="none">
                <a:solidFill>
                  <a:srgbClr val="152540"/>
                </a:solidFill>
                <a:latin typeface="Glacial Indifference"/>
                <a:ea typeface="Glacial Indifference"/>
                <a:cs typeface="Glacial Indifference"/>
                <a:sym typeface="Glacial Indifference"/>
              </a:rPr>
              <a:t>2. Leísmo y Loí</a:t>
            </a:r>
            <a:r>
              <a:rPr lang="en-US" sz="2394" spc="52" strike="noStrike" u="none">
                <a:solidFill>
                  <a:srgbClr val="152540"/>
                </a:solidFill>
                <a:latin typeface="Glacial Indifference"/>
                <a:ea typeface="Glacial Indifference"/>
                <a:cs typeface="Glacial Indifference"/>
                <a:sym typeface="Glacial Indifference"/>
              </a:rPr>
              <a:t>s</a:t>
            </a:r>
            <a:r>
              <a:rPr lang="en-US" sz="2394" spc="52" strike="noStrike">
                <a:solidFill>
                  <a:srgbClr val="152540"/>
                </a:solidFill>
                <a:latin typeface="Glacial Indifference"/>
                <a:ea typeface="Glacial Indifference"/>
                <a:cs typeface="Glacial Indifference"/>
                <a:sym typeface="Glacial Indifference"/>
              </a:rPr>
              <a:t>mo</a:t>
            </a:r>
            <a:r>
              <a:rPr lang="en-US" sz="2394" spc="52" strike="noStrike" u="none">
                <a:solidFill>
                  <a:srgbClr val="152540"/>
                </a:solidFill>
                <a:latin typeface="Glacial Indifference"/>
                <a:ea typeface="Glacial Indifference"/>
                <a:cs typeface="Glacial Indifference"/>
                <a:sym typeface="Glacial Indifference"/>
              </a:rPr>
              <a:t>:</a:t>
            </a:r>
            <a:r>
              <a:rPr lang="en-US" sz="2394" spc="52" strike="noStrike">
                <a:solidFill>
                  <a:srgbClr val="152540"/>
                </a:solidFill>
                <a:latin typeface="Glacial Indifference"/>
                <a:ea typeface="Glacial Indifference"/>
                <a:cs typeface="Glacial Indifference"/>
                <a:sym typeface="Glacial Indifference"/>
              </a:rPr>
              <a:t> </a:t>
            </a:r>
            <a:r>
              <a:rPr lang="en-US" sz="2394" spc="52" strike="noStrike" u="sng">
                <a:solidFill>
                  <a:srgbClr val="152540"/>
                </a:solidFill>
                <a:latin typeface="Glacial Indifference"/>
                <a:ea typeface="Glacial Indifference"/>
                <a:cs typeface="Glacial Indifference"/>
                <a:sym typeface="Glacial Indifference"/>
                <a:hlinkClick r:id="rId12" tooltip="http://rae.es/dpd/le%C3%ADsmo"/>
              </a:rPr>
              <a:t>rae.es/dpd/leísmo</a:t>
            </a:r>
          </a:p>
          <a:p>
            <a:pPr algn="just">
              <a:lnSpc>
                <a:spcPts val="3424"/>
              </a:lnSpc>
            </a:pPr>
            <a:r>
              <a:rPr lang="en-US" sz="2394" spc="52" strike="noStrike">
                <a:solidFill>
                  <a:srgbClr val="152540"/>
                </a:solidFill>
                <a:latin typeface="Glacial Indifference"/>
                <a:ea typeface="Glacial Indifference"/>
                <a:cs typeface="Glacial Indifference"/>
                <a:sym typeface="Glacial Indifference"/>
              </a:rPr>
              <a:t>13. M</a:t>
            </a:r>
            <a:r>
              <a:rPr lang="en-US" sz="2394" spc="52" strike="noStrike" u="none">
                <a:solidFill>
                  <a:srgbClr val="152540"/>
                </a:solidFill>
                <a:latin typeface="Glacial Indifference"/>
                <a:ea typeface="Glacial Indifference"/>
                <a:cs typeface="Glacial Indifference"/>
                <a:sym typeface="Glacial Indifference"/>
              </a:rPr>
              <a:t>on</a:t>
            </a:r>
            <a:r>
              <a:rPr lang="en-US" sz="2394" spc="52" strike="noStrike">
                <a:solidFill>
                  <a:srgbClr val="152540"/>
                </a:solidFill>
                <a:latin typeface="Glacial Indifference"/>
                <a:ea typeface="Glacial Indifference"/>
                <a:cs typeface="Glacial Indifference"/>
                <a:sym typeface="Glacial Indifference"/>
              </a:rPr>
              <a:t>o</a:t>
            </a:r>
            <a:r>
              <a:rPr lang="en-US" sz="2394" spc="52" strike="noStrike" u="none">
                <a:solidFill>
                  <a:srgbClr val="152540"/>
                </a:solidFill>
                <a:latin typeface="Glacial Indifference"/>
                <a:ea typeface="Glacial Indifference"/>
                <a:cs typeface="Glacial Indifference"/>
                <a:sym typeface="Glacial Indifference"/>
              </a:rPr>
              <a:t>to</a:t>
            </a:r>
            <a:r>
              <a:rPr lang="en-US" sz="2394" spc="52" strike="noStrike">
                <a:solidFill>
                  <a:srgbClr val="152540"/>
                </a:solidFill>
                <a:latin typeface="Glacial Indifference"/>
                <a:ea typeface="Glacial Indifference"/>
                <a:cs typeface="Glacial Indifference"/>
                <a:sym typeface="Glacial Indifference"/>
              </a:rPr>
              <a:t>ní</a:t>
            </a:r>
            <a:r>
              <a:rPr lang="en-US" sz="2394" spc="52" strike="noStrike" u="none">
                <a:solidFill>
                  <a:srgbClr val="152540"/>
                </a:solidFill>
                <a:latin typeface="Glacial Indifference"/>
                <a:ea typeface="Glacial Indifference"/>
                <a:cs typeface="Glacial Indifference"/>
                <a:sym typeface="Glacial Indifference"/>
              </a:rPr>
              <a:t>a</a:t>
            </a:r>
            <a:r>
              <a:rPr lang="en-US" sz="2394" spc="52" strike="noStrike">
                <a:solidFill>
                  <a:srgbClr val="152540"/>
                </a:solidFill>
                <a:latin typeface="Glacial Indifference"/>
                <a:ea typeface="Glacial Indifference"/>
                <a:cs typeface="Glacial Indifference"/>
                <a:sym typeface="Glacial Indifference"/>
              </a:rPr>
              <a:t> (Pob</a:t>
            </a:r>
            <a:r>
              <a:rPr lang="en-US" sz="2394" spc="52" strike="noStrike" u="none">
                <a:solidFill>
                  <a:srgbClr val="152540"/>
                </a:solidFill>
                <a:latin typeface="Glacial Indifference"/>
                <a:ea typeface="Glacial Indifference"/>
                <a:cs typeface="Glacial Indifference"/>
                <a:sym typeface="Glacial Indifference"/>
              </a:rPr>
              <a:t>r</a:t>
            </a:r>
            <a:r>
              <a:rPr lang="en-US" sz="2394" spc="52" strike="noStrike">
                <a:solidFill>
                  <a:srgbClr val="152540"/>
                </a:solidFill>
                <a:latin typeface="Glacial Indifference"/>
                <a:ea typeface="Glacial Indifference"/>
                <a:cs typeface="Glacial Indifference"/>
                <a:sym typeface="Glacial Indifference"/>
              </a:rPr>
              <a:t>ez</a:t>
            </a:r>
            <a:r>
              <a:rPr lang="en-US" sz="2394" spc="52" strike="noStrike" u="none">
                <a:solidFill>
                  <a:srgbClr val="152540"/>
                </a:solidFill>
                <a:latin typeface="Glacial Indifference"/>
                <a:ea typeface="Glacial Indifference"/>
                <a:cs typeface="Glacial Indifference"/>
                <a:sym typeface="Glacial Indifference"/>
              </a:rPr>
              <a:t>a</a:t>
            </a:r>
            <a:r>
              <a:rPr lang="en-US" sz="2394" spc="52" strike="noStrike">
                <a:solidFill>
                  <a:srgbClr val="152540"/>
                </a:solidFill>
                <a:latin typeface="Glacial Indifference"/>
                <a:ea typeface="Glacial Indifference"/>
                <a:cs typeface="Glacial Indifference"/>
                <a:sym typeface="Glacial Indifference"/>
              </a:rPr>
              <a:t> léx</a:t>
            </a:r>
            <a:r>
              <a:rPr lang="en-US" sz="2394" spc="52" strike="noStrike" u="none">
                <a:solidFill>
                  <a:srgbClr val="152540"/>
                </a:solidFill>
                <a:latin typeface="Glacial Indifference"/>
                <a:ea typeface="Glacial Indifference"/>
                <a:cs typeface="Glacial Indifference"/>
                <a:sym typeface="Glacial Indifference"/>
              </a:rPr>
              <a:t>i</a:t>
            </a:r>
            <a:r>
              <a:rPr lang="en-US" sz="2394" spc="52" strike="noStrike">
                <a:solidFill>
                  <a:srgbClr val="152540"/>
                </a:solidFill>
                <a:latin typeface="Glacial Indifference"/>
                <a:ea typeface="Glacial Indifference"/>
                <a:cs typeface="Glacial Indifference"/>
                <a:sym typeface="Glacial Indifference"/>
              </a:rPr>
              <a:t>ca): </a:t>
            </a:r>
            <a:r>
              <a:rPr lang="en-US" sz="2394" spc="52" strike="noStrike" u="sng">
                <a:solidFill>
                  <a:srgbClr val="152540"/>
                </a:solidFill>
                <a:latin typeface="Glacial Indifference"/>
                <a:ea typeface="Glacial Indifference"/>
                <a:cs typeface="Glacial Indifference"/>
                <a:sym typeface="Glacial Indifference"/>
                <a:hlinkClick r:id="rId13" tooltip="https://www.rae.es/dpd/"/>
              </a:rPr>
              <a:t>https://www.rae.es/dpd/</a:t>
            </a:r>
          </a:p>
          <a:p>
            <a:pPr algn="just">
              <a:lnSpc>
                <a:spcPts val="3424"/>
              </a:lnSpc>
            </a:pPr>
            <a:r>
              <a:rPr lang="en-US" sz="2394" spc="52" strike="noStrike" u="none">
                <a:solidFill>
                  <a:srgbClr val="152540"/>
                </a:solidFill>
                <a:latin typeface="Glacial Indifference"/>
                <a:ea typeface="Glacial Indifference"/>
                <a:cs typeface="Glacial Indifference"/>
                <a:sym typeface="Glacial Indifference"/>
              </a:rPr>
              <a:t>14</a:t>
            </a:r>
            <a:r>
              <a:rPr lang="en-US" sz="2394" spc="52" strike="noStrike" u="none">
                <a:solidFill>
                  <a:srgbClr val="152540"/>
                </a:solidFill>
                <a:latin typeface="Glacial Indifference"/>
                <a:ea typeface="Glacial Indifference"/>
                <a:cs typeface="Glacial Indifference"/>
                <a:sym typeface="Glacial Indifference"/>
              </a:rPr>
              <a:t>. Muletillas: </a:t>
            </a:r>
            <a:r>
              <a:rPr lang="en-US" sz="2394" spc="52" strike="noStrike" u="sng">
                <a:solidFill>
                  <a:srgbClr val="152540"/>
                </a:solidFill>
                <a:latin typeface="Glacial Indifference"/>
                <a:ea typeface="Glacial Indifference"/>
                <a:cs typeface="Glacial Indifference"/>
                <a:sym typeface="Glacial Indifference"/>
                <a:hlinkClick r:id="rId14" tooltip="https://www.fundeu.es"/>
              </a:rPr>
              <a:t>https://www.fundeu.es/</a:t>
            </a:r>
          </a:p>
          <a:p>
            <a:pPr algn="just">
              <a:lnSpc>
                <a:spcPts val="3424"/>
              </a:lnSpc>
            </a:pPr>
            <a:r>
              <a:rPr lang="en-US" sz="2394" spc="52" strike="noStrike">
                <a:solidFill>
                  <a:srgbClr val="152540"/>
                </a:solidFill>
                <a:latin typeface="Glacial Indifference"/>
                <a:ea typeface="Glacial Indifference"/>
                <a:cs typeface="Glacial Indifference"/>
                <a:sym typeface="Glacial Indifference"/>
              </a:rPr>
              <a:t>15. Neologismo inneces</a:t>
            </a:r>
            <a:r>
              <a:rPr lang="en-US" sz="2394" spc="52" strike="noStrike" u="none">
                <a:solidFill>
                  <a:srgbClr val="152540"/>
                </a:solidFill>
                <a:latin typeface="Glacial Indifference"/>
                <a:ea typeface="Glacial Indifference"/>
                <a:cs typeface="Glacial Indifference"/>
                <a:sym typeface="Glacial Indifference"/>
              </a:rPr>
              <a:t>ar</a:t>
            </a:r>
            <a:r>
              <a:rPr lang="en-US" sz="2394" spc="52" strike="noStrike">
                <a:solidFill>
                  <a:srgbClr val="152540"/>
                </a:solidFill>
                <a:latin typeface="Glacial Indifference"/>
                <a:ea typeface="Glacial Indifference"/>
                <a:cs typeface="Glacial Indifference"/>
                <a:sym typeface="Glacial Indifference"/>
              </a:rPr>
              <a:t>io (y Extr</a:t>
            </a:r>
            <a:r>
              <a:rPr lang="en-US" sz="2394" spc="52" strike="noStrike" u="none">
                <a:solidFill>
                  <a:srgbClr val="152540"/>
                </a:solidFill>
                <a:latin typeface="Glacial Indifference"/>
                <a:ea typeface="Glacial Indifference"/>
                <a:cs typeface="Glacial Indifference"/>
                <a:sym typeface="Glacial Indifference"/>
              </a:rPr>
              <a:t>a</a:t>
            </a:r>
            <a:r>
              <a:rPr lang="en-US" sz="2394" spc="52" strike="noStrike">
                <a:solidFill>
                  <a:srgbClr val="152540"/>
                </a:solidFill>
                <a:latin typeface="Glacial Indifference"/>
                <a:ea typeface="Glacial Indifference"/>
                <a:cs typeface="Glacial Indifference"/>
                <a:sym typeface="Glacial Indifference"/>
              </a:rPr>
              <a:t>nje</a:t>
            </a:r>
            <a:r>
              <a:rPr lang="en-US" sz="2394" spc="52" strike="noStrike" u="none">
                <a:solidFill>
                  <a:srgbClr val="152540"/>
                </a:solidFill>
                <a:latin typeface="Glacial Indifference"/>
                <a:ea typeface="Glacial Indifference"/>
                <a:cs typeface="Glacial Indifference"/>
                <a:sym typeface="Glacial Indifference"/>
              </a:rPr>
              <a:t>rismo</a:t>
            </a:r>
            <a:r>
              <a:rPr lang="en-US" sz="2394" spc="52" strike="noStrike">
                <a:solidFill>
                  <a:srgbClr val="152540"/>
                </a:solidFill>
                <a:latin typeface="Glacial Indifference"/>
                <a:ea typeface="Glacial Indifference"/>
                <a:cs typeface="Glacial Indifference"/>
                <a:sym typeface="Glacial Indifference"/>
              </a:rPr>
              <a:t>)</a:t>
            </a:r>
            <a:r>
              <a:rPr lang="en-US" sz="2394" spc="52" strike="noStrike" u="none">
                <a:solidFill>
                  <a:srgbClr val="152540"/>
                </a:solidFill>
                <a:latin typeface="Glacial Indifference"/>
                <a:ea typeface="Glacial Indifference"/>
                <a:cs typeface="Glacial Indifference"/>
                <a:sym typeface="Glacial Indifference"/>
              </a:rPr>
              <a:t>:</a:t>
            </a:r>
            <a:r>
              <a:rPr lang="en-US" sz="2394" spc="52" strike="noStrike" u="none">
                <a:solidFill>
                  <a:srgbClr val="152540"/>
                </a:solidFill>
                <a:latin typeface="Glacial Indifference"/>
                <a:ea typeface="Glacial Indifference"/>
                <a:cs typeface="Glacial Indifference"/>
                <a:sym typeface="Glacial Indifference"/>
              </a:rPr>
              <a:t> </a:t>
            </a:r>
            <a:r>
              <a:rPr lang="en-US" sz="2394" spc="52" strike="noStrike" u="sng">
                <a:solidFill>
                  <a:srgbClr val="152540"/>
                </a:solidFill>
                <a:latin typeface="Glacial Indifference"/>
                <a:ea typeface="Glacial Indifference"/>
                <a:cs typeface="Glacial Indifference"/>
                <a:sym typeface="Glacial Indifference"/>
                <a:hlinkClick r:id="rId15" tooltip="https://www.rae.es/dpd/extranjerismos"/>
              </a:rPr>
              <a:t>https://www.rae.es/dpd/extranjerismos</a:t>
            </a:r>
          </a:p>
          <a:p>
            <a:pPr algn="just">
              <a:lnSpc>
                <a:spcPts val="3424"/>
              </a:lnSpc>
            </a:pPr>
            <a:r>
              <a:rPr lang="en-US" sz="2394" spc="52" strike="noStrike" u="none">
                <a:solidFill>
                  <a:srgbClr val="152540"/>
                </a:solidFill>
                <a:latin typeface="Glacial Indifference"/>
                <a:ea typeface="Glacial Indifference"/>
                <a:cs typeface="Glacial Indifference"/>
                <a:sym typeface="Glacial Indifference"/>
              </a:rPr>
              <a:t>16</a:t>
            </a:r>
            <a:r>
              <a:rPr lang="en-US" sz="2394" spc="52" strike="noStrike" u="none">
                <a:solidFill>
                  <a:srgbClr val="152540"/>
                </a:solidFill>
                <a:latin typeface="Glacial Indifference"/>
                <a:ea typeface="Glacial Indifference"/>
                <a:cs typeface="Glacial Indifference"/>
                <a:sym typeface="Glacial Indifference"/>
              </a:rPr>
              <a:t>. Pleonasmo (Redundancia): </a:t>
            </a:r>
            <a:r>
              <a:rPr lang="en-US" sz="2394" spc="52" strike="noStrike" u="sng">
                <a:solidFill>
                  <a:srgbClr val="152540"/>
                </a:solidFill>
                <a:latin typeface="Glacial Indifference"/>
                <a:ea typeface="Glacial Indifference"/>
                <a:cs typeface="Glacial Indifference"/>
                <a:sym typeface="Glacial Indifference"/>
                <a:hlinkClick r:id="rId16" tooltip="https://www.rae.es/dpd/pleonasmo"/>
              </a:rPr>
              <a:t>https://www.rae.es/dpd/pleonasmo</a:t>
            </a:r>
          </a:p>
          <a:p>
            <a:pPr algn="just">
              <a:lnSpc>
                <a:spcPts val="3424"/>
              </a:lnSpc>
            </a:pPr>
            <a:r>
              <a:rPr lang="en-US" sz="2394" spc="52" strike="noStrike" u="none">
                <a:solidFill>
                  <a:srgbClr val="152540"/>
                </a:solidFill>
                <a:latin typeface="Glacial Indifference"/>
                <a:ea typeface="Glacial Indifference"/>
                <a:cs typeface="Glacial Indifference"/>
                <a:sym typeface="Glacial Indifference"/>
              </a:rPr>
              <a:t>17</a:t>
            </a:r>
            <a:r>
              <a:rPr lang="en-US" sz="2394" spc="52" strike="noStrike" u="none">
                <a:solidFill>
                  <a:srgbClr val="152540"/>
                </a:solidFill>
                <a:latin typeface="Glacial Indifference"/>
                <a:ea typeface="Glacial Indifference"/>
                <a:cs typeface="Glacial Indifference"/>
                <a:sym typeface="Glacial Indifference"/>
              </a:rPr>
              <a:t>. Queísmo: </a:t>
            </a:r>
            <a:r>
              <a:rPr lang="en-US" sz="2394" spc="52" strike="noStrike" u="sng">
                <a:solidFill>
                  <a:srgbClr val="152540"/>
                </a:solidFill>
                <a:latin typeface="Glacial Indifference"/>
                <a:ea typeface="Glacial Indifference"/>
                <a:cs typeface="Glacial Indifference"/>
                <a:sym typeface="Glacial Indifference"/>
                <a:hlinkClick r:id="rId17" tooltip="https://www.rae.es/dpd/que%C3%ADsmo%E2%81%A0"/>
              </a:rPr>
              <a:t>https://www.rae.es/dpd/queísmo⁠</a:t>
            </a:r>
          </a:p>
          <a:p>
            <a:pPr algn="just">
              <a:lnSpc>
                <a:spcPts val="3424"/>
              </a:lnSpc>
            </a:pPr>
            <a:r>
              <a:rPr lang="en-US" sz="2394" spc="52" strike="noStrike" u="none">
                <a:solidFill>
                  <a:srgbClr val="152540"/>
                </a:solidFill>
                <a:latin typeface="Glacial Indifference"/>
                <a:ea typeface="Glacial Indifference"/>
                <a:cs typeface="Glacial Indifference"/>
                <a:sym typeface="Glacial Indifference"/>
              </a:rPr>
              <a:t>18</a:t>
            </a:r>
            <a:r>
              <a:rPr lang="en-US" sz="2394" spc="52" strike="noStrike" u="none">
                <a:solidFill>
                  <a:srgbClr val="152540"/>
                </a:solidFill>
                <a:latin typeface="Glacial Indifference"/>
                <a:ea typeface="Glacial Indifference"/>
                <a:cs typeface="Glacial Indifference"/>
                <a:sym typeface="Glacial Indifference"/>
              </a:rPr>
              <a:t>. Solecis</a:t>
            </a:r>
            <a:r>
              <a:rPr lang="en-US" sz="2394" spc="52" strike="noStrike" u="none">
                <a:solidFill>
                  <a:srgbClr val="152540"/>
                </a:solidFill>
                <a:latin typeface="Glacial Indifference"/>
                <a:ea typeface="Glacial Indifference"/>
                <a:cs typeface="Glacial Indifference"/>
                <a:sym typeface="Glacial Indifference"/>
              </a:rPr>
              <a:t>mo: </a:t>
            </a:r>
            <a:r>
              <a:rPr lang="en-US" sz="2394" spc="52" strike="noStrike" u="sng">
                <a:solidFill>
                  <a:srgbClr val="152540"/>
                </a:solidFill>
                <a:latin typeface="Glacial Indifference"/>
                <a:ea typeface="Glacial Indifference"/>
                <a:cs typeface="Glacial Indifference"/>
                <a:sym typeface="Glacial Indifference"/>
                <a:hlinkClick r:id="rId18" tooltip="https://www.rae.es/dpd/solecismo%E2%81%A0"/>
              </a:rPr>
              <a:t>https://www.rae.es/dpd/solecismo⁠</a:t>
            </a:r>
          </a:p>
          <a:p>
            <a:pPr algn="just">
              <a:lnSpc>
                <a:spcPts val="3424"/>
              </a:lnSpc>
            </a:pPr>
            <a:r>
              <a:rPr lang="en-US" sz="2394" spc="52" strike="noStrike" u="none">
                <a:solidFill>
                  <a:srgbClr val="152540"/>
                </a:solidFill>
                <a:latin typeface="Glacial Indifference"/>
                <a:ea typeface="Glacial Indifference"/>
                <a:cs typeface="Glacial Indifference"/>
                <a:sym typeface="Glacial Indifference"/>
              </a:rPr>
              <a:t>19</a:t>
            </a:r>
            <a:r>
              <a:rPr lang="en-US" sz="2394" spc="52" strike="noStrike" u="none">
                <a:solidFill>
                  <a:srgbClr val="152540"/>
                </a:solidFill>
                <a:latin typeface="Glacial Indifference"/>
                <a:ea typeface="Glacial Indifference"/>
                <a:cs typeface="Glacial Indifference"/>
                <a:sym typeface="Glacial Indifference"/>
              </a:rPr>
              <a:t>. Ultracorrección: </a:t>
            </a:r>
            <a:r>
              <a:rPr lang="en-US" sz="2394" spc="52" strike="noStrike" u="sng">
                <a:solidFill>
                  <a:srgbClr val="152540"/>
                </a:solidFill>
                <a:latin typeface="Glacial Indifference"/>
                <a:ea typeface="Glacial Indifference"/>
                <a:cs typeface="Glacial Indifference"/>
                <a:sym typeface="Glacial Indifference"/>
                <a:hlinkClick r:id="rId19" tooltip="https://www.rae.es/dpd%E2%81%A0"/>
              </a:rPr>
              <a:t>https://www.rae.es/dpd⁠</a:t>
            </a:r>
          </a:p>
          <a:p>
            <a:pPr algn="just">
              <a:lnSpc>
                <a:spcPts val="3424"/>
              </a:lnSpc>
            </a:pPr>
            <a:r>
              <a:rPr lang="en-US" sz="2394" spc="52" strike="noStrike">
                <a:solidFill>
                  <a:srgbClr val="152540"/>
                </a:solidFill>
                <a:latin typeface="Glacial Indifference"/>
                <a:ea typeface="Glacial Indifference"/>
                <a:cs typeface="Glacial Indifference"/>
                <a:sym typeface="Glacial Indifference"/>
              </a:rPr>
              <a:t>20. Va</a:t>
            </a:r>
            <a:r>
              <a:rPr lang="en-US" sz="2394" spc="52" strike="noStrike" u="none">
                <a:solidFill>
                  <a:srgbClr val="152540"/>
                </a:solidFill>
                <a:latin typeface="Glacial Indifference"/>
                <a:ea typeface="Glacial Indifference"/>
                <a:cs typeface="Glacial Indifference"/>
                <a:sym typeface="Glacial Indifference"/>
              </a:rPr>
              <a:t>g</a:t>
            </a:r>
            <a:r>
              <a:rPr lang="en-US" sz="2394" spc="52" strike="noStrike">
                <a:solidFill>
                  <a:srgbClr val="152540"/>
                </a:solidFill>
                <a:latin typeface="Glacial Indifference"/>
                <a:ea typeface="Glacial Indifference"/>
                <a:cs typeface="Glacial Indifference"/>
                <a:sym typeface="Glacial Indifference"/>
              </a:rPr>
              <a:t>u</a:t>
            </a:r>
            <a:r>
              <a:rPr lang="en-US" sz="2394" spc="52" strike="noStrike" u="none">
                <a:solidFill>
                  <a:srgbClr val="152540"/>
                </a:solidFill>
                <a:latin typeface="Glacial Indifference"/>
                <a:ea typeface="Glacial Indifference"/>
                <a:cs typeface="Glacial Indifference"/>
                <a:sym typeface="Glacial Indifference"/>
              </a:rPr>
              <a:t>e</a:t>
            </a:r>
            <a:r>
              <a:rPr lang="en-US" sz="2394" spc="52" strike="noStrike">
                <a:solidFill>
                  <a:srgbClr val="152540"/>
                </a:solidFill>
                <a:latin typeface="Glacial Indifference"/>
                <a:ea typeface="Glacial Indifference"/>
                <a:cs typeface="Glacial Indifference"/>
                <a:sym typeface="Glacial Indifference"/>
              </a:rPr>
              <a:t>dad léxica: </a:t>
            </a:r>
            <a:r>
              <a:rPr lang="en-US" sz="2394" spc="52" strike="noStrike" u="sng">
                <a:solidFill>
                  <a:srgbClr val="152540"/>
                </a:solidFill>
                <a:latin typeface="Glacial Indifference"/>
                <a:ea typeface="Glacial Indifference"/>
                <a:cs typeface="Glacial Indifference"/>
                <a:sym typeface="Glacial Indifference"/>
                <a:hlinkClick r:id="rId20" tooltip="https://www.rae.es/%E2%81%A0"/>
              </a:rPr>
              <a:t>https://www.rae.es/⁠</a:t>
            </a:r>
          </a:p>
        </p:txBody>
      </p:sp>
      <p:sp>
        <p:nvSpPr>
          <p:cNvPr name="TextBox 8" id="8"/>
          <p:cNvSpPr txBox="true"/>
          <p:nvPr/>
        </p:nvSpPr>
        <p:spPr>
          <a:xfrm rot="0">
            <a:off x="4278330" y="696588"/>
            <a:ext cx="9731339" cy="1819852"/>
          </a:xfrm>
          <a:prstGeom prst="rect">
            <a:avLst/>
          </a:prstGeom>
        </p:spPr>
        <p:txBody>
          <a:bodyPr anchor="t" rtlCol="false" tIns="0" lIns="0" bIns="0" rIns="0">
            <a:spAutoFit/>
          </a:bodyPr>
          <a:lstStyle/>
          <a:p>
            <a:pPr algn="ctr">
              <a:lnSpc>
                <a:spcPts val="7318"/>
              </a:lnSpc>
            </a:pPr>
            <a:r>
              <a:rPr lang="en-US" b="true" sz="5227" spc="491">
                <a:solidFill>
                  <a:srgbClr val="152540"/>
                </a:solidFill>
                <a:latin typeface="Glacial Indifference Bold"/>
                <a:ea typeface="Glacial Indifference Bold"/>
                <a:cs typeface="Glacial Indifference Bold"/>
                <a:sym typeface="Glacial Indifference Bold"/>
              </a:rPr>
              <a:t>EVIDENCIA DE LAS FUENTES CONSULTADAS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DAHEixXe2n4</dc:identifier>
  <dcterms:modified xsi:type="dcterms:W3CDTF">2011-08-01T06:04:30Z</dcterms:modified>
  <cp:revision>1</cp:revision>
  <dc:title>Lista de vicios y escollos</dc:title>
</cp:coreProperties>
</file>